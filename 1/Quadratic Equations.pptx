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notesMasterIdLst>
    <p:notesMasterId r:id="rId23"/>
  </p:notes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28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40212-6B6A-4846-BD94-4FCC0F85ABB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73711-F11C-4D9B-A169-56E1924FA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7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5C3D-62FF-7777-3D4B-097CE19D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EEDB6-2040-9418-F110-58D9A8C8D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7FFC0-4347-0FB7-C741-160329317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6E8D3-DE98-E5EB-0968-E96E539E1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40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2C69-3A3B-4485-2C0D-63C0B8A8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756AE-5743-98D1-3F3F-DA22C180D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99E27-67AD-42B3-4CF1-DE6FADF22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7E3FF-F2CC-B59C-071D-A1A8188D9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9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0E0D-1920-C132-B165-BFE5805E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DF705-18CD-623D-773B-B745D6FED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78481-1C52-C371-4F05-2DA75DA74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05A93-3391-4F75-31DD-C7DA3FE50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185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A04BB-9C21-6B84-B469-7A85BBD3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43C3F-A649-9C1B-CD70-3F497607C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6FA8F-196E-676D-6D25-166024190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17794-B6C9-377B-37E8-66B30EF3B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E08C-B768-5A0A-60BC-2532C96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A9AEB-4C85-29D9-C5E3-FD051702E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C7EB9-5BB0-0FB4-2CC2-83150CACC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57802-4C11-B74C-0420-B7ECBBB40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40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AA48-CA98-EDDB-3B90-5D2EBF64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BC6A0-2A21-46AD-FB06-3FB4A71E6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8C666-365B-FB26-C054-CA33A214B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9DCC4-0EDD-8534-3182-069719E82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520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91548-389D-7D6B-2CC7-9019CE6F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0A147-245F-AAE1-E75F-FF340490E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2A87C-8BC6-B0E6-7767-1149667E1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76F74-689A-5447-3505-C5FAF97A8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311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836D-F4C7-6AC0-EDB0-C3A3B55A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1E412-E84A-BD94-2D67-9952A1CC9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4A672-0CB0-9310-89D4-4DF147723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DC7AA-5F9C-7806-C1ED-E156C540C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88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5A02-58D9-C63A-6C4D-58127059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EFE5A-5D05-B4B7-7DCB-E227A7D9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901C5-2E83-AD1A-5E8C-E8B5F50D0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9E7EA-AFB3-559D-20F6-8FABE7120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25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34D46-1CB7-FF3F-D68A-589C783F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86679-E567-6967-9A3E-2F0348641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25E05-389E-27C1-5431-FCC6DFADF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2749E-C33B-A824-1B17-132C27C21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381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10F9-D546-9CF0-697F-4C0550A7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16155-24F8-0548-CAE3-7CB84C694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DA660-E162-56C1-D0F9-D1C03EF8D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FA3E2-A3E7-78C5-3471-9922693B7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75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35195-B7F1-0A93-5621-78B40F9D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EE771-2D9F-1909-2611-CF10D14B4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7B568-0B47-C0B1-9335-9C31ECE6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A13F4-C59F-2FD1-AFAA-E1BFD5DC2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19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DFB4-AE9F-7F40-76BA-83CA5FFB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7A852-15F5-8C4D-A25C-A6EAD8AEF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AB301-A324-3392-3413-6D377CD26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37A8-C184-8821-1D8A-C130E79BF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333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9157C-F61A-D0FA-0529-FCC0D5C7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A5255-CE28-58F2-B788-FC14F081B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A8798-08AC-CDB9-30B0-5750DB2D3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08780-D4D7-5D3B-82BC-1A46A0EBE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308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5FE4-82C9-91B9-3444-3B5345D4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CEDB1-E91C-731F-362B-70858CE84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BDF4A-09C1-3897-4B04-559E58126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4E38B-6BA3-7208-68A8-654FE21C8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513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6727-B696-A361-F62E-20BE6A08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C9C45-F19F-A159-9C1E-1416E3358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72F32-22F9-C89A-C4C3-F5C920D2C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E3F85-90CD-921C-AEDA-4EC89FA01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070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79F8C-BA50-971D-8627-BE242762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7F845-7030-CB73-8D5E-8651F2893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5C98B-EF85-DCF4-D702-CA4B5F8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E3942-AC71-35E3-0A6B-959B8D08D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73711-F11C-4D9B-A169-56E1924FADE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793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5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7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19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0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44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0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5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625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780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613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198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6676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987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03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4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06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76A0A9-866E-35A2-B545-C7DB27F4E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1AC1FED5-8C91-B88B-5048-E1C2B47A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527DE88-029D-7DEF-48A9-4A2AB0B5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69" y="1563093"/>
            <a:ext cx="9001462" cy="930049"/>
          </a:xfrm>
        </p:spPr>
        <p:txBody>
          <a:bodyPr>
            <a:normAutofit/>
          </a:bodyPr>
          <a:lstStyle/>
          <a:p>
            <a:r>
              <a:rPr lang="en-US" sz="3400" dirty="0"/>
              <a:t>Quadratic equations</a:t>
            </a:r>
            <a:endParaRPr lang="en-IN" sz="3400" dirty="0"/>
          </a:p>
        </p:txBody>
      </p:sp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830C1-3F2D-2462-87F4-47607EA5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597B1F-C001-A0C1-8565-FD41ACB9F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417BD1FC-8128-DD76-0D16-3F5BFA517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1042-B6E6-4FD4-20D7-5A23DED5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F370C2-89C9-8923-2690-1AB3316AC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36F48AF7-8665-1245-593B-8925BDEEE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50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F8F2-3F38-11A7-2F62-EBFC7FF1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D5D86-C1F4-A9BA-8E12-9B1236B0AB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2"/>
                <a:ext cx="9714866" cy="4504426"/>
              </a:xfrm>
            </p:spPr>
            <p:txBody>
              <a:bodyPr>
                <a:normAutofit/>
              </a:bodyPr>
              <a:lstStyle/>
              <a:p>
                <a:pPr marL="457200" indent="-457200" algn="just">
                  <a:lnSpc>
                    <a:spcPct val="150000"/>
                  </a:lnSpc>
                  <a:buAutoNum type="arabicPeriod"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Find the roots of the equation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2200" b="1" dirty="0" err="1">
                    <a:latin typeface="Bookman Old Style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+ 3x – 4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   ii.  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- 13x + 10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  iii. 26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- 43x + 15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D5D86-C1F4-A9BA-8E12-9B1236B0A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2"/>
                <a:ext cx="9714866" cy="4504426"/>
              </a:xfrm>
              <a:blipFill>
                <a:blip r:embed="rId3"/>
                <a:stretch>
                  <a:fillRect l="-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907C0E7-1BF3-D599-D5CE-00689632D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2655-DBAB-ADF7-593B-59A11939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525A8-CA14-865B-5E19-1FB8B46FA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2"/>
                <a:ext cx="9714866" cy="4504426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2. Find the roots of the equation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IN" sz="2200" b="1" dirty="0" err="1">
                    <a:latin typeface="Bookman Old Style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𝟏𝟑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+ 32x + 20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  ii.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- 7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+ 4x + 12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  iii. </a:t>
                </a:r>
                <a14:m>
                  <m:oMath xmlns:m="http://schemas.openxmlformats.org/officeDocument/2006/math">
                    <m:r>
                      <a:rPr lang="en-US" sz="22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sSup>
                      <m:sSupPr>
                        <m:ctrlP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- 5</a:t>
                </a:r>
                <a:r>
                  <a:rPr lang="en-IN" sz="22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+ 3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  iv.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- 4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- x + 1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b="1" dirty="0">
                    <a:latin typeface="Bookman Old Style" pitchFamily="18" charset="0"/>
                    <a:cs typeface="Times New Roman" panose="02020603050405020304" pitchFamily="18" charset="0"/>
                  </a:rPr>
                  <a:t> . Find ‘x’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525A8-CA14-865B-5E19-1FB8B46FA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2"/>
                <a:ext cx="9714866" cy="450442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62BF375-AB31-C5A1-7BBA-675DDBD48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7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2B1D-BB31-52CC-3AA6-D67A11F8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F1128D-BDC7-308F-D921-38BD0B97E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609098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3. Discuss the nature of the roots of the equation: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   </a:t>
                </a:r>
                <a:r>
                  <a:rPr lang="en-IN" sz="2300" b="1" dirty="0" err="1">
                    <a:effectLst/>
                    <a:latin typeface="+mj-lt"/>
                    <a:cs typeface="Times New Roman" panose="02020603050405020304" pitchFamily="18" charset="0"/>
                  </a:rPr>
                  <a:t>i</a:t>
                </a: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. 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- 2x + 1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   ii. </a:t>
                </a:r>
                <a:r>
                  <a:rPr lang="en-US" sz="2300" b="1" dirty="0">
                    <a:effectLst/>
                    <a:latin typeface="+mj-lt"/>
                  </a:rPr>
                  <a:t>x</a:t>
                </a:r>
                <a:r>
                  <a:rPr lang="en-US" sz="2300" b="1" baseline="30000" dirty="0">
                    <a:effectLst/>
                    <a:latin typeface="+mj-lt"/>
                  </a:rPr>
                  <a:t>2</a:t>
                </a:r>
                <a:r>
                  <a:rPr lang="en-US" sz="2300" b="1" dirty="0">
                    <a:effectLst/>
                    <a:latin typeface="+mj-lt"/>
                  </a:rPr>
                  <a:t> – 4x + 4=0</a:t>
                </a: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effectLst/>
                    <a:latin typeface="+mj-lt"/>
                  </a:rPr>
                  <a:t>  a. infinite             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effectLst/>
                    <a:latin typeface="+mj-lt"/>
                  </a:rPr>
                  <a:t>  b. two distinct real roots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effectLst/>
                    <a:latin typeface="+mj-lt"/>
                  </a:rPr>
                  <a:t>  c. two equal real roots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effectLst/>
                    <a:latin typeface="+mj-lt"/>
                  </a:rPr>
                  <a:t>  d. two complex roots</a:t>
                </a:r>
                <a:endParaRPr lang="en-IN" sz="2300" b="1" dirty="0">
                  <a:effectLst/>
                  <a:latin typeface="+mj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  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F1128D-BDC7-308F-D921-38BD0B97E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609098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706B495-DCC4-7BD7-654D-D005D59C3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9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30B9-46CE-F853-B238-7563E4DC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E891-300F-477D-6840-575F90A0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1"/>
            <a:ext cx="9714866" cy="61780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 4.  </a:t>
            </a:r>
            <a:r>
              <a:rPr lang="en-IN" sz="2200" b="1" dirty="0" err="1">
                <a:latin typeface="Bookman Old Style" pitchFamily="18" charset="0"/>
                <a:cs typeface="Times New Roman" panose="02020603050405020304" pitchFamily="18" charset="0"/>
              </a:rPr>
              <a:t>i</a:t>
            </a: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. Form the quadratic equation whose roots are 2 and 7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   ii. Form a quadratic equation with rational coefficients, one of whose roots is 3 + √5.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EF41D13-598E-1EE6-DF9E-1B5D3F32A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4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5C762-4A96-EFE1-F5CD-3E8CF0DA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48945-9A26-235A-C339-E74AB0B81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5. If </a:t>
                </a:r>
                <a14:m>
                  <m:oMath xmlns:m="http://schemas.openxmlformats.org/officeDocument/2006/math">
                    <m:r>
                      <a:rPr lang="en-IN" sz="23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IN" sz="23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are the roots of the polynomial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- 7x + 12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Then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23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p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23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p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)(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) =</a:t>
                </a:r>
              </a:p>
              <a:p>
                <a:pPr marL="457200" indent="-457200" algn="just">
                  <a:lnSpc>
                    <a:spcPct val="150000"/>
                  </a:lnSpc>
                  <a:buAutoNum type="alphaLcPeriod"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25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b. 36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c. 49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d. 64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748945-9A26-235A-C339-E74AB0B81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  <a:blipFill>
                <a:blip r:embed="rId3"/>
                <a:stretch>
                  <a:fillRect l="-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90B56D8-5B80-7B75-8D50-7BF9E6A4E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66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D6FB-70B7-6E37-4740-58DC2821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9BDF4-DF06-393A-DBEE-BEF798D16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6. If </a:t>
                </a:r>
                <a14:m>
                  <m:oMath xmlns:m="http://schemas.openxmlformats.org/officeDocument/2006/math">
                    <m:r>
                      <a:rPr lang="en-IN" sz="23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IN" sz="23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are the roots of the polynomial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- 9x + 18 = 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𝜶𝜷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/ (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+</a:t>
                </a:r>
                <a14:m>
                  <m:oMath xmlns:m="http://schemas.openxmlformats.org/officeDocument/2006/math">
                    <m:r>
                      <a:rPr lang="en-IN" sz="2300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a. 2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b. 3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c. 4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d. 5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9BDF4-DF06-393A-DBEE-BEF798D16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  <a:blipFill>
                <a:blip r:embed="rId3"/>
                <a:stretch>
                  <a:fillRect l="-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9047F40-DCEB-E005-33C2-944AD4527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8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CB03-31D4-1C35-43CC-4DA987CE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DA901-621C-2519-823E-E603E6EB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1"/>
            <a:ext cx="9714866" cy="462141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 7. </a:t>
            </a:r>
            <a:r>
              <a:rPr lang="en-US" sz="2300" b="1" dirty="0">
                <a:latin typeface="+mj-lt"/>
              </a:rPr>
              <a:t>If α and β are roots of the equation x</a:t>
            </a:r>
            <a:r>
              <a:rPr lang="en-US" sz="2300" b="1" baseline="30000" dirty="0">
                <a:latin typeface="+mj-lt"/>
              </a:rPr>
              <a:t>2</a:t>
            </a:r>
            <a:r>
              <a:rPr lang="en-US" sz="2300" b="1" dirty="0">
                <a:latin typeface="+mj-lt"/>
              </a:rPr>
              <a:t>-x-1=0,then the equation whose roots are α/β and β/α is:</a:t>
            </a:r>
            <a:endParaRPr lang="en-IN" sz="2300" b="1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300" b="1" dirty="0">
                <a:latin typeface="+mj-lt"/>
              </a:rPr>
              <a:t>a. x</a:t>
            </a:r>
            <a:r>
              <a:rPr lang="en-US" sz="2300" b="1" baseline="30000" dirty="0">
                <a:latin typeface="+mj-lt"/>
              </a:rPr>
              <a:t>2</a:t>
            </a:r>
            <a:r>
              <a:rPr lang="en-US" sz="2300" b="1" dirty="0">
                <a:latin typeface="+mj-lt"/>
              </a:rPr>
              <a:t>+3x-1=0    b. x</a:t>
            </a:r>
            <a:r>
              <a:rPr lang="en-US" sz="2300" b="1" baseline="30000" dirty="0">
                <a:latin typeface="+mj-lt"/>
              </a:rPr>
              <a:t>2</a:t>
            </a:r>
            <a:r>
              <a:rPr lang="en-US" sz="2300" b="1" dirty="0">
                <a:latin typeface="+mj-lt"/>
              </a:rPr>
              <a:t>+x-1=0      c. x</a:t>
            </a:r>
            <a:r>
              <a:rPr lang="en-US" sz="2300" b="1" baseline="30000" dirty="0">
                <a:latin typeface="+mj-lt"/>
              </a:rPr>
              <a:t>2</a:t>
            </a:r>
            <a:r>
              <a:rPr lang="en-US" sz="2300" b="1" dirty="0">
                <a:latin typeface="+mj-lt"/>
              </a:rPr>
              <a:t>-x+1=0      d.x</a:t>
            </a:r>
            <a:r>
              <a:rPr lang="en-US" sz="2300" b="1" baseline="30000" dirty="0">
                <a:latin typeface="+mj-lt"/>
              </a:rPr>
              <a:t>2</a:t>
            </a:r>
            <a:r>
              <a:rPr lang="en-US" sz="2300" b="1" dirty="0">
                <a:latin typeface="+mj-lt"/>
              </a:rPr>
              <a:t>+3x+1=0</a:t>
            </a:r>
            <a:endParaRPr lang="en-IN" sz="2300" b="1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b="1" dirty="0">
              <a:effectLst/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09559F0-2017-E42A-CBC7-C845FF32B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4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77F3-0338-C83D-C441-5AFDB30AF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5065D-7A41-655D-6FF2-34A93C4883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8. </a:t>
                </a:r>
                <a:r>
                  <a:rPr lang="en-US" sz="2300" b="1" dirty="0">
                    <a:latin typeface="+mj-lt"/>
                  </a:rPr>
                  <a:t>If α and β are roots of the equation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+ </a:t>
                </a:r>
                <a:r>
                  <a:rPr lang="en-IN" sz="2300" b="1" dirty="0" err="1">
                    <a:effectLst/>
                    <a:latin typeface="+mj-lt"/>
                    <a:cs typeface="Times New Roman" panose="02020603050405020304" pitchFamily="18" charset="0"/>
                  </a:rPr>
                  <a:t>bx</a:t>
                </a: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+ c = 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,then the equation whose roots are 1/β and 1/α is:</a:t>
                </a:r>
                <a:endParaRPr lang="en-IN" sz="2300" b="1" dirty="0">
                  <a:latin typeface="+mj-lt"/>
                </a:endParaRPr>
              </a:p>
              <a:p>
                <a:pPr marL="457200" indent="-457200">
                  <a:lnSpc>
                    <a:spcPct val="150000"/>
                  </a:lnSpc>
                  <a:buAutoNum type="alphaLcPeriod"/>
                </a:pPr>
                <a:r>
                  <a:rPr lang="en-US" sz="2300" b="1" dirty="0">
                    <a:latin typeface="+mj-lt"/>
                  </a:rPr>
                  <a:t>bx</a:t>
                </a:r>
                <a:r>
                  <a:rPr lang="en-US" sz="2300" b="1" baseline="30000" dirty="0">
                    <a:latin typeface="+mj-lt"/>
                  </a:rPr>
                  <a:t>2</a:t>
                </a:r>
                <a:r>
                  <a:rPr lang="en-US" sz="2300" b="1" dirty="0">
                    <a:latin typeface="+mj-lt"/>
                  </a:rPr>
                  <a:t>+cx+a=0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 b. cx</a:t>
                </a:r>
                <a:r>
                  <a:rPr lang="en-US" sz="2300" b="1" baseline="30000" dirty="0">
                    <a:latin typeface="+mj-lt"/>
                  </a:rPr>
                  <a:t>2</a:t>
                </a:r>
                <a:r>
                  <a:rPr lang="en-US" sz="2300" b="1" dirty="0">
                    <a:latin typeface="+mj-lt"/>
                  </a:rPr>
                  <a:t>+ax+b=0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c. cx</a:t>
                </a:r>
                <a:r>
                  <a:rPr lang="en-US" sz="2300" b="1" baseline="30000" dirty="0">
                    <a:latin typeface="+mj-lt"/>
                  </a:rPr>
                  <a:t>2</a:t>
                </a:r>
                <a:r>
                  <a:rPr lang="en-US" sz="2300" b="1" dirty="0">
                    <a:latin typeface="+mj-lt"/>
                  </a:rPr>
                  <a:t>+bx+a=0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d. cx</a:t>
                </a:r>
                <a:r>
                  <a:rPr lang="en-US" sz="2300" b="1" baseline="30000" dirty="0">
                    <a:latin typeface="+mj-lt"/>
                  </a:rPr>
                  <a:t>2-</a:t>
                </a:r>
                <a:r>
                  <a:rPr lang="en-US" sz="2300" b="1" dirty="0">
                    <a:latin typeface="+mj-lt"/>
                  </a:rPr>
                  <a:t>bx+a=0 </a:t>
                </a:r>
                <a:endParaRPr lang="en-IN" sz="2300" b="1" dirty="0">
                  <a:latin typeface="+mj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5065D-7A41-655D-6FF2-34A93C488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  <a:blipFill>
                <a:blip r:embed="rId3"/>
                <a:stretch>
                  <a:fillRect l="-1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2666086-AE3F-2B76-A24B-2F6A29934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66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E3DB-7F00-538D-5399-6CCBCD74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816AD3-2EEF-A174-1233-E23E9D15A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9. </a:t>
                </a:r>
                <a:r>
                  <a:rPr lang="en-US" sz="2300" b="1" dirty="0">
                    <a:latin typeface="+mj-lt"/>
                  </a:rPr>
                  <a:t>Sum of the roots of the equation 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𝟖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+ 13x - 9 = 0 is</a:t>
                </a:r>
              </a:p>
              <a:p>
                <a:pPr marL="457200" indent="-457200">
                  <a:lnSpc>
                    <a:spcPct val="150000"/>
                  </a:lnSpc>
                  <a:buAutoNum type="alphaLcPeriod"/>
                </a:pPr>
                <a:r>
                  <a:rPr lang="en-US" sz="2300" b="1" dirty="0">
                    <a:latin typeface="+mj-lt"/>
                  </a:rPr>
                  <a:t>-8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 b. -2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c. 8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d. 2 </a:t>
                </a:r>
                <a:endParaRPr lang="en-IN" sz="2300" b="1" dirty="0">
                  <a:latin typeface="+mj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816AD3-2EEF-A174-1233-E23E9D15A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  <a:blipFill>
                <a:blip r:embed="rId3"/>
                <a:stretch>
                  <a:fillRect l="-1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381907C-3E89-A23A-E5B7-53AA43F35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732A-BCEE-1378-C52F-49AA4E9B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DC3A8-B25B-B36D-0CDC-6146D7B89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10. </a:t>
                </a:r>
                <a:r>
                  <a:rPr lang="en-US" sz="2300" b="1" dirty="0">
                    <a:latin typeface="+mj-lt"/>
                  </a:rPr>
                  <a:t>the Quadratic equation whose roots are the A.M. and H.M. of the roots of the equation</a:t>
                </a:r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+ 7x - 1 = 0 is</a:t>
                </a:r>
              </a:p>
              <a:p>
                <a:pPr marL="457200" indent="-457200">
                  <a:lnSpc>
                    <a:spcPct val="150000"/>
                  </a:lnSpc>
                  <a:buAutoNum type="alphaLcPeriod"/>
                </a:pPr>
                <a:r>
                  <a:rPr lang="en-IN" sz="2300" b="1" dirty="0">
                    <a:cs typeface="Times New Roman" panose="02020603050405020304" pitchFamily="18" charset="0"/>
                  </a:rPr>
                  <a:t>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+ 14x - 45 = 0</a:t>
                </a:r>
                <a:r>
                  <a:rPr lang="en-US" sz="2300" b="1" dirty="0">
                    <a:latin typeface="+mj-lt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b. </a:t>
                </a:r>
                <a:r>
                  <a:rPr lang="en-IN" sz="2300" b="1" dirty="0">
                    <a:cs typeface="Times New Roman" panose="02020603050405020304" pitchFamily="18" charset="0"/>
                  </a:rPr>
                  <a:t>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+ 45x - 14 = 0</a:t>
                </a:r>
                <a:r>
                  <a:rPr lang="en-US" sz="2300" b="1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c. </a:t>
                </a:r>
                <a:r>
                  <a:rPr lang="en-IN" sz="2300" b="1" dirty="0">
                    <a:cs typeface="Times New Roman" panose="02020603050405020304" pitchFamily="18" charset="0"/>
                  </a:rPr>
                  <a:t>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- 14x + 14 = 0</a:t>
                </a:r>
                <a:r>
                  <a:rPr lang="en-US" sz="2300" b="1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300" b="1" dirty="0">
                    <a:latin typeface="+mj-lt"/>
                  </a:rPr>
                  <a:t>d. </a:t>
                </a:r>
                <a:r>
                  <a:rPr lang="en-IN" sz="2300" b="1" dirty="0">
                    <a:cs typeface="Times New Roman" panose="02020603050405020304" pitchFamily="18" charset="0"/>
                  </a:rPr>
                  <a:t>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+ 45x + 14 = 0</a:t>
                </a:r>
                <a:r>
                  <a:rPr lang="en-US" sz="2300" b="1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IN" sz="2300" b="1" dirty="0">
                  <a:latin typeface="+mj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DC3A8-B25B-B36D-0CDC-6146D7B89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4621419"/>
              </a:xfrm>
              <a:blipFill>
                <a:blip r:embed="rId3"/>
                <a:stretch>
                  <a:fillRect l="-1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90FD2B5-FD61-9594-4C47-B9D676E53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33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FFF8E-E7A6-A993-5879-4EACA536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7C388-C5A6-D05B-F25C-E717B69265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11. If the roots of the equation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+ 9x + 2 = 0 are in the ratio m:n. then find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sz="2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num>
                          <m:den>
                            <m:r>
                              <a:rPr lang="en-US" sz="2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sz="2600" b="1" dirty="0">
                    <a:effectLst/>
                    <a:latin typeface="+mj-lt"/>
                    <a:cs typeface="Times New Roman" panose="02020603050405020304" pitchFamily="18" charset="0"/>
                  </a:rPr>
                  <a:t> 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sz="2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den>
                        </m:f>
                      </m:e>
                    </m:rad>
                  </m:oMath>
                </a14:m>
                <a:endParaRPr lang="en-IN" sz="26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IN" sz="2300" b="1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300" b="1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300" b="1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300" b="1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IN" sz="2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300" b="1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IN" sz="2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d.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IN" sz="2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300" b="1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sz="2300" b="1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7C388-C5A6-D05B-F25C-E717B69265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  <a:blipFill>
                <a:blip r:embed="rId3"/>
                <a:stretch>
                  <a:fillRect l="-1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322D30F-235B-4822-AECA-015C63C71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15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26B4-1F81-062F-FBA8-0BD6B38A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9696-220D-005A-7CC8-E3FCE263B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1"/>
            <a:ext cx="9714866" cy="600390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 12. if (x+2)(x+4)(x+6)(x+8)= 945 and x is an integer, then find x?</a:t>
            </a: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-1 or -11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 b. 1 or -11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 c. -1 or 11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300" b="1" dirty="0">
                <a:effectLst/>
                <a:latin typeface="+mj-lt"/>
                <a:cs typeface="Times New Roman" panose="02020603050405020304" pitchFamily="18" charset="0"/>
              </a:rPr>
              <a:t> d. 1 or 11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427285A-F091-5913-12D7-FF9447D07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46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6E2B-B979-D1A4-9795-C215B3E8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9D5E9-FAFD-F200-A21A-35B7BD498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13. find the maximum or minimum value of the quadratic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Bookman Old Style" pitchFamily="18" charset="0"/>
                    <a:cs typeface="Times New Roman" panose="02020603050405020304" pitchFamily="18" charset="0"/>
                  </a:rPr>
                  <a:t> - 3x + 5 = 0 </a:t>
                </a: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lphaLcPeriod"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The minimum value is 9/10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b. The minimum value is 11/4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c. The maximum value is 9/10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d. The maximum value is 11/4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9D5E9-FAFD-F200-A21A-35B7BD498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  <a:blipFill>
                <a:blip r:embed="rId3"/>
                <a:stretch>
                  <a:fillRect l="-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B2881AC-46BD-E26B-833A-0572781FD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47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1012-0410-0831-5CD8-85036B19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A9C96F-7C9B-F463-3939-98F09C2FF8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14. find the maximum  value of the quadratic expression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          -3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300" b="1" dirty="0">
                    <a:latin typeface="+mj-lt"/>
                    <a:cs typeface="Times New Roman" panose="02020603050405020304" pitchFamily="18" charset="0"/>
                  </a:rPr>
                  <a:t> + 5x - 12 = 0 </a:t>
                </a:r>
                <a:endParaRPr lang="en-IN" sz="2300" b="1" dirty="0">
                  <a:effectLst/>
                  <a:latin typeface="+mj-lt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a. -119/12 at x = -5/3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b. -119/12 at x = 5/6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c. 119/12 at x = -5/6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d. 119/12 at x = 5/3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A9C96F-7C9B-F463-3939-98F09C2FF8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41AD90E-B252-1291-209E-E0E4227FC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47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9488-27C7-146C-FEBA-FA5FE8446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29266-B635-40BD-4806-718CDFD2A0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15. If a polynomial f(x) = 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- 4x + 5 is divided by 2x-5, then the remainder is: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a. 120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b. 110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c. 101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d. 102</a:t>
                </a: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29266-B635-40BD-4806-718CDFD2A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714866" cy="6003905"/>
              </a:xfrm>
              <a:blipFill>
                <a:blip r:embed="rId3"/>
                <a:stretch>
                  <a:fillRect l="-1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F3FD867-506B-5A3F-98FA-60890FCB0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67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8132-02F3-93B0-8079-149E2FEF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929AB-1B9A-B4D4-0AD6-57AA2A5091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987008" cy="600390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16. When the  polynomial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400" b="1" dirty="0" err="1">
                    <a:latin typeface="Bookman Old Style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- 3 is divided by x-2,  the remainder is 55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=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a. 121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b. 144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c. 100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d. 154</a:t>
                </a: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929AB-1B9A-B4D4-0AD6-57AA2A509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987008" cy="6003905"/>
              </a:xfrm>
              <a:blipFill>
                <a:blip r:embed="rId3"/>
                <a:stretch>
                  <a:fillRect l="-1037" r="-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50FD278-1A75-B5F3-E8E0-0438A4A55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7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3820-DD50-C7F9-1C32-4AE20BEF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A43CF-A2EA-0332-6FE3-255C65EE6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506" y="255381"/>
                <a:ext cx="9987008" cy="600390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16. If the  polynomial 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N" b="1" dirty="0">
                    <a:latin typeface="Bookman Old Style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+ 4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2400" b="1" dirty="0" err="1">
                    <a:latin typeface="Bookman Old Style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+ b is divisible by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(x-1) and (x+1), 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-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=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a. 100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b. 203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c. 302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1" dirty="0">
                    <a:effectLst/>
                    <a:latin typeface="Bookman Old Style" pitchFamily="18" charset="0"/>
                    <a:cs typeface="Times New Roman" panose="02020603050405020304" pitchFamily="18" charset="0"/>
                  </a:rPr>
                  <a:t> d. 108</a:t>
                </a:r>
                <a:r>
                  <a:rPr lang="en-IN" sz="2300" b="1" dirty="0">
                    <a:effectLst/>
                    <a:latin typeface="+mj-lt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A43CF-A2EA-0332-6FE3-255C65EE6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506" y="255381"/>
                <a:ext cx="9987008" cy="600390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38CAF87-09B0-A012-EFF3-DEAD1370C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37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CB20316-8E6F-4A0C-309F-DC56D61F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5D3678-82EE-54B8-6920-CFFC6D22B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081" y="2498836"/>
            <a:ext cx="3658205" cy="61447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400" b="1" dirty="0">
                <a:effectLst/>
              </a:rPr>
              <a:t>THE END</a:t>
            </a:r>
            <a:endParaRPr lang="en-IN" sz="3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1977</TotalTime>
  <Words>875</Words>
  <Application>Microsoft Office PowerPoint</Application>
  <PresentationFormat>Widescreen</PresentationFormat>
  <Paragraphs>124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Calibri</vt:lpstr>
      <vt:lpstr>Cambria Math</vt:lpstr>
      <vt:lpstr>Rockwell</vt:lpstr>
      <vt:lpstr>Times New Roman</vt:lpstr>
      <vt:lpstr>Damask</vt:lpstr>
      <vt:lpstr>Quadratic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137</cp:revision>
  <dcterms:created xsi:type="dcterms:W3CDTF">2022-11-22T09:07:37Z</dcterms:created>
  <dcterms:modified xsi:type="dcterms:W3CDTF">2026-05-31T16:37:05Z</dcterms:modified>
</cp:coreProperties>
</file>