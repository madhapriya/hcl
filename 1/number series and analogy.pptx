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3" r:id="rId1"/>
  </p:sldMasterIdLst>
  <p:sldIdLst>
    <p:sldId id="256" r:id="rId2"/>
    <p:sldId id="299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00" r:id="rId13"/>
    <p:sldId id="301" r:id="rId14"/>
    <p:sldId id="302" r:id="rId15"/>
    <p:sldId id="303" r:id="rId16"/>
    <p:sldId id="267" r:id="rId17"/>
    <p:sldId id="268" r:id="rId18"/>
    <p:sldId id="269" r:id="rId19"/>
    <p:sldId id="270" r:id="rId20"/>
    <p:sldId id="271" r:id="rId21"/>
    <p:sldId id="273" r:id="rId22"/>
    <p:sldId id="289" r:id="rId23"/>
    <p:sldId id="292" r:id="rId24"/>
    <p:sldId id="290" r:id="rId25"/>
    <p:sldId id="291" r:id="rId26"/>
    <p:sldId id="298" r:id="rId27"/>
    <p:sldId id="293" r:id="rId28"/>
    <p:sldId id="295" r:id="rId29"/>
    <p:sldId id="294" r:id="rId30"/>
    <p:sldId id="296" r:id="rId31"/>
    <p:sldId id="29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66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70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24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48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15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92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67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6653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3382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7074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9473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2360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2372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866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77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065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0758C4-3AA2-08DD-7478-2C02906AD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3478" y="2103119"/>
            <a:ext cx="9001462" cy="644843"/>
          </a:xfrm>
        </p:spPr>
        <p:txBody>
          <a:bodyPr>
            <a:normAutofit/>
          </a:bodyPr>
          <a:lstStyle/>
          <a:p>
            <a:r>
              <a:rPr lang="en-US" sz="3400" dirty="0"/>
              <a:t>Number series</a:t>
            </a:r>
            <a:endParaRPr lang="en-IN" sz="3400" dirty="0"/>
          </a:p>
        </p:txBody>
      </p:sp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18F76902-BBD3-C3A9-B1A5-079FAE1C0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C7EBD-282A-87E3-7BF6-2A3244598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B7D3DBF7-8611-552F-56CF-83AEE703B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8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8580"/>
            <a:ext cx="8946541" cy="5728509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solidFill>
                  <a:srgbClr val="FFFF00"/>
                </a:solidFill>
                <a:latin typeface="Bookman Old Style" pitchFamily="18" charset="0"/>
                <a:cs typeface="Times New Roman" panose="02020603050405020304" pitchFamily="18" charset="0"/>
              </a:rPr>
              <a:t>Find the next number or missing number in the series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97,89,83,79,73, -------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71        b.70   		c.69   		d 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16, 36, 64, 100,-----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a.196       b.256       c.144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11, 24, 39, 416, 525, 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737      b. 846       c. 981       d. none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877B555-41DD-4636-6C78-BF199752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275-821A-7B23-BE3E-B9410147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541176"/>
            <a:ext cx="8946541" cy="46987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40, 90, 61, 52, 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36          b. 43        c. 63          d. 54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8,9,64,25,-----,49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a.36           b. 216        c.343         d.125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1, 4, 27, 256,---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a. 3125      b. 1296        c. 625       d. 7776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0223D31-1234-059F-B93B-F6341B9E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3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CAEFC-D594-A38A-CE5E-25A031666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494523"/>
            <a:ext cx="8946541" cy="484080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3, 7, 10, 17,27,44,-----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a.63         b. 73         c. 75         d. 71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2, 5, 11, 23, 47,------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a.91           b. 93          c. 95         d. 97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5,7,11,19,35,-----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a.70          b.67            c.63           d. 72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A3C7B49-87B0-D71D-BE7F-875064FE3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36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37550-1DE1-9F96-6294-BBF931B4F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556" y="189756"/>
            <a:ext cx="9590355" cy="62302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57, 35, 22,13, 9,------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a.7            b. 6               c.4              d.5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2, 5 , 16, 65, 326,-----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1947     b.1957        c. 2021   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2, 2, 3, 8, 35,------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a.210           b. 196          c. 204          d. 215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91109C2-5E0C-219E-7DB7-BB9202F8B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4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E6109-DE52-D3E6-2B6D-0F9DD5E9B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63894"/>
            <a:ext cx="8946541" cy="55363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999,729, 126, 12 ,----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a.4                b.6              c.2               d. 9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2 , 2 , 12 , 12 , 30 , 30 ,------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 56               b. 42         c. 58            d. 64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4 , 16 , 12 , 64 , 36 , 256 , 108 ,-----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324         b. 946            c. 1024         d. 432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C5CB575-369C-CC9C-8DED-94A1FBC30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64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35682-F3C7-456E-8725-FBF18D75B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391886"/>
            <a:ext cx="8946541" cy="477646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2 , 4 , 11 , 37 ,---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a.143             b. 151         c. 163         d.153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3600 , 725 , 150 , 35 , 12 , 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a.6                 b. 7               c. 7.5            d. 7.4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894113E-0B40-4FDC-5E34-DCFFBFFF8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06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32249-F00A-336E-BF6A-27A16CE2F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23" y="352206"/>
            <a:ext cx="8946541" cy="52082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9, 4.5 , 4.5 , 6.75 , 13.5 , 33.75 , ------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a.101.25        b. 100           c. 113.5         d.105.25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19. 65 , 50 , 37 , 26 , 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19               b. 17              c. 15             d. 18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613A279-B372-AFA4-8497-33EC69BC3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3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2EDFA-9473-79EE-0F35-48D6FE173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894" y="438539"/>
            <a:ext cx="9685959" cy="49047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20. 2, 9 ,28 , 65 , 126 ,-----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a.216               b. 222           c. 217             d. 343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21. 0 , 6 , 24 , 60 , 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125              b. 80             c. 120             d. 130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D442A9A-E679-170F-7358-EE3A87BC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6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208E4-8FE0-3F9B-F449-7A80C2941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6" y="362190"/>
            <a:ext cx="9947216" cy="45948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22. 0 , 2 , 6 , 12 , 20 , 30 , ------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a.45               b. 36                c. 48             d. 42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23. 2 , 12 , 36 , 80 , 150 ,-----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a. 392          b. 252            c. 196         d. 225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3AF8D45-D998-4409-04C2-1C2E5B48D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186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3D1A-8E66-09E7-CA9E-A0D96F23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12B8E-619B-9AA7-3851-9D3E32FD3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6" y="362190"/>
            <a:ext cx="9947216" cy="459482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24. Select the number from among the given options that can replace the question mark (?) in the following series.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    32, 34, 43, 71, 136, 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A. 262  B. 149   C. 188   D. 277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AF844EB-9192-275D-B666-728F368C2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383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C9628-A052-4121-1F4E-ACE4ABC9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3C03-774B-A14A-DC21-373AF3D0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6" y="362190"/>
            <a:ext cx="9947216" cy="459482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25. Select the number from among the given options that can replace the question mark (?) in the following series.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20, 30,45, 67.5, 101.25, 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A. 151.875  B. 150   C. 126.5625   D. 141.875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7D0A2339-7C4C-3EDB-7EE5-ADF8D3CE9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0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4A6BB-9972-EE22-3C9B-96A11EEA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DD7F7-643E-EC29-C9BF-1A3C9C897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6" y="362190"/>
            <a:ext cx="9947216" cy="459482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26. </a:t>
            </a: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Which of the following number will replace the given number in the series: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  0.04, 0.12, 0.42, 1.68, 2.08, 10.4, ?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  A. 12.3       B. 12.9       C. 11.8       D. 10.9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73BCB5D-2C82-DE50-48E5-E076FE0B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7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B0D0-CA83-83C2-147C-6E91395F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77E37-C9F8-A18A-CD9A-F46B902A2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986" y="362190"/>
            <a:ext cx="9947216" cy="4594821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200" b="1" dirty="0">
                <a:effectLst/>
                <a:latin typeface="Bookman Old Style" pitchFamily="18" charset="0"/>
                <a:cs typeface="Times New Roman" panose="02020603050405020304" pitchFamily="18" charset="0"/>
              </a:rPr>
              <a:t>27. </a:t>
            </a:r>
            <a:r>
              <a:rPr lang="en-US" sz="2200" b="1" dirty="0">
                <a:effectLst/>
              </a:rPr>
              <a:t>Solve the following puzzle. </a:t>
            </a:r>
          </a:p>
          <a:p>
            <a:pPr marL="0" lvl="0" indent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200" b="1" dirty="0">
                <a:effectLst/>
              </a:rPr>
              <a:t>3, 21, 5, 19, 8, 16, 12, 12, 17, ?  </a:t>
            </a:r>
          </a:p>
          <a:p>
            <a:pPr marL="457200" lvl="0" indent="-330200">
              <a:lnSpc>
                <a:spcPct val="150000"/>
              </a:lnSpc>
              <a:spcBef>
                <a:spcPts val="1200"/>
              </a:spcBef>
              <a:buSzPts val="1600"/>
              <a:buAutoNum type="alphaUcPeriod"/>
            </a:pPr>
            <a:r>
              <a:rPr lang="en-US" sz="2200" b="1" dirty="0">
                <a:effectLst/>
              </a:rPr>
              <a:t>17 </a:t>
            </a: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>
                <a:effectLst/>
              </a:rPr>
              <a:t>18 </a:t>
            </a: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>
                <a:effectLst/>
              </a:rPr>
              <a:t>7 </a:t>
            </a:r>
          </a:p>
          <a:p>
            <a:pPr marL="457200" lvl="0" indent="-330200">
              <a:lnSpc>
                <a:spcPct val="150000"/>
              </a:lnSpc>
              <a:spcBef>
                <a:spcPts val="0"/>
              </a:spcBef>
              <a:buSzPts val="1600"/>
              <a:buAutoNum type="alphaUcPeriod"/>
            </a:pPr>
            <a:r>
              <a:rPr lang="en-US" sz="2200" b="1" dirty="0">
                <a:effectLst/>
              </a:rPr>
              <a:t>9 </a:t>
            </a:r>
            <a:endParaRPr lang="en-IN" sz="2200" b="1" dirty="0">
              <a:effectLst/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3033BDC5-8379-1967-BDE6-163BEF764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44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B4FB6FD-3BAC-0F28-2769-94AC5E44E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9AAA90-F4AA-0760-2DBF-E3B741821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8401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Number Analogy</a:t>
            </a:r>
            <a:endParaRPr lang="en-IN" sz="34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0523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DD3FD-F0EB-8CF6-8476-A685D9C4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747" y="322758"/>
            <a:ext cx="8946541" cy="495690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3 : 9 :: 5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a.24             b. 25             c. 28            d. none</a:t>
            </a:r>
          </a:p>
          <a:p>
            <a:pPr marL="514350" indent="-514350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0 : 7 :: 26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a.62             b. 61               c. 63          d. none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16 :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56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:: 32 : 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96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   b. 1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12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      c. 118         d.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128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536F4F3-52B6-E988-C840-4B131076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741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DC61-D907-181C-909A-F0EF15A84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575" y="409493"/>
            <a:ext cx="8946541" cy="51882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8 : 32 :: 10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a.50          b. 60         c. 90         d. 100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123 : 6 :: 234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a.9              b. 10         c.12        d. 11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123 : 6 :: 234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22          b. 23           c.24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97EC25ED-E515-5FC8-65BD-61BCB96EB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297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B0B71-DE53-634B-274E-6F27A9B49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088" y="356591"/>
            <a:ext cx="8946541" cy="50502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123 : 14 :: 234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a.25            b. 26           c. 27            d. 29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5555 : 4321 :: 6666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7900       b. 5543       c. 5466       d. 5432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11529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: 72135 ::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152943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62034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b. 163044           c.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203448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 d.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213549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47DC3CD-13FF-B06B-0CEE-E9CE54E72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70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8E209-D197-54D2-FA90-614220DCA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581" y="347666"/>
            <a:ext cx="9974580" cy="592800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21 : 5 :: 34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20        b. 15        c. 25             d. none</a:t>
            </a: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Select the pair in which the numbers are similarly related as in the given pair.  7 : 24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a.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30:100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b.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23:72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c.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19:58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   d. </a:t>
            </a:r>
            <a:r>
              <a:rPr lang="en-IN" b="1" dirty="0">
                <a:latin typeface="Bookman Old Style" pitchFamily="18" charset="0"/>
                <a:cs typeface="Times New Roman" panose="02020603050405020304" pitchFamily="18" charset="0"/>
              </a:rPr>
              <a:t>11:43</a:t>
            </a: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5 : 2431 :: 8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a. 4287        b. 5461        c. 7624         d. 6743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0DB8312-0848-AD23-AD9D-80A397647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00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734" y="326277"/>
            <a:ext cx="10802546" cy="619644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13. 22 : 16 :: 29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120          b. 737          c. 64             d. 36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14. 53 : 43 :: 63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a. 45            b. 72             c. 56           d. 54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50000"/>
              </a:lnSpc>
              <a:buAutoNum type="alphaLcPeriod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15. </a:t>
            </a: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Choose that set of numbers from the four alternative sets, that is similar to the given set.     Given set : (8 , 3 , 2)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Bookman Old Style" pitchFamily="18" charset="0"/>
                <a:cs typeface="Times New Roman" panose="02020603050405020304" pitchFamily="18" charset="0"/>
              </a:rPr>
              <a:t> A. (10, 6, 5) 	B.(63, 8, 3) 	C.(95, 24, 5) 	D.(168, 15, 4)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B531B7E-2AF2-D106-49AA-36F794F5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59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16. 8 : 56 : : 13 : 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153            b. 158             c. 156            d. none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17. 11:121:110 :: 15:225:210 :: ?:?:?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a. 19:361:342       b. 9:81:70       c. 16:255:239         d. 17:288:272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18. 15:135 :: 16 : ? :: 18 : 189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 a. 131            b. 121              c. 152             d. 141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BEB5F14-A348-B4C9-9783-06417DF1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46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16152" y="5582653"/>
            <a:ext cx="76825" cy="213847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B33486-D87D-443F-8851-50B131BC07FF}"/>
              </a:ext>
            </a:extLst>
          </p:cNvPr>
          <p:cNvSpPr txBox="1"/>
          <p:nvPr/>
        </p:nvSpPr>
        <p:spPr>
          <a:xfrm>
            <a:off x="2377440" y="1982804"/>
            <a:ext cx="63622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Classification</a:t>
            </a:r>
          </a:p>
          <a:p>
            <a:pPr algn="ctr"/>
            <a:r>
              <a:rPr lang="en-IN" sz="3200" b="1" dirty="0">
                <a:latin typeface="Bookman Old Style" panose="02050604050505020204" pitchFamily="18" charset="0"/>
              </a:rPr>
              <a:t> (Odd One Out)</a:t>
            </a:r>
          </a:p>
        </p:txBody>
      </p:sp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18C85D41-C1AF-B924-0DD4-B26634261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45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a. 3249            b. 6017            c. 9810              d. 2226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 a. 4205           b. 6366             c. 3127             d. 4164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a.253              b. 682                c. 397              d. 891</a:t>
            </a:r>
          </a:p>
          <a:p>
            <a:pPr marL="457200" indent="-457200" algn="just">
              <a:lnSpc>
                <a:spcPct val="150000"/>
              </a:lnSpc>
              <a:buAutoNum type="arabicPeriod" startAt="3"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a. 6:222           b. 7:350           c. 8:512            d. 9:738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  a. 3:12             b. 9:90             c. 10:100           d. 11:132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EFAC213-2B06-A030-1F2A-55CC7634D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835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a. 3,4,5            b. 5,12,13            c. 7,24,26          d. 6,8,10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 a. 68                b. 130                   c. 222               d. 522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 a. 25:29           b. 31:10               c. 42:24              d. 28:68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 a. 8:16             b. 10:25              c. 20:100             d. 18:72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 a. 54:01            b. 82:63              c. 72:25            d. 81:49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7713F8B-A69F-F513-AF44-23109C05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52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a. 16:46           b. 36:216          c. 49:343           d. 64:215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a. 63:27            b. 94:45               c. 82:54            d. 64:28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48CED54-C80D-5C6B-C575-0D93EBF0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454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C581A784-7A76-6C73-8DFF-1C7168489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4DCB13-B25D-83A0-FA4C-74520F36B54C}"/>
              </a:ext>
            </a:extLst>
          </p:cNvPr>
          <p:cNvSpPr txBox="1"/>
          <p:nvPr/>
        </p:nvSpPr>
        <p:spPr>
          <a:xfrm>
            <a:off x="3149600" y="2225040"/>
            <a:ext cx="52019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latin typeface="+mj-lt"/>
              </a:rPr>
              <a:t>Word Odd One Out</a:t>
            </a:r>
            <a:endParaRPr lang="en-IN" sz="3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2731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36" y="335901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1. a. LION             b. ELEPHANT          c. FOX               d. COW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2. a. SITAR             b. FLUTE             c. VIOLIN             d. GITAR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3.  a. TRIANGLE     b. SQUARE          c. RECTANGLE        d. CIRCLE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2D6D831-5A59-B97A-BF70-C48288E1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516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68" y="412903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4. a. APRIL        b. MAY             c. JUNE                  d. SEPETMBER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5. a. CARROT     b. POTATO       c. BETROOT           d. TOMATO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6.  a. CHESS       b. CRICKET     c. TABLETENNIS         d. BADMENTON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7F6AF13-9C65-3CD3-BDED-F6657BF96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25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68" y="412903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7. a. OHM        b. AMPHERE           c. VOLT           d. METER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8. a. </a:t>
            </a:r>
            <a:r>
              <a:rPr lang="en-IN" sz="2000" b="1">
                <a:latin typeface="Bookman Old Style" pitchFamily="18" charset="0"/>
                <a:cs typeface="Times New Roman" panose="02020603050405020304" pitchFamily="18" charset="0"/>
              </a:rPr>
              <a:t>ZINC        </a:t>
            </a: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b. IRON       c. ALUMINIUM    d. COPPER     e. MERCURY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9.  a. VOLUME : LITRE               b. TIME : SEC  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c. LENGTH : METER             d. PRESSURE : BAROMETER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D0A6B2FB-0506-BDC7-E097-36CB37686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280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B23B5-8DA9-7542-5D8E-8BA2B36C5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368" y="412903"/>
            <a:ext cx="9863241" cy="546059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10.  a. SUN        b. EARTH           c. MOON           d. MARS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11. a. ATOM : ELECTRON             b. HOUSE : ROOM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c. TRAIN : ENGINE                d. GHEE : MILK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12. a. DEATH : DISEASE           b. GRAPE : WINE     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     c. MILK : BUTTER             d. WATER : OXYGEN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b="1" dirty="0">
              <a:latin typeface="Bookman Old Style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6C79C-5562-CBCF-7E50-5E77E83F5C66}"/>
              </a:ext>
            </a:extLst>
          </p:cNvPr>
          <p:cNvSpPr txBox="1"/>
          <p:nvPr/>
        </p:nvSpPr>
        <p:spPr>
          <a:xfrm>
            <a:off x="5640355" y="296246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A8163E8F-A980-CDA7-F283-E077BA692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736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C8C08-BDC0-CF16-D3C1-ABCEAEC8D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effectLst/>
              </a:rPr>
              <a:t>THE END</a:t>
            </a:r>
            <a:endParaRPr lang="en-IN" sz="3400" b="1" dirty="0">
              <a:effectLst/>
            </a:endParaRPr>
          </a:p>
        </p:txBody>
      </p:sp>
      <p:pic>
        <p:nvPicPr>
          <p:cNvPr id="5" name="Picture 4" descr="A yellow and blue sign with words">
            <a:extLst>
              <a:ext uri="{FF2B5EF4-FFF2-40B4-BE49-F238E27FC236}">
                <a16:creationId xmlns:a16="http://schemas.microsoft.com/office/drawing/2014/main" id="{3677BC0F-E3DA-1437-A202-ADCDC137F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940" y="26261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23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1565</TotalTime>
  <Words>1567</Words>
  <Application>Microsoft Office PowerPoint</Application>
  <PresentationFormat>Widescreen</PresentationFormat>
  <Paragraphs>214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Bookman Old Style</vt:lpstr>
      <vt:lpstr>Rockwell</vt:lpstr>
      <vt:lpstr>Damask</vt:lpstr>
      <vt:lpstr>Number series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66</cp:revision>
  <dcterms:created xsi:type="dcterms:W3CDTF">2022-11-22T09:07:37Z</dcterms:created>
  <dcterms:modified xsi:type="dcterms:W3CDTF">2026-06-02T14:29:27Z</dcterms:modified>
</cp:coreProperties>
</file>