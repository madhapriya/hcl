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3" r:id="rId1"/>
  </p:sldMasterIdLst>
  <p:notesMasterIdLst>
    <p:notesMasterId r:id="rId20"/>
  </p:notesMasterIdLst>
  <p:sldIdLst>
    <p:sldId id="256" r:id="rId2"/>
    <p:sldId id="299" r:id="rId3"/>
    <p:sldId id="300" r:id="rId4"/>
    <p:sldId id="301" r:id="rId5"/>
    <p:sldId id="312" r:id="rId6"/>
    <p:sldId id="311" r:id="rId7"/>
    <p:sldId id="302" r:id="rId8"/>
    <p:sldId id="257" r:id="rId9"/>
    <p:sldId id="305" r:id="rId10"/>
    <p:sldId id="309" r:id="rId11"/>
    <p:sldId id="303" r:id="rId12"/>
    <p:sldId id="304" r:id="rId13"/>
    <p:sldId id="306" r:id="rId14"/>
    <p:sldId id="307" r:id="rId15"/>
    <p:sldId id="308" r:id="rId16"/>
    <p:sldId id="310" r:id="rId17"/>
    <p:sldId id="313" r:id="rId18"/>
    <p:sldId id="28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F40212-6B6A-4846-BD94-4FCC0F85ABBE}" type="datetimeFigureOut">
              <a:rPr lang="en-IN" smtClean="0"/>
              <a:t>18-05-2026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173711-F11C-4D9B-A169-56E1924FADED}" type="slidenum">
              <a:rPr lang="en-IN" smtClean="0"/>
              <a:t>‹#›</a:t>
            </a:fld>
            <a:endParaRPr lang="en-IN"/>
          </a:p>
        </p:txBody>
      </p:sp>
    </p:spTree>
    <p:extLst>
      <p:ext uri="{BB962C8B-B14F-4D97-AF65-F5344CB8AC3E}">
        <p14:creationId xmlns:p14="http://schemas.microsoft.com/office/powerpoint/2010/main" val="2399275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85C3D-62FF-7777-3D4B-097CE19DD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EEEDB6-2040-9418-F110-58D9A8C8D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F7FFC0-4347-0FB7-C741-160329317DA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A6E8D3-DE98-E5EB-0968-E96E539E1E85}"/>
              </a:ext>
            </a:extLst>
          </p:cNvPr>
          <p:cNvSpPr>
            <a:spLocks noGrp="1"/>
          </p:cNvSpPr>
          <p:nvPr>
            <p:ph type="sldNum" sz="quarter" idx="5"/>
          </p:nvPr>
        </p:nvSpPr>
        <p:spPr/>
        <p:txBody>
          <a:bodyPr/>
          <a:lstStyle/>
          <a:p>
            <a:fld id="{33173711-F11C-4D9B-A169-56E1924FADED}" type="slidenum">
              <a:rPr lang="en-IN" smtClean="0"/>
              <a:t>4</a:t>
            </a:fld>
            <a:endParaRPr lang="en-IN"/>
          </a:p>
        </p:txBody>
      </p:sp>
    </p:spTree>
    <p:extLst>
      <p:ext uri="{BB962C8B-B14F-4D97-AF65-F5344CB8AC3E}">
        <p14:creationId xmlns:p14="http://schemas.microsoft.com/office/powerpoint/2010/main" val="2680640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77EEE-F146-193B-6D8F-9A3981C01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A5C10-DB1D-1364-85FF-6834D9014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29B3-0C8B-DF52-ADA8-29BA18681C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2C851D5-E50C-72B7-3AFC-A704D4EC588D}"/>
              </a:ext>
            </a:extLst>
          </p:cNvPr>
          <p:cNvSpPr>
            <a:spLocks noGrp="1"/>
          </p:cNvSpPr>
          <p:nvPr>
            <p:ph type="sldNum" sz="quarter" idx="5"/>
          </p:nvPr>
        </p:nvSpPr>
        <p:spPr/>
        <p:txBody>
          <a:bodyPr/>
          <a:lstStyle/>
          <a:p>
            <a:fld id="{33173711-F11C-4D9B-A169-56E1924FADED}" type="slidenum">
              <a:rPr lang="en-IN" smtClean="0"/>
              <a:t>5</a:t>
            </a:fld>
            <a:endParaRPr lang="en-IN"/>
          </a:p>
        </p:txBody>
      </p:sp>
    </p:spTree>
    <p:extLst>
      <p:ext uri="{BB962C8B-B14F-4D97-AF65-F5344CB8AC3E}">
        <p14:creationId xmlns:p14="http://schemas.microsoft.com/office/powerpoint/2010/main" val="1756461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633A8-8558-B79C-3A88-85C97A9E3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9E1F0-7EEB-4FF1-459C-697C6ABE6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34250-6E96-137B-17DE-1015027B035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D985B70-A95A-657C-005C-58B074F9A26B}"/>
              </a:ext>
            </a:extLst>
          </p:cNvPr>
          <p:cNvSpPr>
            <a:spLocks noGrp="1"/>
          </p:cNvSpPr>
          <p:nvPr>
            <p:ph type="sldNum" sz="quarter" idx="5"/>
          </p:nvPr>
        </p:nvSpPr>
        <p:spPr/>
        <p:txBody>
          <a:bodyPr/>
          <a:lstStyle/>
          <a:p>
            <a:fld id="{33173711-F11C-4D9B-A169-56E1924FADED}" type="slidenum">
              <a:rPr lang="en-IN" smtClean="0"/>
              <a:t>6</a:t>
            </a:fld>
            <a:endParaRPr lang="en-IN"/>
          </a:p>
        </p:txBody>
      </p:sp>
    </p:spTree>
    <p:extLst>
      <p:ext uri="{BB962C8B-B14F-4D97-AF65-F5344CB8AC3E}">
        <p14:creationId xmlns:p14="http://schemas.microsoft.com/office/powerpoint/2010/main" val="3716806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D4D5F-1A7F-155A-8363-78E43EADA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17861-D440-5143-CF20-76D4298549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77938-E0E6-E322-76D0-BF91A0AD38D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AD50DF-AA7D-B436-560A-ED967729546B}"/>
              </a:ext>
            </a:extLst>
          </p:cNvPr>
          <p:cNvSpPr>
            <a:spLocks noGrp="1"/>
          </p:cNvSpPr>
          <p:nvPr>
            <p:ph type="sldNum" sz="quarter" idx="5"/>
          </p:nvPr>
        </p:nvSpPr>
        <p:spPr/>
        <p:txBody>
          <a:bodyPr/>
          <a:lstStyle/>
          <a:p>
            <a:fld id="{33173711-F11C-4D9B-A169-56E1924FADED}" type="slidenum">
              <a:rPr lang="en-IN" smtClean="0"/>
              <a:t>7</a:t>
            </a:fld>
            <a:endParaRPr lang="en-IN"/>
          </a:p>
        </p:txBody>
      </p:sp>
    </p:spTree>
    <p:extLst>
      <p:ext uri="{BB962C8B-B14F-4D97-AF65-F5344CB8AC3E}">
        <p14:creationId xmlns:p14="http://schemas.microsoft.com/office/powerpoint/2010/main" val="1786266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3173711-F11C-4D9B-A169-56E1924FADED}" type="slidenum">
              <a:rPr lang="en-IN" smtClean="0"/>
              <a:t>8</a:t>
            </a:fld>
            <a:endParaRPr lang="en-IN"/>
          </a:p>
        </p:txBody>
      </p:sp>
    </p:spTree>
    <p:extLst>
      <p:ext uri="{BB962C8B-B14F-4D97-AF65-F5344CB8AC3E}">
        <p14:creationId xmlns:p14="http://schemas.microsoft.com/office/powerpoint/2010/main" val="3275718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3B709-F869-0022-43E1-23D8D114D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F4F50-45C4-10CA-E7DC-FC9EFB310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F8903-3FBF-D640-CE4C-36221643CB1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DAE080B-E6D1-DAB0-0A00-BE53D4FFE303}"/>
              </a:ext>
            </a:extLst>
          </p:cNvPr>
          <p:cNvSpPr>
            <a:spLocks noGrp="1"/>
          </p:cNvSpPr>
          <p:nvPr>
            <p:ph type="sldNum" sz="quarter" idx="5"/>
          </p:nvPr>
        </p:nvSpPr>
        <p:spPr/>
        <p:txBody>
          <a:bodyPr/>
          <a:lstStyle/>
          <a:p>
            <a:fld id="{33173711-F11C-4D9B-A169-56E1924FADED}" type="slidenum">
              <a:rPr lang="en-IN" smtClean="0"/>
              <a:t>9</a:t>
            </a:fld>
            <a:endParaRPr lang="en-IN"/>
          </a:p>
        </p:txBody>
      </p:sp>
    </p:spTree>
    <p:extLst>
      <p:ext uri="{BB962C8B-B14F-4D97-AF65-F5344CB8AC3E}">
        <p14:creationId xmlns:p14="http://schemas.microsoft.com/office/powerpoint/2010/main" val="2589874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E299C-4F19-E169-BCCE-6BF3219FE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F4B1A-4820-A5E4-9F14-7D2B616F5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5000BE-B216-E842-DF42-6AE1F47EE7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D866A0C-BA5D-0D77-45C2-45D14FE2763A}"/>
              </a:ext>
            </a:extLst>
          </p:cNvPr>
          <p:cNvSpPr>
            <a:spLocks noGrp="1"/>
          </p:cNvSpPr>
          <p:nvPr>
            <p:ph type="sldNum" sz="quarter" idx="5"/>
          </p:nvPr>
        </p:nvSpPr>
        <p:spPr/>
        <p:txBody>
          <a:bodyPr/>
          <a:lstStyle/>
          <a:p>
            <a:fld id="{33173711-F11C-4D9B-A169-56E1924FADED}" type="slidenum">
              <a:rPr lang="en-IN" smtClean="0"/>
              <a:t>10</a:t>
            </a:fld>
            <a:endParaRPr lang="en-IN"/>
          </a:p>
        </p:txBody>
      </p:sp>
    </p:spTree>
    <p:extLst>
      <p:ext uri="{BB962C8B-B14F-4D97-AF65-F5344CB8AC3E}">
        <p14:creationId xmlns:p14="http://schemas.microsoft.com/office/powerpoint/2010/main" val="1369643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56B17-4914-F46C-5600-B0E916F19F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50FB1-DC86-48F9-9884-FB1DD07A37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332D2-4B39-D9FD-A434-9E08A06323E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C3E0DC-59DE-7735-4837-19E7055E238E}"/>
              </a:ext>
            </a:extLst>
          </p:cNvPr>
          <p:cNvSpPr>
            <a:spLocks noGrp="1"/>
          </p:cNvSpPr>
          <p:nvPr>
            <p:ph type="sldNum" sz="quarter" idx="5"/>
          </p:nvPr>
        </p:nvSpPr>
        <p:spPr/>
        <p:txBody>
          <a:bodyPr/>
          <a:lstStyle/>
          <a:p>
            <a:fld id="{33173711-F11C-4D9B-A169-56E1924FADED}" type="slidenum">
              <a:rPr lang="en-IN" smtClean="0"/>
              <a:t>11</a:t>
            </a:fld>
            <a:endParaRPr lang="en-IN"/>
          </a:p>
        </p:txBody>
      </p:sp>
    </p:spTree>
    <p:extLst>
      <p:ext uri="{BB962C8B-B14F-4D97-AF65-F5344CB8AC3E}">
        <p14:creationId xmlns:p14="http://schemas.microsoft.com/office/powerpoint/2010/main" val="3307167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6E54E-716F-AA05-B65C-D51163856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2E329-AD5C-C528-1EB2-23862BB10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CB4F5-90EC-3514-3358-F2DF859693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D692A6A-36B8-80AB-42D8-6D194BC3358C}"/>
              </a:ext>
            </a:extLst>
          </p:cNvPr>
          <p:cNvSpPr>
            <a:spLocks noGrp="1"/>
          </p:cNvSpPr>
          <p:nvPr>
            <p:ph type="sldNum" sz="quarter" idx="5"/>
          </p:nvPr>
        </p:nvSpPr>
        <p:spPr/>
        <p:txBody>
          <a:bodyPr/>
          <a:lstStyle/>
          <a:p>
            <a:fld id="{33173711-F11C-4D9B-A169-56E1924FADED}" type="slidenum">
              <a:rPr lang="en-IN" smtClean="0"/>
              <a:t>12</a:t>
            </a:fld>
            <a:endParaRPr lang="en-IN"/>
          </a:p>
        </p:txBody>
      </p:sp>
    </p:spTree>
    <p:extLst>
      <p:ext uri="{BB962C8B-B14F-4D97-AF65-F5344CB8AC3E}">
        <p14:creationId xmlns:p14="http://schemas.microsoft.com/office/powerpoint/2010/main" val="1394948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E5113-EAC2-66BA-D2D7-F500097F0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23930-8839-934E-6661-9E8142E97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2410D-250A-A7DB-24BA-5E2E0FA38F1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656BD5-8457-F5FE-6C98-5BAA08B0CA1A}"/>
              </a:ext>
            </a:extLst>
          </p:cNvPr>
          <p:cNvSpPr>
            <a:spLocks noGrp="1"/>
          </p:cNvSpPr>
          <p:nvPr>
            <p:ph type="sldNum" sz="quarter" idx="5"/>
          </p:nvPr>
        </p:nvSpPr>
        <p:spPr/>
        <p:txBody>
          <a:bodyPr/>
          <a:lstStyle/>
          <a:p>
            <a:fld id="{33173711-F11C-4D9B-A169-56E1924FADED}" type="slidenum">
              <a:rPr lang="en-IN" smtClean="0"/>
              <a:t>13</a:t>
            </a:fld>
            <a:endParaRPr lang="en-IN"/>
          </a:p>
        </p:txBody>
      </p:sp>
    </p:spTree>
    <p:extLst>
      <p:ext uri="{BB962C8B-B14F-4D97-AF65-F5344CB8AC3E}">
        <p14:creationId xmlns:p14="http://schemas.microsoft.com/office/powerpoint/2010/main" val="3891172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03314-E471-38A4-1662-ECAA7EBD9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6587E-8D52-D167-AB5C-A0482FA7E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50501-7DCA-B3E0-2984-ED9AB60E7A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AAF96C5-4E3D-55E1-8212-061EB2E8F113}"/>
              </a:ext>
            </a:extLst>
          </p:cNvPr>
          <p:cNvSpPr>
            <a:spLocks noGrp="1"/>
          </p:cNvSpPr>
          <p:nvPr>
            <p:ph type="sldNum" sz="quarter" idx="5"/>
          </p:nvPr>
        </p:nvSpPr>
        <p:spPr/>
        <p:txBody>
          <a:bodyPr/>
          <a:lstStyle/>
          <a:p>
            <a:fld id="{33173711-F11C-4D9B-A169-56E1924FADED}" type="slidenum">
              <a:rPr lang="en-IN" smtClean="0"/>
              <a:t>14</a:t>
            </a:fld>
            <a:endParaRPr lang="en-IN"/>
          </a:p>
        </p:txBody>
      </p:sp>
    </p:spTree>
    <p:extLst>
      <p:ext uri="{BB962C8B-B14F-4D97-AF65-F5344CB8AC3E}">
        <p14:creationId xmlns:p14="http://schemas.microsoft.com/office/powerpoint/2010/main" val="805578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0E6EB-A446-53B2-6861-42A1C61BDC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2F22F-BEBD-067A-67C1-0B29624F50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3F1F79-EF9A-98CF-7369-4F3FE5319C8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7AD173-8AE4-2326-FA77-19249FAE76F0}"/>
              </a:ext>
            </a:extLst>
          </p:cNvPr>
          <p:cNvSpPr>
            <a:spLocks noGrp="1"/>
          </p:cNvSpPr>
          <p:nvPr>
            <p:ph type="sldNum" sz="quarter" idx="5"/>
          </p:nvPr>
        </p:nvSpPr>
        <p:spPr/>
        <p:txBody>
          <a:bodyPr/>
          <a:lstStyle/>
          <a:p>
            <a:fld id="{33173711-F11C-4D9B-A169-56E1924FADED}" type="slidenum">
              <a:rPr lang="en-IN" smtClean="0"/>
              <a:t>15</a:t>
            </a:fld>
            <a:endParaRPr lang="en-IN"/>
          </a:p>
        </p:txBody>
      </p:sp>
    </p:spTree>
    <p:extLst>
      <p:ext uri="{BB962C8B-B14F-4D97-AF65-F5344CB8AC3E}">
        <p14:creationId xmlns:p14="http://schemas.microsoft.com/office/powerpoint/2010/main" val="10757747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F945F-423F-D007-D4F9-D559491DA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3AA6F-144C-D0DD-CD15-E381502975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273CA-D0EB-C417-D64C-DC83E2F11E4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27205DB-0759-E1C4-85DF-8C5F181B7899}"/>
              </a:ext>
            </a:extLst>
          </p:cNvPr>
          <p:cNvSpPr>
            <a:spLocks noGrp="1"/>
          </p:cNvSpPr>
          <p:nvPr>
            <p:ph type="sldNum" sz="quarter" idx="5"/>
          </p:nvPr>
        </p:nvSpPr>
        <p:spPr/>
        <p:txBody>
          <a:bodyPr/>
          <a:lstStyle/>
          <a:p>
            <a:fld id="{33173711-F11C-4D9B-A169-56E1924FADED}" type="slidenum">
              <a:rPr lang="en-IN" smtClean="0"/>
              <a:t>16</a:t>
            </a:fld>
            <a:endParaRPr lang="en-IN"/>
          </a:p>
        </p:txBody>
      </p:sp>
    </p:spTree>
    <p:extLst>
      <p:ext uri="{BB962C8B-B14F-4D97-AF65-F5344CB8AC3E}">
        <p14:creationId xmlns:p14="http://schemas.microsoft.com/office/powerpoint/2010/main" val="198656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D0144-1AC2-3C06-546F-DC04577BB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6A3A6-1E90-480C-074F-EC153A99E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DB415-FE7A-7125-64F3-8C58A84C52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37AADB-12F4-C761-6339-E7E1FB3AFF7B}"/>
              </a:ext>
            </a:extLst>
          </p:cNvPr>
          <p:cNvSpPr>
            <a:spLocks noGrp="1"/>
          </p:cNvSpPr>
          <p:nvPr>
            <p:ph type="sldNum" sz="quarter" idx="5"/>
          </p:nvPr>
        </p:nvSpPr>
        <p:spPr/>
        <p:txBody>
          <a:bodyPr/>
          <a:lstStyle/>
          <a:p>
            <a:fld id="{33173711-F11C-4D9B-A169-56E1924FADED}" type="slidenum">
              <a:rPr lang="en-IN" smtClean="0"/>
              <a:t>17</a:t>
            </a:fld>
            <a:endParaRPr lang="en-IN"/>
          </a:p>
        </p:txBody>
      </p:sp>
    </p:spTree>
    <p:extLst>
      <p:ext uri="{BB962C8B-B14F-4D97-AF65-F5344CB8AC3E}">
        <p14:creationId xmlns:p14="http://schemas.microsoft.com/office/powerpoint/2010/main" val="1260099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41859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9917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51196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3450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7979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43441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7870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49007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40357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465625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54780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036138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4311980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056676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909879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74603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1914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5/18/2026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130106805"/>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76A0A9-866E-35A2-B545-C7DB27F4E71E}"/>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1AC1FED5-8C91-B88B-5048-E1C2B47A15F3}"/>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6" name="Title 5">
            <a:extLst>
              <a:ext uri="{FF2B5EF4-FFF2-40B4-BE49-F238E27FC236}">
                <a16:creationId xmlns:a16="http://schemas.microsoft.com/office/drawing/2014/main" id="{D527DE88-029D-7DEF-48A9-4A2AB0B5DAFD}"/>
              </a:ext>
            </a:extLst>
          </p:cNvPr>
          <p:cNvSpPr>
            <a:spLocks noGrp="1"/>
          </p:cNvSpPr>
          <p:nvPr>
            <p:ph type="ctrTitle"/>
          </p:nvPr>
        </p:nvSpPr>
        <p:spPr>
          <a:xfrm>
            <a:off x="1442869" y="1563093"/>
            <a:ext cx="9001462" cy="930049"/>
          </a:xfrm>
        </p:spPr>
        <p:txBody>
          <a:bodyPr>
            <a:normAutofit/>
          </a:bodyPr>
          <a:lstStyle/>
          <a:p>
            <a:r>
              <a:rPr lang="en-US" sz="3400" dirty="0"/>
              <a:t>Problems on Ages</a:t>
            </a:r>
            <a:endParaRPr lang="en-IN" sz="3400" dirty="0"/>
          </a:p>
        </p:txBody>
      </p:sp>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830C1-3F2D-2462-87F4-47607EA5D93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597B1F-C001-A0C1-8565-FD41ACB9FD51}"/>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417BD1FC-8128-DD76-0D16-3F5BFA517EA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84350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61042-B6E6-4FD4-20D7-5A23DED59C0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AF370C2-89C9-8923-2690-1AB3316AC709}"/>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36F48AF7-8665-1245-593B-8925BDEEEB52}"/>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196150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BF8F2-3F38-11A7-2F62-EBFC7FF121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AD5D86-C1F4-A9BA-8E12-9B1236B0AB04}"/>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1. After 5 years , the sum of ages of A and B is 50 years. If the present age of A is 4 times that of B’s age. What is the age of A 3 years ago</a:t>
            </a:r>
          </a:p>
          <a:p>
            <a:pPr marL="0" indent="0" algn="just">
              <a:lnSpc>
                <a:spcPct val="150000"/>
              </a:lnSpc>
              <a:buNone/>
            </a:pPr>
            <a:r>
              <a:rPr lang="en-IN" sz="2200" b="1" dirty="0">
                <a:latin typeface="Bookman Old Style" pitchFamily="18" charset="0"/>
                <a:cs typeface="Times New Roman" panose="02020603050405020304" pitchFamily="18" charset="0"/>
              </a:rPr>
              <a:t> a. 32          </a:t>
            </a:r>
          </a:p>
          <a:p>
            <a:pPr marL="0" indent="0" algn="just">
              <a:lnSpc>
                <a:spcPct val="150000"/>
              </a:lnSpc>
              <a:buNone/>
            </a:pPr>
            <a:r>
              <a:rPr lang="en-IN" sz="2200" b="1" dirty="0">
                <a:latin typeface="Bookman Old Style" pitchFamily="18" charset="0"/>
                <a:cs typeface="Times New Roman" panose="02020603050405020304" pitchFamily="18" charset="0"/>
              </a:rPr>
              <a:t> b. 29           </a:t>
            </a:r>
          </a:p>
          <a:p>
            <a:pPr marL="0" indent="0" algn="just">
              <a:lnSpc>
                <a:spcPct val="150000"/>
              </a:lnSpc>
              <a:buNone/>
            </a:pPr>
            <a:r>
              <a:rPr lang="en-IN" sz="2200" b="1" dirty="0">
                <a:latin typeface="Bookman Old Style" pitchFamily="18" charset="0"/>
                <a:cs typeface="Times New Roman" panose="02020603050405020304" pitchFamily="18" charset="0"/>
              </a:rPr>
              <a:t> c. 35          </a:t>
            </a:r>
          </a:p>
          <a:p>
            <a:pPr marL="0" indent="0" algn="just">
              <a:lnSpc>
                <a:spcPct val="150000"/>
              </a:lnSpc>
              <a:buNone/>
            </a:pPr>
            <a:r>
              <a:rPr lang="en-IN" sz="2200" b="1" dirty="0">
                <a:latin typeface="Bookman Old Style" pitchFamily="18" charset="0"/>
                <a:cs typeface="Times New Roman" panose="02020603050405020304" pitchFamily="18" charset="0"/>
              </a:rPr>
              <a:t> d. 24</a:t>
            </a:r>
          </a:p>
          <a:p>
            <a:pPr marL="0" indent="0" algn="just">
              <a:lnSpc>
                <a:spcPct val="150000"/>
              </a:lnSpc>
              <a:buNone/>
            </a:pP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D907C0E7-1BF3-D599-D5CE-00689632DAF6}"/>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93372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797F-2D9A-6ABB-71CF-8E8F13E3CF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C56366-E988-3C8E-5E6A-688B84D9AB1C}"/>
              </a:ext>
            </a:extLst>
          </p:cNvPr>
          <p:cNvSpPr>
            <a:spLocks noGrp="1"/>
          </p:cNvSpPr>
          <p:nvPr>
            <p:ph idx="1"/>
          </p:nvPr>
        </p:nvSpPr>
        <p:spPr>
          <a:xfrm>
            <a:off x="441506" y="255382"/>
            <a:ext cx="9714866" cy="4504426"/>
          </a:xfrm>
        </p:spPr>
        <p:txBody>
          <a:bodyPr>
            <a:normAutofit lnSpcReduction="10000"/>
          </a:bodyPr>
          <a:lstStyle/>
          <a:p>
            <a:pPr marL="0" indent="0" algn="just">
              <a:lnSpc>
                <a:spcPct val="150000"/>
              </a:lnSpc>
              <a:buNone/>
            </a:pPr>
            <a:r>
              <a:rPr lang="en-IN" sz="2200" b="1" dirty="0">
                <a:latin typeface="Bookman Old Style" pitchFamily="18" charset="0"/>
                <a:cs typeface="Times New Roman" panose="02020603050405020304" pitchFamily="18" charset="0"/>
              </a:rPr>
              <a:t>2. </a:t>
            </a:r>
            <a:r>
              <a:rPr lang="en-IN" sz="2400" b="1" dirty="0">
                <a:latin typeface="Bookman Old Style" pitchFamily="18" charset="0"/>
                <a:cs typeface="Times New Roman" panose="02020603050405020304" pitchFamily="18" charset="0"/>
              </a:rPr>
              <a:t>Latha is 25 years younger than her mother . 15 years hence, Latha will be </a:t>
            </a:r>
            <a:r>
              <a:rPr lang="en-IN" sz="3200" b="1" dirty="0">
                <a:latin typeface="Bookman Old Style" pitchFamily="18" charset="0"/>
                <a:cs typeface="Times New Roman" panose="02020603050405020304" pitchFamily="18" charset="0"/>
              </a:rPr>
              <a:t>½</a:t>
            </a:r>
            <a:r>
              <a:rPr lang="en-IN" sz="2400" b="1" dirty="0">
                <a:latin typeface="Bookman Old Style" pitchFamily="18" charset="0"/>
                <a:cs typeface="Times New Roman" panose="02020603050405020304" pitchFamily="18" charset="0"/>
              </a:rPr>
              <a:t> as old as her mother will be. How old her mother at present ?</a:t>
            </a:r>
          </a:p>
          <a:p>
            <a:pPr marL="0" indent="0" algn="just">
              <a:lnSpc>
                <a:spcPct val="150000"/>
              </a:lnSpc>
              <a:buNone/>
            </a:pPr>
            <a:r>
              <a:rPr lang="en-IN" sz="2400" b="1" dirty="0">
                <a:latin typeface="Bookman Old Style" pitchFamily="18" charset="0"/>
                <a:cs typeface="Times New Roman" panose="02020603050405020304" pitchFamily="18" charset="0"/>
              </a:rPr>
              <a:t>   a. 35      </a:t>
            </a:r>
          </a:p>
          <a:p>
            <a:pPr marL="0" indent="0" algn="just">
              <a:lnSpc>
                <a:spcPct val="150000"/>
              </a:lnSpc>
              <a:buNone/>
            </a:pPr>
            <a:r>
              <a:rPr lang="en-IN" sz="2400" b="1" dirty="0">
                <a:latin typeface="Bookman Old Style" pitchFamily="18" charset="0"/>
                <a:cs typeface="Times New Roman" panose="02020603050405020304" pitchFamily="18" charset="0"/>
              </a:rPr>
              <a:t>  b. 30       </a:t>
            </a:r>
          </a:p>
          <a:p>
            <a:pPr marL="0" indent="0" algn="just">
              <a:lnSpc>
                <a:spcPct val="150000"/>
              </a:lnSpc>
              <a:buNone/>
            </a:pPr>
            <a:r>
              <a:rPr lang="en-IN" sz="2400" b="1" dirty="0">
                <a:latin typeface="Bookman Old Style" pitchFamily="18" charset="0"/>
                <a:cs typeface="Times New Roman" panose="02020603050405020304" pitchFamily="18" charset="0"/>
              </a:rPr>
              <a:t>  c. 25      </a:t>
            </a:r>
          </a:p>
          <a:p>
            <a:pPr marL="0" indent="0" algn="just">
              <a:lnSpc>
                <a:spcPct val="150000"/>
              </a:lnSpc>
              <a:buNone/>
            </a:pPr>
            <a:r>
              <a:rPr lang="en-IN" sz="2400" b="1" dirty="0">
                <a:latin typeface="Bookman Old Style" pitchFamily="18" charset="0"/>
                <a:cs typeface="Times New Roman" panose="02020603050405020304" pitchFamily="18" charset="0"/>
              </a:rPr>
              <a:t>  d. 45</a:t>
            </a:r>
          </a:p>
          <a:p>
            <a:pPr marL="0" indent="0" algn="just">
              <a:lnSpc>
                <a:spcPct val="150000"/>
              </a:lnSpc>
              <a:buNone/>
            </a:pP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EF91DE5-2B12-6853-F490-26534BA1D353}"/>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335078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BC703-89BD-2889-AF8C-3758895C1C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DB273-8D76-5124-DAFA-3F07731C93B6}"/>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3. </a:t>
            </a:r>
            <a:r>
              <a:rPr lang="en-US" sz="2200" b="1" dirty="0">
                <a:latin typeface="Bookman Old Style" pitchFamily="18" charset="0"/>
                <a:cs typeface="Times New Roman" panose="02020603050405020304" pitchFamily="18" charset="0"/>
              </a:rPr>
              <a:t>A man's present age is two and half times the sum of the ages of his two daughters. 30 years later, his age will be the sum of the ages of his two daughters. Then what will be the man's age 12 years from now?</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08996ECC-7FF7-C344-B27A-6605E36C6975}"/>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256395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814C8-FCA2-19C4-9B82-78257386762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F18B64-CF44-1E68-CFEB-52F5EC67B542}"/>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4. </a:t>
            </a:r>
            <a:r>
              <a:rPr lang="en-US" sz="2200" b="1" dirty="0">
                <a:latin typeface="Bookman Old Style" pitchFamily="18" charset="0"/>
                <a:cs typeface="Times New Roman" panose="02020603050405020304" pitchFamily="18" charset="0"/>
              </a:rPr>
              <a:t>The sum of ages of a mother and her son is 4 times the age of the son. If the average age of the mother and the son is 28 years, what is the son’s age?	</a:t>
            </a:r>
          </a:p>
          <a:p>
            <a:pPr marL="0" indent="0" algn="just">
              <a:lnSpc>
                <a:spcPct val="150000"/>
              </a:lnSpc>
              <a:buNone/>
            </a:pPr>
            <a:r>
              <a:rPr lang="en-US" sz="2200" b="1" dirty="0">
                <a:latin typeface="Bookman Old Style" pitchFamily="18" charset="0"/>
                <a:cs typeface="Times New Roman" panose="02020603050405020304" pitchFamily="18" charset="0"/>
              </a:rPr>
              <a:t>A.16 years	</a:t>
            </a:r>
          </a:p>
          <a:p>
            <a:pPr marL="0" indent="0" algn="just">
              <a:lnSpc>
                <a:spcPct val="150000"/>
              </a:lnSpc>
              <a:buNone/>
            </a:pPr>
            <a:r>
              <a:rPr lang="en-US" sz="2200" b="1" dirty="0">
                <a:latin typeface="Bookman Old Style" pitchFamily="18" charset="0"/>
                <a:cs typeface="Times New Roman" panose="02020603050405020304" pitchFamily="18" charset="0"/>
              </a:rPr>
              <a:t>B.14 years	</a:t>
            </a:r>
          </a:p>
          <a:p>
            <a:pPr marL="0" indent="0" algn="just">
              <a:lnSpc>
                <a:spcPct val="150000"/>
              </a:lnSpc>
              <a:buNone/>
            </a:pPr>
            <a:r>
              <a:rPr lang="en-US" sz="2200" b="1" dirty="0">
                <a:latin typeface="Bookman Old Style" pitchFamily="18" charset="0"/>
                <a:cs typeface="Times New Roman" panose="02020603050405020304" pitchFamily="18" charset="0"/>
              </a:rPr>
              <a:t>C.12 years	</a:t>
            </a:r>
          </a:p>
          <a:p>
            <a:pPr marL="0" indent="0" algn="just">
              <a:lnSpc>
                <a:spcPct val="150000"/>
              </a:lnSpc>
              <a:buNone/>
            </a:pPr>
            <a:r>
              <a:rPr lang="en-US" sz="2200" b="1" dirty="0">
                <a:latin typeface="Bookman Old Style" pitchFamily="18" charset="0"/>
                <a:cs typeface="Times New Roman" panose="02020603050405020304" pitchFamily="18" charset="0"/>
              </a:rPr>
              <a:t>D.18 years</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775B9413-CAF1-7552-8040-15EB89F52D31}"/>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771836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5DC3E-2454-8DA3-9DD3-8254F51563EE}"/>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5. </a:t>
            </a:r>
            <a:r>
              <a:rPr lang="en-US" sz="2200" b="1" dirty="0">
                <a:latin typeface="Bookman Old Style" pitchFamily="18" charset="0"/>
                <a:cs typeface="Times New Roman" panose="02020603050405020304" pitchFamily="18" charset="0"/>
              </a:rPr>
              <a:t>The present ages of A and B are in the ratio 3 : 1. Five years ago, their ages were in the ratio 5 : 1. Find the age of B after 3 years ?</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3D65938-E035-8E01-3D69-D2F21629A0FD}"/>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4231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9189A-DE0F-8AD9-4456-D46CE4887C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BE6A8A-120A-9071-6174-79AA5D0ACD45}"/>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6. </a:t>
            </a:r>
            <a:r>
              <a:rPr lang="en-US" sz="2200" b="1" dirty="0">
                <a:latin typeface="Bookman Old Style" pitchFamily="18" charset="0"/>
                <a:cs typeface="Times New Roman" panose="02020603050405020304" pitchFamily="18" charset="0"/>
              </a:rPr>
              <a:t>Manju’s mother is four times as old as Manju. After 5 years, her mother will be 3 times as old as she will be then. What is the age of Manju?	</a:t>
            </a:r>
          </a:p>
          <a:p>
            <a:pPr marL="0" indent="0" algn="just">
              <a:lnSpc>
                <a:spcPct val="150000"/>
              </a:lnSpc>
              <a:buNone/>
            </a:pPr>
            <a:r>
              <a:rPr lang="en-US" sz="2200" b="1" dirty="0">
                <a:latin typeface="Bookman Old Style" pitchFamily="18" charset="0"/>
                <a:cs typeface="Times New Roman" panose="02020603050405020304" pitchFamily="18" charset="0"/>
              </a:rPr>
              <a:t>A. 10 years	</a:t>
            </a:r>
          </a:p>
          <a:p>
            <a:pPr marL="0" indent="0" algn="just">
              <a:lnSpc>
                <a:spcPct val="150000"/>
              </a:lnSpc>
              <a:buNone/>
            </a:pPr>
            <a:r>
              <a:rPr lang="en-US" sz="2200" b="1" dirty="0">
                <a:latin typeface="Bookman Old Style" pitchFamily="18" charset="0"/>
                <a:cs typeface="Times New Roman" panose="02020603050405020304" pitchFamily="18" charset="0"/>
              </a:rPr>
              <a:t>B. 15 years	</a:t>
            </a:r>
          </a:p>
          <a:p>
            <a:pPr marL="0" indent="0" algn="just">
              <a:lnSpc>
                <a:spcPct val="150000"/>
              </a:lnSpc>
              <a:buNone/>
            </a:pPr>
            <a:r>
              <a:rPr lang="en-US" sz="2200" b="1" dirty="0">
                <a:latin typeface="Bookman Old Style" pitchFamily="18" charset="0"/>
                <a:cs typeface="Times New Roman" panose="02020603050405020304" pitchFamily="18" charset="0"/>
              </a:rPr>
              <a:t>C. 20 years	</a:t>
            </a:r>
          </a:p>
          <a:p>
            <a:pPr marL="0" indent="0" algn="just">
              <a:lnSpc>
                <a:spcPct val="150000"/>
              </a:lnSpc>
              <a:buNone/>
            </a:pPr>
            <a:r>
              <a:rPr lang="en-US" sz="2200" b="1" dirty="0">
                <a:latin typeface="Bookman Old Style" pitchFamily="18" charset="0"/>
                <a:cs typeface="Times New Roman" panose="02020603050405020304" pitchFamily="18" charset="0"/>
              </a:rPr>
              <a:t>D. 5 years</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3ACEF31-F7A6-D6E4-89D3-97C3DED5AE2A}"/>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475032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0FBAB-8400-101A-5C3B-E3E795DF65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3C5186-2505-A029-A2A3-1487869F59F9}"/>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7. </a:t>
            </a:r>
            <a:r>
              <a:rPr lang="en-US" sz="2200" b="1" dirty="0">
                <a:latin typeface="Bookman Old Style" pitchFamily="18" charset="0"/>
                <a:cs typeface="Times New Roman" panose="02020603050405020304" pitchFamily="18" charset="0"/>
              </a:rPr>
              <a:t>Three years ago, the age of father is 7 times as his son's age. At present the age of father is 5 times the age of his son then what is the sum of present ages of father and son?</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EB1FF9DB-C6D4-DF7B-9AD6-ACB997247CA6}"/>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5501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CC889-7368-C156-930B-E807636904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178C74-6789-8246-AD05-C8A45D3D1717}"/>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8. </a:t>
            </a:r>
            <a:r>
              <a:rPr lang="en-US" sz="2200" b="1" dirty="0">
                <a:latin typeface="Bookman Old Style" pitchFamily="18" charset="0"/>
                <a:cs typeface="Times New Roman" panose="02020603050405020304" pitchFamily="18" charset="0"/>
              </a:rPr>
              <a:t>Anand’s father was three times as old as Anand 5 years ago. After 5 years he will be twice as old as Anand. How old is Anand today?	</a:t>
            </a:r>
          </a:p>
          <a:p>
            <a:pPr marL="0" indent="0" algn="just">
              <a:lnSpc>
                <a:spcPct val="150000"/>
              </a:lnSpc>
              <a:buNone/>
            </a:pPr>
            <a:r>
              <a:rPr lang="en-US" sz="2200" b="1" dirty="0">
                <a:latin typeface="Bookman Old Style" pitchFamily="18" charset="0"/>
                <a:cs typeface="Times New Roman" panose="02020603050405020304" pitchFamily="18" charset="0"/>
              </a:rPr>
              <a:t>A. 35 years	</a:t>
            </a:r>
          </a:p>
          <a:p>
            <a:pPr marL="0" indent="0" algn="just">
              <a:lnSpc>
                <a:spcPct val="150000"/>
              </a:lnSpc>
              <a:buNone/>
            </a:pPr>
            <a:r>
              <a:rPr lang="en-US" sz="2200" b="1" dirty="0">
                <a:latin typeface="Bookman Old Style" pitchFamily="18" charset="0"/>
                <a:cs typeface="Times New Roman" panose="02020603050405020304" pitchFamily="18" charset="0"/>
              </a:rPr>
              <a:t>B. 10 years	</a:t>
            </a:r>
          </a:p>
          <a:p>
            <a:pPr marL="0" indent="0" algn="just">
              <a:lnSpc>
                <a:spcPct val="150000"/>
              </a:lnSpc>
              <a:buNone/>
            </a:pPr>
            <a:r>
              <a:rPr lang="en-US" sz="2200" b="1" dirty="0">
                <a:latin typeface="Bookman Old Style" pitchFamily="18" charset="0"/>
                <a:cs typeface="Times New Roman" panose="02020603050405020304" pitchFamily="18" charset="0"/>
              </a:rPr>
              <a:t>C. 20 years	</a:t>
            </a:r>
          </a:p>
          <a:p>
            <a:pPr marL="0" indent="0" algn="just">
              <a:lnSpc>
                <a:spcPct val="150000"/>
              </a:lnSpc>
              <a:buNone/>
            </a:pPr>
            <a:r>
              <a:rPr lang="en-US" sz="2200" b="1" dirty="0">
                <a:latin typeface="Bookman Old Style" pitchFamily="18" charset="0"/>
                <a:cs typeface="Times New Roman" panose="02020603050405020304" pitchFamily="18" charset="0"/>
              </a:rPr>
              <a:t>D. 15 years</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FE3E97D1-A65A-1CB1-2D4B-2107BDFF2A90}"/>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842873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9F68-B9B9-136E-147D-014106D64DB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6D2749-15DE-A619-ADCC-785B979B56B9}"/>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9. </a:t>
            </a:r>
            <a:r>
              <a:rPr lang="en-US" sz="2200" b="1" dirty="0">
                <a:latin typeface="Bookman Old Style" pitchFamily="18" charset="0"/>
                <a:cs typeface="Times New Roman" panose="02020603050405020304" pitchFamily="18" charset="0"/>
              </a:rPr>
              <a:t>Ten years ago, Chandu’s mother was four times older than her son. After 10 years, the mother will be twice older than son. The present age of Chandu is:	</a:t>
            </a:r>
          </a:p>
          <a:p>
            <a:pPr marL="0" indent="0" algn="just">
              <a:lnSpc>
                <a:spcPct val="150000"/>
              </a:lnSpc>
              <a:buNone/>
            </a:pPr>
            <a:r>
              <a:rPr lang="en-US" sz="2200" b="1" dirty="0">
                <a:latin typeface="Bookman Old Style" pitchFamily="18" charset="0"/>
                <a:cs typeface="Times New Roman" panose="02020603050405020304" pitchFamily="18" charset="0"/>
              </a:rPr>
              <a:t>A. 10 years	</a:t>
            </a:r>
          </a:p>
          <a:p>
            <a:pPr marL="0" indent="0" algn="just">
              <a:lnSpc>
                <a:spcPct val="150000"/>
              </a:lnSpc>
              <a:buNone/>
            </a:pPr>
            <a:r>
              <a:rPr lang="en-US" sz="2200" b="1" dirty="0">
                <a:latin typeface="Bookman Old Style" pitchFamily="18" charset="0"/>
                <a:cs typeface="Times New Roman" panose="02020603050405020304" pitchFamily="18" charset="0"/>
              </a:rPr>
              <a:t>B. 20 years	</a:t>
            </a:r>
          </a:p>
          <a:p>
            <a:pPr marL="0" indent="0" algn="just">
              <a:lnSpc>
                <a:spcPct val="150000"/>
              </a:lnSpc>
              <a:buNone/>
            </a:pPr>
            <a:r>
              <a:rPr lang="en-US" sz="2200" b="1" dirty="0">
                <a:latin typeface="Bookman Old Style" pitchFamily="18" charset="0"/>
                <a:cs typeface="Times New Roman" panose="02020603050405020304" pitchFamily="18" charset="0"/>
              </a:rPr>
              <a:t>C. 30 years	</a:t>
            </a:r>
          </a:p>
          <a:p>
            <a:pPr marL="0" indent="0" algn="just">
              <a:lnSpc>
                <a:spcPct val="150000"/>
              </a:lnSpc>
              <a:buNone/>
            </a:pPr>
            <a:r>
              <a:rPr lang="en-US" sz="2200" b="1" dirty="0">
                <a:latin typeface="Bookman Old Style" pitchFamily="18" charset="0"/>
                <a:cs typeface="Times New Roman" panose="02020603050405020304" pitchFamily="18" charset="0"/>
              </a:rPr>
              <a:t>D. 35 years</a:t>
            </a:r>
            <a:r>
              <a:rPr lang="en-IN" sz="2200" b="1" dirty="0">
                <a:latin typeface="Bookman Old Style" pitchFamily="18" charset="0"/>
                <a:cs typeface="Times New Roman" panose="02020603050405020304" pitchFamily="18" charset="0"/>
              </a:rPr>
              <a:t> </a:t>
            </a:r>
          </a:p>
        </p:txBody>
      </p:sp>
      <p:pic>
        <p:nvPicPr>
          <p:cNvPr id="2" name="Picture 1" descr="A yellow and blue sign with words">
            <a:extLst>
              <a:ext uri="{FF2B5EF4-FFF2-40B4-BE49-F238E27FC236}">
                <a16:creationId xmlns:a16="http://schemas.microsoft.com/office/drawing/2014/main" id="{711CB89F-C340-D98E-EDA1-40511B1C566F}"/>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679894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A2BF4-36A6-D491-8497-71AE6A1495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9F6413-6190-F3F2-AD05-81482DDA8066}"/>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10. </a:t>
            </a:r>
            <a:r>
              <a:rPr lang="en-US" sz="2200" b="1" dirty="0">
                <a:latin typeface="Bookman Old Style" pitchFamily="18" charset="0"/>
                <a:cs typeface="Times New Roman" panose="02020603050405020304" pitchFamily="18" charset="0"/>
              </a:rPr>
              <a:t>Ram will be 5 times as old as he is now after 8 years. How many years after he will be 10 times as old as he is now?</a:t>
            </a:r>
          </a:p>
          <a:p>
            <a:pPr marL="0" indent="0" algn="just">
              <a:lnSpc>
                <a:spcPct val="150000"/>
              </a:lnSpc>
              <a:buNone/>
            </a:pPr>
            <a:r>
              <a:rPr lang="en-US" sz="2200" b="1" dirty="0">
                <a:latin typeface="Bookman Old Style" pitchFamily="18" charset="0"/>
                <a:cs typeface="Times New Roman" panose="02020603050405020304" pitchFamily="18" charset="0"/>
              </a:rPr>
              <a:t>A. 16	</a:t>
            </a:r>
          </a:p>
          <a:p>
            <a:pPr marL="0" indent="0" algn="just">
              <a:lnSpc>
                <a:spcPct val="150000"/>
              </a:lnSpc>
              <a:buNone/>
            </a:pPr>
            <a:r>
              <a:rPr lang="en-US" sz="2200" b="1" dirty="0">
                <a:latin typeface="Bookman Old Style" pitchFamily="18" charset="0"/>
                <a:cs typeface="Times New Roman" panose="02020603050405020304" pitchFamily="18" charset="0"/>
              </a:rPr>
              <a:t>B. 18	</a:t>
            </a:r>
          </a:p>
          <a:p>
            <a:pPr marL="0" indent="0" algn="just">
              <a:lnSpc>
                <a:spcPct val="150000"/>
              </a:lnSpc>
              <a:buNone/>
            </a:pPr>
            <a:r>
              <a:rPr lang="en-US" sz="2200" b="1" dirty="0">
                <a:latin typeface="Bookman Old Style" pitchFamily="18" charset="0"/>
                <a:cs typeface="Times New Roman" panose="02020603050405020304" pitchFamily="18" charset="0"/>
              </a:rPr>
              <a:t>C. 20	</a:t>
            </a:r>
          </a:p>
          <a:p>
            <a:pPr marL="0" indent="0" algn="just">
              <a:lnSpc>
                <a:spcPct val="150000"/>
              </a:lnSpc>
              <a:buNone/>
            </a:pPr>
            <a:r>
              <a:rPr lang="en-US" sz="2200" b="1" dirty="0">
                <a:latin typeface="Bookman Old Style" pitchFamily="18" charset="0"/>
                <a:cs typeface="Times New Roman" panose="02020603050405020304" pitchFamily="18" charset="0"/>
              </a:rPr>
              <a:t>D.14</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4F9A9B4-7303-80BA-61B2-5418C8CC1810}"/>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627671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FCEF3-DC77-B08A-C5B3-32DC15C922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1482D-2F22-B7E9-8616-AA847E62C559}"/>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11. </a:t>
            </a:r>
            <a:r>
              <a:rPr lang="en-US" sz="2200" b="1" dirty="0">
                <a:latin typeface="Bookman Old Style" pitchFamily="18" charset="0"/>
                <a:cs typeface="Times New Roman" panose="02020603050405020304" pitchFamily="18" charset="0"/>
              </a:rPr>
              <a:t>The present age of Pranathi is twice the age of Sarada 3 years ago. If Pranathi is two years elder to Sarada. What is the present age of Pranathi?	</a:t>
            </a:r>
          </a:p>
          <a:p>
            <a:pPr marL="0" indent="0" algn="just">
              <a:lnSpc>
                <a:spcPct val="150000"/>
              </a:lnSpc>
              <a:buNone/>
            </a:pPr>
            <a:r>
              <a:rPr lang="en-US" sz="2200" b="1" dirty="0">
                <a:latin typeface="Bookman Old Style" pitchFamily="18" charset="0"/>
                <a:cs typeface="Times New Roman" panose="02020603050405020304" pitchFamily="18" charset="0"/>
              </a:rPr>
              <a:t>A. 8 years	</a:t>
            </a:r>
          </a:p>
          <a:p>
            <a:pPr marL="0" indent="0" algn="just">
              <a:lnSpc>
                <a:spcPct val="150000"/>
              </a:lnSpc>
              <a:buNone/>
            </a:pPr>
            <a:r>
              <a:rPr lang="en-US" sz="2200" b="1" dirty="0">
                <a:latin typeface="Bookman Old Style" pitchFamily="18" charset="0"/>
                <a:cs typeface="Times New Roman" panose="02020603050405020304" pitchFamily="18" charset="0"/>
              </a:rPr>
              <a:t>B. 12 years	</a:t>
            </a:r>
          </a:p>
          <a:p>
            <a:pPr marL="0" indent="0" algn="just">
              <a:lnSpc>
                <a:spcPct val="150000"/>
              </a:lnSpc>
              <a:buNone/>
            </a:pPr>
            <a:r>
              <a:rPr lang="en-US" sz="2200" b="1" dirty="0">
                <a:latin typeface="Bookman Old Style" pitchFamily="18" charset="0"/>
                <a:cs typeface="Times New Roman" panose="02020603050405020304" pitchFamily="18" charset="0"/>
              </a:rPr>
              <a:t>C. 10 years	</a:t>
            </a:r>
          </a:p>
          <a:p>
            <a:pPr marL="0" indent="0" algn="just">
              <a:lnSpc>
                <a:spcPct val="150000"/>
              </a:lnSpc>
              <a:buNone/>
            </a:pPr>
            <a:r>
              <a:rPr lang="en-US" sz="2200" b="1" dirty="0">
                <a:latin typeface="Bookman Old Style" pitchFamily="18" charset="0"/>
                <a:cs typeface="Times New Roman" panose="02020603050405020304" pitchFamily="18" charset="0"/>
              </a:rPr>
              <a:t>D. 16 years</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B7E7B198-E1DA-68B3-5526-1C5A33A84D6D}"/>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590379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A0217-0F4A-CDEF-3CF3-C3A18D9769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000AE3-102F-7134-C92B-F5931E4E5ED2}"/>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12. </a:t>
            </a:r>
            <a:r>
              <a:rPr lang="en-US" sz="2200" b="1" dirty="0">
                <a:latin typeface="Bookman Old Style" pitchFamily="18" charset="0"/>
                <a:cs typeface="Times New Roman" panose="02020603050405020304" pitchFamily="18" charset="0"/>
              </a:rPr>
              <a:t>The sum of ages of a father and a son is 90 years. 15 years ago, father’s age was thrice the son’s age. Find their present ages.</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FE384D8D-76E8-3128-3C20-7AC040D580B5}"/>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12562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5E161-D92B-C764-4762-84D9E60259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DCCDB8-91C7-8388-B803-B73416387E33}"/>
              </a:ext>
            </a:extLst>
          </p:cNvPr>
          <p:cNvSpPr>
            <a:spLocks noGrp="1"/>
          </p:cNvSpPr>
          <p:nvPr>
            <p:ph idx="1"/>
          </p:nvPr>
        </p:nvSpPr>
        <p:spPr>
          <a:xfrm>
            <a:off x="441506" y="255382"/>
            <a:ext cx="9714866" cy="5078618"/>
          </a:xfrm>
        </p:spPr>
        <p:txBody>
          <a:bodyPr>
            <a:noAutofit/>
          </a:bodyPr>
          <a:lstStyle/>
          <a:p>
            <a:pPr marL="0" indent="0" algn="just">
              <a:lnSpc>
                <a:spcPct val="150000"/>
              </a:lnSpc>
              <a:buNone/>
            </a:pPr>
            <a:r>
              <a:rPr lang="en-IN" sz="2200" b="1" dirty="0">
                <a:latin typeface="Bookman Old Style" pitchFamily="18" charset="0"/>
                <a:cs typeface="Times New Roman" panose="02020603050405020304" pitchFamily="18" charset="0"/>
              </a:rPr>
              <a:t>13. </a:t>
            </a:r>
            <a:r>
              <a:rPr lang="en-US" sz="2200" b="1" dirty="0">
                <a:latin typeface="Bookman Old Style" pitchFamily="18" charset="0"/>
                <a:cs typeface="Times New Roman" panose="02020603050405020304" pitchFamily="18" charset="0"/>
              </a:rPr>
              <a:t>The present ages of three brothers are in the proportion 12:14:17. The difference between the ages of the elder and the eldest is 6 years. What will be the proportion of their ages after four years?</a:t>
            </a:r>
          </a:p>
          <a:p>
            <a:pPr marL="0" indent="0" algn="just">
              <a:lnSpc>
                <a:spcPct val="150000"/>
              </a:lnSpc>
              <a:buNone/>
            </a:pPr>
            <a:r>
              <a:rPr lang="en-US" sz="2200" b="1" dirty="0">
                <a:latin typeface="Bookman Old Style" pitchFamily="18" charset="0"/>
                <a:cs typeface="Times New Roman" panose="02020603050405020304" pitchFamily="18" charset="0"/>
              </a:rPr>
              <a:t>A. 14:16:19</a:t>
            </a:r>
          </a:p>
          <a:p>
            <a:pPr marL="0" indent="0" algn="just">
              <a:lnSpc>
                <a:spcPct val="150000"/>
              </a:lnSpc>
              <a:buNone/>
            </a:pPr>
            <a:r>
              <a:rPr lang="en-US" sz="2200" b="1" dirty="0">
                <a:latin typeface="Bookman Old Style" pitchFamily="18" charset="0"/>
                <a:cs typeface="Times New Roman" panose="02020603050405020304" pitchFamily="18" charset="0"/>
              </a:rPr>
              <a:t>B. 40:46:55</a:t>
            </a:r>
          </a:p>
          <a:p>
            <a:pPr marL="0" indent="0" algn="just">
              <a:lnSpc>
                <a:spcPct val="150000"/>
              </a:lnSpc>
              <a:buNone/>
            </a:pPr>
            <a:r>
              <a:rPr lang="en-US" sz="2200" b="1" dirty="0">
                <a:latin typeface="Bookman Old Style" pitchFamily="18" charset="0"/>
                <a:cs typeface="Times New Roman" panose="02020603050405020304" pitchFamily="18" charset="0"/>
              </a:rPr>
              <a:t>C. 16:18:21</a:t>
            </a:r>
          </a:p>
          <a:p>
            <a:pPr marL="0" indent="0" algn="just">
              <a:lnSpc>
                <a:spcPct val="150000"/>
              </a:lnSpc>
              <a:buNone/>
            </a:pPr>
            <a:r>
              <a:rPr lang="en-US" sz="2200" b="1" dirty="0">
                <a:latin typeface="Bookman Old Style" pitchFamily="18" charset="0"/>
                <a:cs typeface="Times New Roman" panose="02020603050405020304" pitchFamily="18" charset="0"/>
              </a:rPr>
              <a:t>D. 13:15:18</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7DC04184-827A-B247-0E99-E248D59E2812}"/>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278519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096E2-4899-3268-3D29-844C8FF176B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0DA737-C108-0B3E-6A5B-8EEF5F4E45F0}"/>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14. Three years from now David’s age will be eight years less than twice Sundar’s age . The sum of their present ages is 61 years. What is David’s present age</a:t>
            </a:r>
          </a:p>
          <a:p>
            <a:pPr marL="0" indent="0" algn="just">
              <a:lnSpc>
                <a:spcPct val="150000"/>
              </a:lnSpc>
              <a:buNone/>
            </a:pPr>
            <a:r>
              <a:rPr lang="en-IN" sz="2200" b="1" dirty="0">
                <a:latin typeface="Bookman Old Style" pitchFamily="18" charset="0"/>
                <a:cs typeface="Times New Roman" panose="02020603050405020304" pitchFamily="18" charset="0"/>
              </a:rPr>
              <a:t>   a. 43                </a:t>
            </a:r>
          </a:p>
          <a:p>
            <a:pPr marL="0" indent="0" algn="just">
              <a:lnSpc>
                <a:spcPct val="150000"/>
              </a:lnSpc>
              <a:buNone/>
            </a:pPr>
            <a:r>
              <a:rPr lang="en-IN" sz="2200" b="1" dirty="0">
                <a:latin typeface="Bookman Old Style" pitchFamily="18" charset="0"/>
                <a:cs typeface="Times New Roman" panose="02020603050405020304" pitchFamily="18" charset="0"/>
              </a:rPr>
              <a:t>  b. 36          </a:t>
            </a:r>
          </a:p>
          <a:p>
            <a:pPr marL="0" indent="0" algn="just">
              <a:lnSpc>
                <a:spcPct val="150000"/>
              </a:lnSpc>
              <a:buNone/>
            </a:pPr>
            <a:r>
              <a:rPr lang="en-IN" sz="2200" b="1" dirty="0">
                <a:latin typeface="Bookman Old Style" pitchFamily="18" charset="0"/>
                <a:cs typeface="Times New Roman" panose="02020603050405020304" pitchFamily="18" charset="0"/>
              </a:rPr>
              <a:t>  c. 41        </a:t>
            </a:r>
          </a:p>
          <a:p>
            <a:pPr marL="0" indent="0" algn="just">
              <a:lnSpc>
                <a:spcPct val="150000"/>
              </a:lnSpc>
              <a:buNone/>
            </a:pPr>
            <a:r>
              <a:rPr lang="en-IN" sz="2200" b="1" dirty="0">
                <a:latin typeface="Bookman Old Style" pitchFamily="18" charset="0"/>
                <a:cs typeface="Times New Roman" panose="02020603050405020304" pitchFamily="18" charset="0"/>
              </a:rPr>
              <a:t>   d. 39</a:t>
            </a:r>
          </a:p>
          <a:p>
            <a:pPr marL="0" indent="0" algn="just">
              <a:lnSpc>
                <a:spcPct val="150000"/>
              </a:lnSpc>
              <a:buNone/>
            </a:pP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3523423-4197-523D-27B9-44703F966658}"/>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236517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1CB20316-8E6F-4A0C-309F-DC56D61F65C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Content Placeholder 4">
            <a:extLst>
              <a:ext uri="{FF2B5EF4-FFF2-40B4-BE49-F238E27FC236}">
                <a16:creationId xmlns:a16="http://schemas.microsoft.com/office/drawing/2014/main" id="{B85D3678-82EE-54B8-6920-CFFC6D22BCD8}"/>
              </a:ext>
            </a:extLst>
          </p:cNvPr>
          <p:cNvSpPr>
            <a:spLocks noGrp="1"/>
          </p:cNvSpPr>
          <p:nvPr>
            <p:ph idx="1"/>
          </p:nvPr>
        </p:nvSpPr>
        <p:spPr>
          <a:xfrm>
            <a:off x="4125081" y="2498836"/>
            <a:ext cx="3658205" cy="614479"/>
          </a:xfrm>
        </p:spPr>
        <p:txBody>
          <a:bodyPr>
            <a:noAutofit/>
          </a:bodyPr>
          <a:lstStyle/>
          <a:p>
            <a:pPr marL="0" indent="0" algn="ctr">
              <a:buNone/>
            </a:pPr>
            <a:r>
              <a:rPr lang="en-US" sz="3400" b="1" dirty="0">
                <a:effectLst/>
              </a:rPr>
              <a:t>THE END</a:t>
            </a:r>
            <a:endParaRPr lang="en-IN" sz="3400" b="1" dirty="0">
              <a:effectLst/>
            </a:endParaRPr>
          </a:p>
        </p:txBody>
      </p:sp>
    </p:spTree>
    <p:extLst>
      <p:ext uri="{BB962C8B-B14F-4D97-AF65-F5344CB8AC3E}">
        <p14:creationId xmlns:p14="http://schemas.microsoft.com/office/powerpoint/2010/main" val="2121323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1834</TotalTime>
  <Words>729</Words>
  <Application>Microsoft Office PowerPoint</Application>
  <PresentationFormat>Widescreen</PresentationFormat>
  <Paragraphs>73</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Bookman Old Style</vt:lpstr>
      <vt:lpstr>Calibri</vt:lpstr>
      <vt:lpstr>Rockwell</vt:lpstr>
      <vt:lpstr>Damask</vt:lpstr>
      <vt:lpstr>Problems on 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119</cp:revision>
  <dcterms:created xsi:type="dcterms:W3CDTF">2022-11-22T09:07:37Z</dcterms:created>
  <dcterms:modified xsi:type="dcterms:W3CDTF">2026-05-18T13:25:52Z</dcterms:modified>
</cp:coreProperties>
</file>