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notesMasterIdLst>
    <p:notesMasterId r:id="rId14"/>
  </p:notesMasterIdLst>
  <p:sldIdLst>
    <p:sldId id="256" r:id="rId2"/>
    <p:sldId id="299" r:id="rId3"/>
    <p:sldId id="257" r:id="rId4"/>
    <p:sldId id="300" r:id="rId5"/>
    <p:sldId id="301" r:id="rId6"/>
    <p:sldId id="302" r:id="rId7"/>
    <p:sldId id="303" r:id="rId8"/>
    <p:sldId id="304" r:id="rId9"/>
    <p:sldId id="305" r:id="rId10"/>
    <p:sldId id="307" r:id="rId11"/>
    <p:sldId id="308" r:id="rId12"/>
    <p:sldId id="28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40212-6B6A-4846-BD94-4FCC0F85ABBE}" type="datetimeFigureOut">
              <a:rPr lang="en-IN" smtClean="0"/>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173711-F11C-4D9B-A169-56E1924FADED}" type="slidenum">
              <a:rPr lang="en-IN" smtClean="0"/>
              <a:t>‹#›</a:t>
            </a:fld>
            <a:endParaRPr lang="en-IN"/>
          </a:p>
        </p:txBody>
      </p:sp>
    </p:spTree>
    <p:extLst>
      <p:ext uri="{BB962C8B-B14F-4D97-AF65-F5344CB8AC3E}">
        <p14:creationId xmlns:p14="http://schemas.microsoft.com/office/powerpoint/2010/main" val="2399275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173711-F11C-4D9B-A169-56E1924FADED}" type="slidenum">
              <a:rPr lang="en-IN" smtClean="0"/>
              <a:t>3</a:t>
            </a:fld>
            <a:endParaRPr lang="en-IN"/>
          </a:p>
        </p:txBody>
      </p:sp>
    </p:spTree>
    <p:extLst>
      <p:ext uri="{BB962C8B-B14F-4D97-AF65-F5344CB8AC3E}">
        <p14:creationId xmlns:p14="http://schemas.microsoft.com/office/powerpoint/2010/main" val="3275718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A8858-1B62-28E8-E733-ED0007E48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2F0D8-97F7-C15E-0D8F-1ECB5E87A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0DB83-D175-13F2-C170-36125A0FC0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A43173-D958-4409-BE1A-3194918F0141}"/>
              </a:ext>
            </a:extLst>
          </p:cNvPr>
          <p:cNvSpPr>
            <a:spLocks noGrp="1"/>
          </p:cNvSpPr>
          <p:nvPr>
            <p:ph type="sldNum" sz="quarter" idx="5"/>
          </p:nvPr>
        </p:nvSpPr>
        <p:spPr/>
        <p:txBody>
          <a:bodyPr/>
          <a:lstStyle/>
          <a:p>
            <a:fld id="{33173711-F11C-4D9B-A169-56E1924FADED}" type="slidenum">
              <a:rPr lang="en-IN" smtClean="0"/>
              <a:t>4</a:t>
            </a:fld>
            <a:endParaRPr lang="en-IN"/>
          </a:p>
        </p:txBody>
      </p:sp>
    </p:spTree>
    <p:extLst>
      <p:ext uri="{BB962C8B-B14F-4D97-AF65-F5344CB8AC3E}">
        <p14:creationId xmlns:p14="http://schemas.microsoft.com/office/powerpoint/2010/main" val="3739376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F0B1-70A0-DBC1-9D2E-C1787AA41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4F961-DF71-8551-0126-E801276B2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A7754-1029-39A2-D2F5-88B5D77B59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9140F5-088E-6A3A-8141-483D99BFC7BF}"/>
              </a:ext>
            </a:extLst>
          </p:cNvPr>
          <p:cNvSpPr>
            <a:spLocks noGrp="1"/>
          </p:cNvSpPr>
          <p:nvPr>
            <p:ph type="sldNum" sz="quarter" idx="5"/>
          </p:nvPr>
        </p:nvSpPr>
        <p:spPr/>
        <p:txBody>
          <a:bodyPr/>
          <a:lstStyle/>
          <a:p>
            <a:fld id="{33173711-F11C-4D9B-A169-56E1924FADED}" type="slidenum">
              <a:rPr lang="en-IN" smtClean="0"/>
              <a:t>5</a:t>
            </a:fld>
            <a:endParaRPr lang="en-IN"/>
          </a:p>
        </p:txBody>
      </p:sp>
    </p:spTree>
    <p:extLst>
      <p:ext uri="{BB962C8B-B14F-4D97-AF65-F5344CB8AC3E}">
        <p14:creationId xmlns:p14="http://schemas.microsoft.com/office/powerpoint/2010/main" val="2667748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46FE5-89F5-2FF9-56BF-CEE2C880B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32B4F-D7B6-3B7A-24BC-24B64FD8C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F6B7EA-B83F-3B06-A97F-2F9B79F9C5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91F21C2-2062-F865-FB8D-3A457B743738}"/>
              </a:ext>
            </a:extLst>
          </p:cNvPr>
          <p:cNvSpPr>
            <a:spLocks noGrp="1"/>
          </p:cNvSpPr>
          <p:nvPr>
            <p:ph type="sldNum" sz="quarter" idx="5"/>
          </p:nvPr>
        </p:nvSpPr>
        <p:spPr/>
        <p:txBody>
          <a:bodyPr/>
          <a:lstStyle/>
          <a:p>
            <a:fld id="{33173711-F11C-4D9B-A169-56E1924FADED}" type="slidenum">
              <a:rPr lang="en-IN" smtClean="0"/>
              <a:t>6</a:t>
            </a:fld>
            <a:endParaRPr lang="en-IN"/>
          </a:p>
        </p:txBody>
      </p:sp>
    </p:spTree>
    <p:extLst>
      <p:ext uri="{BB962C8B-B14F-4D97-AF65-F5344CB8AC3E}">
        <p14:creationId xmlns:p14="http://schemas.microsoft.com/office/powerpoint/2010/main" val="280891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06EF8-1AA8-2EB4-683B-EAB3092CB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CA18F-A99C-D192-E36C-69507604E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C9FA1-DAFE-4A65-A65A-50F21FB75D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308D4A-8A22-06B3-5576-C1FB421E1F4C}"/>
              </a:ext>
            </a:extLst>
          </p:cNvPr>
          <p:cNvSpPr>
            <a:spLocks noGrp="1"/>
          </p:cNvSpPr>
          <p:nvPr>
            <p:ph type="sldNum" sz="quarter" idx="5"/>
          </p:nvPr>
        </p:nvSpPr>
        <p:spPr/>
        <p:txBody>
          <a:bodyPr/>
          <a:lstStyle/>
          <a:p>
            <a:fld id="{33173711-F11C-4D9B-A169-56E1924FADED}" type="slidenum">
              <a:rPr lang="en-IN" smtClean="0"/>
              <a:t>7</a:t>
            </a:fld>
            <a:endParaRPr lang="en-IN"/>
          </a:p>
        </p:txBody>
      </p:sp>
    </p:spTree>
    <p:extLst>
      <p:ext uri="{BB962C8B-B14F-4D97-AF65-F5344CB8AC3E}">
        <p14:creationId xmlns:p14="http://schemas.microsoft.com/office/powerpoint/2010/main" val="989759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09CBC-127C-67BD-3A33-6AD5E3FB6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773F9-3911-CD9E-B203-8A25FB233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99BAA-C539-21DC-F405-B74556B352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FB3A69-D46E-0332-C540-5B8D6EE3E6B7}"/>
              </a:ext>
            </a:extLst>
          </p:cNvPr>
          <p:cNvSpPr>
            <a:spLocks noGrp="1"/>
          </p:cNvSpPr>
          <p:nvPr>
            <p:ph type="sldNum" sz="quarter" idx="5"/>
          </p:nvPr>
        </p:nvSpPr>
        <p:spPr/>
        <p:txBody>
          <a:bodyPr/>
          <a:lstStyle/>
          <a:p>
            <a:fld id="{33173711-F11C-4D9B-A169-56E1924FADED}" type="slidenum">
              <a:rPr lang="en-IN" smtClean="0"/>
              <a:t>8</a:t>
            </a:fld>
            <a:endParaRPr lang="en-IN"/>
          </a:p>
        </p:txBody>
      </p:sp>
    </p:spTree>
    <p:extLst>
      <p:ext uri="{BB962C8B-B14F-4D97-AF65-F5344CB8AC3E}">
        <p14:creationId xmlns:p14="http://schemas.microsoft.com/office/powerpoint/2010/main" val="3027017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BF4DF-6BAC-8813-FDF4-CA49634E2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AF00D-83B0-79B5-52C3-0D66926A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6CBB4-7796-CD4B-3A9E-0CC07C14F4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BFAE128-6ADD-6FD0-7BCB-07ED48517FDD}"/>
              </a:ext>
            </a:extLst>
          </p:cNvPr>
          <p:cNvSpPr>
            <a:spLocks noGrp="1"/>
          </p:cNvSpPr>
          <p:nvPr>
            <p:ph type="sldNum" sz="quarter" idx="5"/>
          </p:nvPr>
        </p:nvSpPr>
        <p:spPr/>
        <p:txBody>
          <a:bodyPr/>
          <a:lstStyle/>
          <a:p>
            <a:fld id="{33173711-F11C-4D9B-A169-56E1924FADED}" type="slidenum">
              <a:rPr lang="en-IN" smtClean="0"/>
              <a:t>9</a:t>
            </a:fld>
            <a:endParaRPr lang="en-IN"/>
          </a:p>
        </p:txBody>
      </p:sp>
    </p:spTree>
    <p:extLst>
      <p:ext uri="{BB962C8B-B14F-4D97-AF65-F5344CB8AC3E}">
        <p14:creationId xmlns:p14="http://schemas.microsoft.com/office/powerpoint/2010/main" val="1976037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0FAC-91B7-A006-796C-E4AFBEAE9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EC9C5-4A3F-DAEB-37AF-53092866C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1631F-17BD-F211-6C3C-7691656DED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06E972B-1B6E-3EEF-A715-CED7F42159BE}"/>
              </a:ext>
            </a:extLst>
          </p:cNvPr>
          <p:cNvSpPr>
            <a:spLocks noGrp="1"/>
          </p:cNvSpPr>
          <p:nvPr>
            <p:ph type="sldNum" sz="quarter" idx="5"/>
          </p:nvPr>
        </p:nvSpPr>
        <p:spPr/>
        <p:txBody>
          <a:bodyPr/>
          <a:lstStyle/>
          <a:p>
            <a:fld id="{33173711-F11C-4D9B-A169-56E1924FADED}" type="slidenum">
              <a:rPr lang="en-IN" smtClean="0"/>
              <a:t>10</a:t>
            </a:fld>
            <a:endParaRPr lang="en-IN"/>
          </a:p>
        </p:txBody>
      </p:sp>
    </p:spTree>
    <p:extLst>
      <p:ext uri="{BB962C8B-B14F-4D97-AF65-F5344CB8AC3E}">
        <p14:creationId xmlns:p14="http://schemas.microsoft.com/office/powerpoint/2010/main" val="28193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5C59-EFC3-CA18-D460-2609DE61A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DEB20-0DCB-7E03-216A-0D32D38ED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0873DF-129D-E0C8-C564-629415DFD4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3FE7C8-AA8F-6D59-14A9-3215CB61C020}"/>
              </a:ext>
            </a:extLst>
          </p:cNvPr>
          <p:cNvSpPr>
            <a:spLocks noGrp="1"/>
          </p:cNvSpPr>
          <p:nvPr>
            <p:ph type="sldNum" sz="quarter" idx="5"/>
          </p:nvPr>
        </p:nvSpPr>
        <p:spPr/>
        <p:txBody>
          <a:bodyPr/>
          <a:lstStyle/>
          <a:p>
            <a:fld id="{33173711-F11C-4D9B-A169-56E1924FADED}" type="slidenum">
              <a:rPr lang="en-IN" smtClean="0"/>
              <a:t>11</a:t>
            </a:fld>
            <a:endParaRPr lang="en-IN"/>
          </a:p>
        </p:txBody>
      </p:sp>
    </p:spTree>
    <p:extLst>
      <p:ext uri="{BB962C8B-B14F-4D97-AF65-F5344CB8AC3E}">
        <p14:creationId xmlns:p14="http://schemas.microsoft.com/office/powerpoint/2010/main" val="3221258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5/22/2026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Pipes and Cistern</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30C1-3F2D-2462-87F4-47607EA5D9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597B1F-C001-A0C1-8565-FD41ACB9FD51}"/>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417BD1FC-8128-DD76-0D16-3F5BFA517EA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435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 </a:t>
            </a:r>
            <a:r>
              <a:rPr lang="en-US" sz="2300" b="1" dirty="0">
                <a:effectLst/>
                <a:latin typeface="Bookman Old Style" pitchFamily="18" charset="0"/>
                <a:cs typeface="Times New Roman" panose="02020603050405020304" pitchFamily="18" charset="0"/>
              </a:rPr>
              <a:t>Pipe A fills in 10 min and pipe B fills in 15 min. If both the pipes are opened for 5 min and A closed. How much long will it take to fill the tank</a:t>
            </a:r>
          </a:p>
          <a:p>
            <a:pPr marL="0" indent="0" algn="just">
              <a:lnSpc>
                <a:spcPct val="150000"/>
              </a:lnSpc>
              <a:buNone/>
            </a:pPr>
            <a:r>
              <a:rPr lang="en-US" sz="2300" b="1" dirty="0">
                <a:effectLst/>
                <a:latin typeface="Bookman Old Style" pitchFamily="18" charset="0"/>
                <a:cs typeface="Times New Roman" panose="02020603050405020304" pitchFamily="18" charset="0"/>
              </a:rPr>
              <a:t>A. 150 sec</a:t>
            </a:r>
          </a:p>
          <a:p>
            <a:pPr marL="0" indent="0" algn="just">
              <a:lnSpc>
                <a:spcPct val="150000"/>
              </a:lnSpc>
              <a:buNone/>
            </a:pPr>
            <a:r>
              <a:rPr lang="en-US" sz="2300" b="1" dirty="0">
                <a:effectLst/>
                <a:latin typeface="Bookman Old Style" pitchFamily="18" charset="0"/>
                <a:cs typeface="Times New Roman" panose="02020603050405020304" pitchFamily="18" charset="0"/>
              </a:rPr>
              <a:t>B. 300 sec</a:t>
            </a:r>
          </a:p>
          <a:p>
            <a:pPr marL="0" indent="0" algn="just">
              <a:lnSpc>
                <a:spcPct val="150000"/>
              </a:lnSpc>
              <a:buNone/>
            </a:pPr>
            <a:r>
              <a:rPr lang="en-US" sz="2300" b="1" dirty="0">
                <a:effectLst/>
                <a:latin typeface="Bookman Old Style" pitchFamily="18" charset="0"/>
                <a:cs typeface="Times New Roman" panose="02020603050405020304" pitchFamily="18" charset="0"/>
              </a:rPr>
              <a:t>C. 450 sec</a:t>
            </a:r>
          </a:p>
          <a:p>
            <a:pPr marL="0" indent="0" algn="just">
              <a:lnSpc>
                <a:spcPct val="150000"/>
              </a:lnSpc>
              <a:buNone/>
            </a:pPr>
            <a:r>
              <a:rPr lang="en-US" sz="2300" b="1" dirty="0">
                <a:effectLst/>
                <a:latin typeface="Bookman Old Style" pitchFamily="18" charset="0"/>
                <a:cs typeface="Times New Roman" panose="02020603050405020304" pitchFamily="18" charset="0"/>
              </a:rPr>
              <a:t>D. 100 sec</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D5BC7-C390-BBF0-14A8-9C57C998E4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247E6-3ACF-3E13-E68A-1BE9BE003CEA}"/>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 </a:t>
            </a:r>
            <a:r>
              <a:rPr lang="en-US" sz="2300" b="1" dirty="0">
                <a:effectLst/>
                <a:latin typeface="Bookman Old Style" pitchFamily="18" charset="0"/>
                <a:cs typeface="Times New Roman" panose="02020603050405020304" pitchFamily="18" charset="0"/>
              </a:rPr>
              <a:t>A cistern is fitted with three taps, namely P, Q and R. P and Q can fill a cistern in 10 and 15 minutes respectively whereas R (emptying tap fitted at the bottom of the cistern) can empty it in 12 minutes. If all the three pipes are kept open, in how much time will the cistern be filled?</a:t>
            </a:r>
          </a:p>
          <a:p>
            <a:pPr marL="0" indent="0" algn="just">
              <a:lnSpc>
                <a:spcPct val="150000"/>
              </a:lnSpc>
              <a:buNone/>
            </a:pPr>
            <a:r>
              <a:rPr lang="en-US" sz="2300" b="1" dirty="0">
                <a:effectLst/>
                <a:latin typeface="Bookman Old Style" pitchFamily="18" charset="0"/>
                <a:cs typeface="Times New Roman" panose="02020603050405020304" pitchFamily="18" charset="0"/>
              </a:rPr>
              <a:t>A. 15 min</a:t>
            </a:r>
          </a:p>
          <a:p>
            <a:pPr marL="0" indent="0" algn="just">
              <a:lnSpc>
                <a:spcPct val="150000"/>
              </a:lnSpc>
              <a:buNone/>
            </a:pPr>
            <a:r>
              <a:rPr lang="en-US" sz="2300" b="1" dirty="0">
                <a:effectLst/>
                <a:latin typeface="Bookman Old Style" pitchFamily="18" charset="0"/>
                <a:cs typeface="Times New Roman" panose="02020603050405020304" pitchFamily="18" charset="0"/>
              </a:rPr>
              <a:t>B. 12 min</a:t>
            </a:r>
          </a:p>
          <a:p>
            <a:pPr marL="0" indent="0" algn="just">
              <a:lnSpc>
                <a:spcPct val="150000"/>
              </a:lnSpc>
              <a:buNone/>
            </a:pPr>
            <a:r>
              <a:rPr lang="en-US" sz="2300" b="1" dirty="0">
                <a:effectLst/>
                <a:latin typeface="Bookman Old Style" pitchFamily="18" charset="0"/>
                <a:cs typeface="Times New Roman" panose="02020603050405020304" pitchFamily="18" charset="0"/>
              </a:rPr>
              <a:t>C. 18 min</a:t>
            </a:r>
          </a:p>
          <a:p>
            <a:pPr marL="0" indent="0" algn="just">
              <a:lnSpc>
                <a:spcPct val="150000"/>
              </a:lnSpc>
              <a:buNone/>
            </a:pPr>
            <a:r>
              <a:rPr lang="en-US" sz="2300" b="1" dirty="0">
                <a:effectLst/>
                <a:latin typeface="Bookman Old Style" pitchFamily="18" charset="0"/>
                <a:cs typeface="Times New Roman" panose="02020603050405020304" pitchFamily="18" charset="0"/>
              </a:rPr>
              <a:t>D. 10 min</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CB5C15E-3844-D0B5-37A0-09F337C79035}"/>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9654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4F20-D389-3A55-E20A-F71DE86597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0C7405-B75F-3805-BF91-3A3772CD3241}"/>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 </a:t>
            </a:r>
            <a:r>
              <a:rPr lang="en-US" sz="2300" b="1" dirty="0">
                <a:effectLst/>
                <a:latin typeface="Bookman Old Style" pitchFamily="18" charset="0"/>
                <a:cs typeface="Times New Roman" panose="02020603050405020304" pitchFamily="18" charset="0"/>
              </a:rPr>
              <a:t>Pipe A can fill a cistern in 56 minutes, while pipe B can empty it in 70 minutes. Both pipes were opened simultaneously. At the end of 10 minutes, B was closed. Find the time taken by A to fill the remaining part of the cistern.</a:t>
            </a:r>
          </a:p>
          <a:p>
            <a:pPr marL="0" indent="0" algn="just">
              <a:lnSpc>
                <a:spcPct val="150000"/>
              </a:lnSpc>
              <a:buNone/>
            </a:pPr>
            <a:r>
              <a:rPr lang="en-US" sz="2300" b="1" dirty="0">
                <a:effectLst/>
                <a:latin typeface="Bookman Old Style" pitchFamily="18" charset="0"/>
                <a:cs typeface="Times New Roman" panose="02020603050405020304" pitchFamily="18" charset="0"/>
              </a:rPr>
              <a:t>a) 54 minutes</a:t>
            </a:r>
          </a:p>
          <a:p>
            <a:pPr marL="0" indent="0" algn="just">
              <a:lnSpc>
                <a:spcPct val="150000"/>
              </a:lnSpc>
              <a:buNone/>
            </a:pPr>
            <a:r>
              <a:rPr lang="en-US" sz="2300" b="1" dirty="0">
                <a:effectLst/>
                <a:latin typeface="Bookman Old Style" pitchFamily="18" charset="0"/>
                <a:cs typeface="Times New Roman" panose="02020603050405020304" pitchFamily="18" charset="0"/>
              </a:rPr>
              <a:t>b) 53 minutes</a:t>
            </a:r>
          </a:p>
          <a:p>
            <a:pPr marL="0" indent="0" algn="just">
              <a:lnSpc>
                <a:spcPct val="150000"/>
              </a:lnSpc>
              <a:buNone/>
            </a:pPr>
            <a:r>
              <a:rPr lang="en-US" sz="2300" b="1" dirty="0">
                <a:effectLst/>
                <a:latin typeface="Bookman Old Style" pitchFamily="18" charset="0"/>
                <a:cs typeface="Times New Roman" panose="02020603050405020304" pitchFamily="18" charset="0"/>
              </a:rPr>
              <a:t>c) 51 minutes</a:t>
            </a:r>
          </a:p>
          <a:p>
            <a:pPr marL="0" indent="0" algn="just">
              <a:lnSpc>
                <a:spcPct val="150000"/>
              </a:lnSpc>
              <a:buNone/>
            </a:pPr>
            <a:r>
              <a:rPr lang="en-US" sz="2300" b="1" dirty="0">
                <a:effectLst/>
                <a:latin typeface="Bookman Old Style" pitchFamily="18" charset="0"/>
                <a:cs typeface="Times New Roman" panose="02020603050405020304" pitchFamily="18" charset="0"/>
              </a:rPr>
              <a:t>d) 48 minutes</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2189C9F-F60F-7D6D-FE4C-29B37E90DA65}"/>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34029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4F27B-AF10-7A76-D17E-4BEE7080A5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A96C89-C533-6F9A-045F-75B5A7F21A9A}"/>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4. </a:t>
            </a:r>
            <a:r>
              <a:rPr lang="en-US" sz="2300" b="1" dirty="0">
                <a:effectLst/>
                <a:latin typeface="Bookman Old Style" pitchFamily="18" charset="0"/>
                <a:cs typeface="Times New Roman" panose="02020603050405020304" pitchFamily="18" charset="0"/>
              </a:rPr>
              <a:t>Two taps A and B fill an empty tank in 40 minutes and 60 minutes respectively. If both taps are opened at 5 am, then at what time should A be closed so that the tank is filled in 36 minutes?</a:t>
            </a:r>
          </a:p>
          <a:p>
            <a:pPr marL="0" indent="0" algn="just">
              <a:lnSpc>
                <a:spcPct val="150000"/>
              </a:lnSpc>
              <a:buNone/>
            </a:pPr>
            <a:r>
              <a:rPr lang="en-US" sz="2300" b="1" dirty="0">
                <a:effectLst/>
                <a:latin typeface="Bookman Old Style" pitchFamily="18" charset="0"/>
                <a:cs typeface="Times New Roman" panose="02020603050405020304" pitchFamily="18" charset="0"/>
              </a:rPr>
              <a:t>a) 5:16 am</a:t>
            </a:r>
          </a:p>
          <a:p>
            <a:pPr marL="0" indent="0" algn="just">
              <a:lnSpc>
                <a:spcPct val="150000"/>
              </a:lnSpc>
              <a:buNone/>
            </a:pPr>
            <a:r>
              <a:rPr lang="en-US" sz="2300" b="1" dirty="0">
                <a:effectLst/>
                <a:latin typeface="Bookman Old Style" pitchFamily="18" charset="0"/>
                <a:cs typeface="Times New Roman" panose="02020603050405020304" pitchFamily="18" charset="0"/>
              </a:rPr>
              <a:t>b) 5:22 am</a:t>
            </a:r>
          </a:p>
          <a:p>
            <a:pPr marL="0" indent="0" algn="just">
              <a:lnSpc>
                <a:spcPct val="150000"/>
              </a:lnSpc>
              <a:buNone/>
            </a:pPr>
            <a:r>
              <a:rPr lang="en-US" sz="2300" b="1" dirty="0">
                <a:effectLst/>
                <a:latin typeface="Bookman Old Style" pitchFamily="18" charset="0"/>
                <a:cs typeface="Times New Roman" panose="02020603050405020304" pitchFamily="18" charset="0"/>
              </a:rPr>
              <a:t>c) 5:05 am</a:t>
            </a:r>
          </a:p>
          <a:p>
            <a:pPr marL="0" indent="0" algn="just">
              <a:lnSpc>
                <a:spcPct val="150000"/>
              </a:lnSpc>
              <a:buNone/>
            </a:pPr>
            <a:r>
              <a:rPr lang="en-US" sz="2300" b="1" dirty="0">
                <a:effectLst/>
                <a:latin typeface="Bookman Old Style" pitchFamily="18" charset="0"/>
                <a:cs typeface="Times New Roman" panose="02020603050405020304" pitchFamily="18" charset="0"/>
              </a:rPr>
              <a:t>d) 5:12 am</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009054E-C0FF-BB86-DE01-015BA4A3B32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35271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D366D-3D26-3F40-3995-BA3BE321B0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D8D78-9BFD-F644-1C88-80CEB20DAE9D}"/>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 </a:t>
            </a:r>
            <a:r>
              <a:rPr lang="en-US" sz="2300" b="1" dirty="0">
                <a:effectLst/>
                <a:latin typeface="Bookman Old Style" pitchFamily="18" charset="0"/>
                <a:cs typeface="Times New Roman" panose="02020603050405020304" pitchFamily="18" charset="0"/>
              </a:rPr>
              <a:t>Pipes A, B and C can fill a tank in 24 hours, 32 hours and 30 hours respectively. A and B are opened for 8 hours and then B is closed and C is opened (with A) immediately. What time (in hours) will it now take to fill the remaining part of the tank?</a:t>
            </a:r>
          </a:p>
          <a:p>
            <a:pPr marL="0" indent="0" algn="just">
              <a:lnSpc>
                <a:spcPct val="150000"/>
              </a:lnSpc>
              <a:buNone/>
            </a:pPr>
            <a:r>
              <a:rPr lang="en-US" sz="2300" b="1" dirty="0">
                <a:effectLst/>
                <a:latin typeface="Bookman Old Style" pitchFamily="18" charset="0"/>
                <a:cs typeface="Times New Roman" panose="02020603050405020304" pitchFamily="18" charset="0"/>
              </a:rPr>
              <a:t>a) 5 5/9 </a:t>
            </a:r>
          </a:p>
          <a:p>
            <a:pPr marL="0" indent="0" algn="just">
              <a:lnSpc>
                <a:spcPct val="150000"/>
              </a:lnSpc>
              <a:buNone/>
            </a:pPr>
            <a:r>
              <a:rPr lang="en-US" sz="2300" b="1" dirty="0">
                <a:effectLst/>
                <a:latin typeface="Bookman Old Style" pitchFamily="18" charset="0"/>
                <a:cs typeface="Times New Roman" panose="02020603050405020304" pitchFamily="18" charset="0"/>
              </a:rPr>
              <a:t>b) 13 2/3 </a:t>
            </a:r>
          </a:p>
          <a:p>
            <a:pPr marL="0" indent="0" algn="just">
              <a:lnSpc>
                <a:spcPct val="150000"/>
              </a:lnSpc>
              <a:buNone/>
            </a:pPr>
            <a:r>
              <a:rPr lang="en-US" sz="2300" b="1" dirty="0">
                <a:effectLst/>
                <a:latin typeface="Bookman Old Style" pitchFamily="18" charset="0"/>
                <a:cs typeface="Times New Roman" panose="02020603050405020304" pitchFamily="18" charset="0"/>
              </a:rPr>
              <a:t>c) 13 1/3</a:t>
            </a:r>
          </a:p>
          <a:p>
            <a:pPr marL="0" indent="0" algn="just">
              <a:lnSpc>
                <a:spcPct val="150000"/>
              </a:lnSpc>
              <a:buNone/>
            </a:pPr>
            <a:r>
              <a:rPr lang="en-US" sz="2300" b="1" dirty="0">
                <a:effectLst/>
                <a:latin typeface="Bookman Old Style" pitchFamily="18" charset="0"/>
                <a:cs typeface="Times New Roman" panose="02020603050405020304" pitchFamily="18" charset="0"/>
              </a:rPr>
              <a:t>d) 5 1/3</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AC5E670-8F40-5F6F-DBB6-16B28528A176}"/>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7809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7699A-4176-8FE0-2B46-2B13EF42EA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6A9B4-19B0-C47F-1748-E2D2F87020C5}"/>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6. </a:t>
            </a:r>
            <a:r>
              <a:rPr lang="en-US" sz="2300" b="1" dirty="0">
                <a:effectLst/>
                <a:latin typeface="Bookman Old Style" pitchFamily="18" charset="0"/>
                <a:cs typeface="Times New Roman" panose="02020603050405020304" pitchFamily="18" charset="0"/>
              </a:rPr>
              <a:t>A pipe can fill a bucket in 5 hours but due to a hole at the bottom it takes 6 hours to fill the bucket. How much time will it take to empty the bucket if it was full?</a:t>
            </a:r>
          </a:p>
          <a:p>
            <a:pPr marL="0" indent="0" algn="just">
              <a:lnSpc>
                <a:spcPct val="150000"/>
              </a:lnSpc>
              <a:buNone/>
            </a:pPr>
            <a:r>
              <a:rPr lang="en-US" sz="2300" b="1" dirty="0">
                <a:effectLst/>
                <a:latin typeface="Bookman Old Style" pitchFamily="18" charset="0"/>
                <a:cs typeface="Times New Roman" panose="02020603050405020304" pitchFamily="18" charset="0"/>
              </a:rPr>
              <a:t>A.25 hours</a:t>
            </a:r>
          </a:p>
          <a:p>
            <a:pPr marL="0" indent="0" algn="just">
              <a:lnSpc>
                <a:spcPct val="150000"/>
              </a:lnSpc>
              <a:buNone/>
            </a:pPr>
            <a:r>
              <a:rPr lang="en-US" sz="2300" b="1" dirty="0">
                <a:effectLst/>
                <a:latin typeface="Bookman Old Style" pitchFamily="18" charset="0"/>
                <a:cs typeface="Times New Roman" panose="02020603050405020304" pitchFamily="18" charset="0"/>
              </a:rPr>
              <a:t>B.30 hours</a:t>
            </a:r>
          </a:p>
          <a:p>
            <a:pPr marL="0" indent="0" algn="just">
              <a:lnSpc>
                <a:spcPct val="150000"/>
              </a:lnSpc>
              <a:buNone/>
            </a:pPr>
            <a:r>
              <a:rPr lang="en-US" sz="2300" b="1" dirty="0">
                <a:effectLst/>
                <a:latin typeface="Bookman Old Style" pitchFamily="18" charset="0"/>
                <a:cs typeface="Times New Roman" panose="02020603050405020304" pitchFamily="18" charset="0"/>
              </a:rPr>
              <a:t>C.35 hours</a:t>
            </a:r>
          </a:p>
          <a:p>
            <a:pPr marL="0" indent="0" algn="just">
              <a:lnSpc>
                <a:spcPct val="150000"/>
              </a:lnSpc>
              <a:buNone/>
            </a:pPr>
            <a:r>
              <a:rPr lang="en-US" sz="2300" b="1" dirty="0">
                <a:effectLst/>
                <a:latin typeface="Bookman Old Style" pitchFamily="18" charset="0"/>
                <a:cs typeface="Times New Roman" panose="02020603050405020304" pitchFamily="18" charset="0"/>
              </a:rPr>
              <a:t>D.40 hours</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10E8887-1290-FE7D-E11C-0F1A16CF889B}"/>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6882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CE16-91D3-4F48-764B-BD5DC1B6AF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92AE2-F462-8B1F-47D4-DB037ED6C84C}"/>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7. </a:t>
            </a:r>
            <a:r>
              <a:rPr lang="en-US" sz="2300" b="1" dirty="0">
                <a:effectLst/>
                <a:latin typeface="Bookman Old Style" pitchFamily="18" charset="0"/>
                <a:cs typeface="Times New Roman" panose="02020603050405020304" pitchFamily="18" charset="0"/>
              </a:rPr>
              <a:t>Pipes A and B can fill an empty tank in 24 hours and 30 hours respectively. Pipe C is an outlet pipe. When all the three pipes are opened together, the tank is filled in 20 hours. Pipe C alone can empty 5/8 </a:t>
            </a:r>
            <a:r>
              <a:rPr lang="en-US" sz="2300" b="1" dirty="0" err="1">
                <a:effectLst/>
                <a:latin typeface="Bookman Old Style" pitchFamily="18" charset="0"/>
                <a:cs typeface="Times New Roman" panose="02020603050405020304" pitchFamily="18" charset="0"/>
              </a:rPr>
              <a:t>th</a:t>
            </a:r>
            <a:r>
              <a:rPr lang="en-US" sz="2300" b="1" dirty="0">
                <a:effectLst/>
                <a:latin typeface="Bookman Old Style" pitchFamily="18" charset="0"/>
                <a:cs typeface="Times New Roman" panose="02020603050405020304" pitchFamily="18" charset="0"/>
              </a:rPr>
              <a:t> part of the full tank in:</a:t>
            </a:r>
          </a:p>
          <a:p>
            <a:pPr marL="0" indent="0" algn="just">
              <a:lnSpc>
                <a:spcPct val="150000"/>
              </a:lnSpc>
              <a:buNone/>
            </a:pPr>
            <a:r>
              <a:rPr lang="en-US" sz="2300" b="1" dirty="0">
                <a:effectLst/>
                <a:latin typeface="Bookman Old Style" pitchFamily="18" charset="0"/>
                <a:cs typeface="Times New Roman" panose="02020603050405020304" pitchFamily="18" charset="0"/>
              </a:rPr>
              <a:t>a) 24 hours</a:t>
            </a:r>
          </a:p>
          <a:p>
            <a:pPr marL="0" indent="0" algn="just">
              <a:lnSpc>
                <a:spcPct val="150000"/>
              </a:lnSpc>
              <a:buNone/>
            </a:pPr>
            <a:r>
              <a:rPr lang="en-US" sz="2300" b="1" dirty="0">
                <a:effectLst/>
                <a:latin typeface="Bookman Old Style" pitchFamily="18" charset="0"/>
                <a:cs typeface="Times New Roman" panose="02020603050405020304" pitchFamily="18" charset="0"/>
              </a:rPr>
              <a:t>b) 25 hours</a:t>
            </a:r>
          </a:p>
          <a:p>
            <a:pPr marL="0" indent="0" algn="just">
              <a:lnSpc>
                <a:spcPct val="150000"/>
              </a:lnSpc>
              <a:buNone/>
            </a:pPr>
            <a:r>
              <a:rPr lang="en-US" sz="2300" b="1" dirty="0">
                <a:effectLst/>
                <a:latin typeface="Bookman Old Style" pitchFamily="18" charset="0"/>
                <a:cs typeface="Times New Roman" panose="02020603050405020304" pitchFamily="18" charset="0"/>
              </a:rPr>
              <a:t>c) 30 hours</a:t>
            </a:r>
          </a:p>
          <a:p>
            <a:pPr marL="0" indent="0" algn="just">
              <a:lnSpc>
                <a:spcPct val="150000"/>
              </a:lnSpc>
              <a:buNone/>
            </a:pPr>
            <a:r>
              <a:rPr lang="en-US" sz="2300" b="1" dirty="0">
                <a:effectLst/>
                <a:latin typeface="Bookman Old Style" pitchFamily="18" charset="0"/>
                <a:cs typeface="Times New Roman" panose="02020603050405020304" pitchFamily="18" charset="0"/>
              </a:rPr>
              <a:t>d) 20 hours</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524822A-F690-808B-3410-8FB77E635B64}"/>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87589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E653-96C2-9CC8-850C-028BC77761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61C3FF-C796-B202-591E-F7FAB654EBD8}"/>
              </a:ext>
            </a:extLst>
          </p:cNvPr>
          <p:cNvSpPr>
            <a:spLocks noGrp="1"/>
          </p:cNvSpPr>
          <p:nvPr>
            <p:ph idx="1"/>
          </p:nvPr>
        </p:nvSpPr>
        <p:spPr>
          <a:xfrm>
            <a:off x="441506" y="255381"/>
            <a:ext cx="9714866" cy="536164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8. </a:t>
            </a:r>
            <a:r>
              <a:rPr lang="en-US" sz="2300" b="1" dirty="0">
                <a:effectLst/>
                <a:latin typeface="Bookman Old Style" pitchFamily="18" charset="0"/>
                <a:cs typeface="Times New Roman" panose="02020603050405020304" pitchFamily="18" charset="0"/>
              </a:rPr>
              <a:t>Two pipes can fill a small tank in 7 </a:t>
            </a:r>
            <a:r>
              <a:rPr lang="en-US" sz="2300" b="1" dirty="0" err="1">
                <a:effectLst/>
                <a:latin typeface="Bookman Old Style" pitchFamily="18" charset="0"/>
                <a:cs typeface="Times New Roman" panose="02020603050405020304" pitchFamily="18" charset="0"/>
              </a:rPr>
              <a:t>hr</a:t>
            </a:r>
            <a:r>
              <a:rPr lang="en-US" sz="2300" b="1" dirty="0">
                <a:effectLst/>
                <a:latin typeface="Bookman Old Style" pitchFamily="18" charset="0"/>
                <a:cs typeface="Times New Roman" panose="02020603050405020304" pitchFamily="18" charset="0"/>
              </a:rPr>
              <a:t> and 8 </a:t>
            </a:r>
            <a:r>
              <a:rPr lang="en-US" sz="2300" b="1" dirty="0" err="1">
                <a:effectLst/>
                <a:latin typeface="Bookman Old Style" pitchFamily="18" charset="0"/>
                <a:cs typeface="Times New Roman" panose="02020603050405020304" pitchFamily="18" charset="0"/>
              </a:rPr>
              <a:t>hr</a:t>
            </a:r>
            <a:r>
              <a:rPr lang="en-US" sz="2300" b="1" dirty="0">
                <a:effectLst/>
                <a:latin typeface="Bookman Old Style" pitchFamily="18" charset="0"/>
                <a:cs typeface="Times New Roman" panose="02020603050405020304" pitchFamily="18" charset="0"/>
              </a:rPr>
              <a:t> respectively. A leakage was found when two pipes are opened simultaneously and due to leakage, it took 16 min more to fill it up. How much time the leakage will take to empty the full tank?</a:t>
            </a:r>
          </a:p>
          <a:p>
            <a:pPr marL="0" indent="0" algn="just">
              <a:lnSpc>
                <a:spcPct val="150000"/>
              </a:lnSpc>
              <a:buNone/>
            </a:pPr>
            <a:r>
              <a:rPr lang="en-US" sz="2300" b="1" dirty="0">
                <a:effectLst/>
                <a:latin typeface="Bookman Old Style" pitchFamily="18" charset="0"/>
                <a:cs typeface="Times New Roman" panose="02020603050405020304" pitchFamily="18" charset="0"/>
              </a:rPr>
              <a:t>A.56 hour</a:t>
            </a:r>
          </a:p>
          <a:p>
            <a:pPr marL="0" indent="0" algn="just">
              <a:lnSpc>
                <a:spcPct val="150000"/>
              </a:lnSpc>
              <a:buNone/>
            </a:pPr>
            <a:r>
              <a:rPr lang="en-US" sz="2300" b="1" dirty="0">
                <a:effectLst/>
                <a:latin typeface="Bookman Old Style" pitchFamily="18" charset="0"/>
                <a:cs typeface="Times New Roman" panose="02020603050405020304" pitchFamily="18" charset="0"/>
              </a:rPr>
              <a:t>B.58 hours</a:t>
            </a:r>
          </a:p>
          <a:p>
            <a:pPr marL="0" indent="0" algn="just">
              <a:lnSpc>
                <a:spcPct val="150000"/>
              </a:lnSpc>
              <a:buNone/>
            </a:pPr>
            <a:r>
              <a:rPr lang="en-US" sz="2300" b="1" dirty="0">
                <a:effectLst/>
                <a:latin typeface="Bookman Old Style" pitchFamily="18" charset="0"/>
                <a:cs typeface="Times New Roman" panose="02020603050405020304" pitchFamily="18" charset="0"/>
              </a:rPr>
              <a:t>C.50 hours</a:t>
            </a:r>
          </a:p>
          <a:p>
            <a:pPr marL="0" indent="0" algn="just">
              <a:lnSpc>
                <a:spcPct val="150000"/>
              </a:lnSpc>
              <a:buNone/>
            </a:pPr>
            <a:r>
              <a:rPr lang="en-US" sz="2300" b="1" dirty="0">
                <a:effectLst/>
                <a:latin typeface="Bookman Old Style" pitchFamily="18" charset="0"/>
                <a:cs typeface="Times New Roman" panose="02020603050405020304" pitchFamily="18" charset="0"/>
              </a:rPr>
              <a:t>D.112 hours</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3700BBB-23A7-A616-7530-D6FAC0A9FFCA}"/>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945578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1050B-E105-8E10-4B22-2153A90E4C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4963D-7BA4-2537-85F0-E4199AA4FD32}"/>
              </a:ext>
            </a:extLst>
          </p:cNvPr>
          <p:cNvSpPr>
            <a:spLocks noGrp="1"/>
          </p:cNvSpPr>
          <p:nvPr>
            <p:ph idx="1"/>
          </p:nvPr>
        </p:nvSpPr>
        <p:spPr>
          <a:xfrm>
            <a:off x="441506" y="255381"/>
            <a:ext cx="9714866" cy="5361647"/>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9. </a:t>
            </a:r>
            <a:r>
              <a:rPr lang="en-US" sz="2300" b="1" dirty="0">
                <a:effectLst/>
                <a:latin typeface="Bookman Old Style" pitchFamily="18" charset="0"/>
                <a:cs typeface="Times New Roman" panose="02020603050405020304" pitchFamily="18" charset="0"/>
              </a:rPr>
              <a:t>Three pipes A, B and C can fill a tank from empty to full in 30 minutes, 20 minutes, and 10 minutes respectively. When the tank is empty, all the three pipes are opened. A, B and C discharge chemical solutions P,Q and R respectively. What is the proportion of the solution R in the liquid in the tank after 3 minutes?</a:t>
            </a:r>
          </a:p>
          <a:p>
            <a:pPr marL="0" indent="0" algn="just">
              <a:lnSpc>
                <a:spcPct val="150000"/>
              </a:lnSpc>
              <a:buNone/>
            </a:pPr>
            <a:r>
              <a:rPr lang="en-US" sz="2300" b="1" dirty="0">
                <a:effectLst/>
                <a:latin typeface="Bookman Old Style" pitchFamily="18" charset="0"/>
                <a:cs typeface="Times New Roman" panose="02020603050405020304" pitchFamily="18" charset="0"/>
              </a:rPr>
              <a:t>A.5/11</a:t>
            </a:r>
          </a:p>
          <a:p>
            <a:pPr marL="0" indent="0" algn="just">
              <a:lnSpc>
                <a:spcPct val="150000"/>
              </a:lnSpc>
              <a:buNone/>
            </a:pPr>
            <a:r>
              <a:rPr lang="en-US" sz="2300" b="1" dirty="0">
                <a:effectLst/>
                <a:latin typeface="Bookman Old Style" pitchFamily="18" charset="0"/>
                <a:cs typeface="Times New Roman" panose="02020603050405020304" pitchFamily="18" charset="0"/>
              </a:rPr>
              <a:t>B.7/11</a:t>
            </a:r>
          </a:p>
          <a:p>
            <a:pPr marL="0" indent="0" algn="just">
              <a:lnSpc>
                <a:spcPct val="150000"/>
              </a:lnSpc>
              <a:buNone/>
            </a:pPr>
            <a:r>
              <a:rPr lang="en-US" sz="2300" b="1" dirty="0">
                <a:effectLst/>
                <a:latin typeface="Bookman Old Style" pitchFamily="18" charset="0"/>
                <a:cs typeface="Times New Roman" panose="02020603050405020304" pitchFamily="18" charset="0"/>
              </a:rPr>
              <a:t>C.6/11</a:t>
            </a:r>
          </a:p>
          <a:p>
            <a:pPr marL="0" indent="0" algn="just">
              <a:lnSpc>
                <a:spcPct val="150000"/>
              </a:lnSpc>
              <a:buNone/>
            </a:pPr>
            <a:r>
              <a:rPr lang="en-US" sz="2300" b="1" dirty="0">
                <a:effectLst/>
                <a:latin typeface="Bookman Old Style" pitchFamily="18" charset="0"/>
                <a:cs typeface="Times New Roman" panose="02020603050405020304" pitchFamily="18" charset="0"/>
              </a:rPr>
              <a:t>D.8/11</a:t>
            </a: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F9FD4470-6938-4AF7-B0EA-2C04FD058D48}"/>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945905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1911</TotalTime>
  <Words>659</Words>
  <Application>Microsoft Office PowerPoint</Application>
  <PresentationFormat>Widescreen</PresentationFormat>
  <Paragraphs>58</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Bookman Old Style</vt:lpstr>
      <vt:lpstr>Calibri</vt:lpstr>
      <vt:lpstr>Rockwell</vt:lpstr>
      <vt:lpstr>Damask</vt:lpstr>
      <vt:lpstr>Pipes and Cistern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123</cp:revision>
  <dcterms:created xsi:type="dcterms:W3CDTF">2022-11-22T09:07:37Z</dcterms:created>
  <dcterms:modified xsi:type="dcterms:W3CDTF">2026-05-22T13:37:35Z</dcterms:modified>
</cp:coreProperties>
</file>