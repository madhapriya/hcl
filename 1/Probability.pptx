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55"/>
  </p:handoutMasterIdLst>
  <p:sldIdLst>
    <p:sldId id="256" r:id="rId2"/>
    <p:sldId id="261" r:id="rId3"/>
    <p:sldId id="279" r:id="rId4"/>
    <p:sldId id="327" r:id="rId5"/>
    <p:sldId id="280" r:id="rId6"/>
    <p:sldId id="262" r:id="rId7"/>
    <p:sldId id="263" r:id="rId8"/>
    <p:sldId id="264" r:id="rId9"/>
    <p:sldId id="265" r:id="rId10"/>
    <p:sldId id="266" r:id="rId11"/>
    <p:sldId id="278" r:id="rId12"/>
    <p:sldId id="295" r:id="rId13"/>
    <p:sldId id="267" r:id="rId14"/>
    <p:sldId id="296" r:id="rId15"/>
    <p:sldId id="268" r:id="rId16"/>
    <p:sldId id="269" r:id="rId17"/>
    <p:sldId id="270" r:id="rId18"/>
    <p:sldId id="297" r:id="rId19"/>
    <p:sldId id="271" r:id="rId20"/>
    <p:sldId id="298" r:id="rId21"/>
    <p:sldId id="281" r:id="rId22"/>
    <p:sldId id="299" r:id="rId23"/>
    <p:sldId id="300" r:id="rId24"/>
    <p:sldId id="282" r:id="rId25"/>
    <p:sldId id="301" r:id="rId26"/>
    <p:sldId id="283" r:id="rId27"/>
    <p:sldId id="302" r:id="rId28"/>
    <p:sldId id="284" r:id="rId29"/>
    <p:sldId id="285" r:id="rId30"/>
    <p:sldId id="303" r:id="rId31"/>
    <p:sldId id="304" r:id="rId32"/>
    <p:sldId id="305"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1" r:id="rId47"/>
    <p:sldId id="320" r:id="rId48"/>
    <p:sldId id="322" r:id="rId49"/>
    <p:sldId id="323" r:id="rId50"/>
    <p:sldId id="324" r:id="rId51"/>
    <p:sldId id="325" r:id="rId52"/>
    <p:sldId id="326" r:id="rId53"/>
    <p:sldId id="294"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CC2EC171-F05E-47A6-ABC1-1F79BD638B34}">
          <p14:sldIdLst/>
        </p14:section>
        <p14:section name="Untitled Section" id="{1F50A0BD-2567-48D4-9E46-32253C570001}">
          <p14:sldIdLst>
            <p14:sldId id="256"/>
            <p14:sldId id="261"/>
            <p14:sldId id="279"/>
            <p14:sldId id="327"/>
            <p14:sldId id="280"/>
            <p14:sldId id="262"/>
            <p14:sldId id="263"/>
            <p14:sldId id="264"/>
            <p14:sldId id="265"/>
            <p14:sldId id="266"/>
            <p14:sldId id="278"/>
            <p14:sldId id="295"/>
            <p14:sldId id="267"/>
            <p14:sldId id="296"/>
            <p14:sldId id="268"/>
            <p14:sldId id="269"/>
            <p14:sldId id="270"/>
            <p14:sldId id="297"/>
            <p14:sldId id="271"/>
            <p14:sldId id="298"/>
            <p14:sldId id="281"/>
            <p14:sldId id="299"/>
            <p14:sldId id="300"/>
            <p14:sldId id="282"/>
            <p14:sldId id="301"/>
            <p14:sldId id="283"/>
            <p14:sldId id="302"/>
            <p14:sldId id="284"/>
            <p14:sldId id="285"/>
            <p14:sldId id="303"/>
            <p14:sldId id="304"/>
            <p14:sldId id="305"/>
            <p14:sldId id="307"/>
            <p14:sldId id="308"/>
            <p14:sldId id="309"/>
            <p14:sldId id="310"/>
            <p14:sldId id="311"/>
            <p14:sldId id="312"/>
            <p14:sldId id="313"/>
            <p14:sldId id="314"/>
            <p14:sldId id="315"/>
            <p14:sldId id="316"/>
            <p14:sldId id="317"/>
            <p14:sldId id="318"/>
            <p14:sldId id="319"/>
            <p14:sldId id="321"/>
            <p14:sldId id="320"/>
            <p14:sldId id="322"/>
            <p14:sldId id="323"/>
            <p14:sldId id="324"/>
            <p14:sldId id="325"/>
            <p14:sldId id="326"/>
            <p14:sldId id="29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CB1918-A2FA-E2A4-AAC3-22AA69543E7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4CA42B7-7BF4-E50D-F761-872450221D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2264A7F-EBFA-4A28-8C86-269C1B3A47D8}" type="datetimeFigureOut">
              <a:rPr lang="en-US" smtClean="0"/>
              <a:t>5/28/2026</a:t>
            </a:fld>
            <a:endParaRPr lang="en-US"/>
          </a:p>
        </p:txBody>
      </p:sp>
      <p:sp>
        <p:nvSpPr>
          <p:cNvPr id="4" name="Footer Placeholder 3">
            <a:extLst>
              <a:ext uri="{FF2B5EF4-FFF2-40B4-BE49-F238E27FC236}">
                <a16:creationId xmlns:a16="http://schemas.microsoft.com/office/drawing/2014/main" id="{ECC066AF-8879-9A5C-AB09-FBE3593285C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8808739-6E37-AD31-8092-B850E165A02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F3797E-D2D8-4F37-8D3A-C68B441E233E}" type="slidenum">
              <a:rPr lang="en-US" smtClean="0"/>
              <a:t>‹#›</a:t>
            </a:fld>
            <a:endParaRPr lang="en-US"/>
          </a:p>
        </p:txBody>
      </p:sp>
    </p:spTree>
    <p:extLst>
      <p:ext uri="{BB962C8B-B14F-4D97-AF65-F5344CB8AC3E}">
        <p14:creationId xmlns:p14="http://schemas.microsoft.com/office/powerpoint/2010/main" val="329231502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3T01:03:09.292"/>
    </inkml:context>
    <inkml:brush xml:id="br0">
      <inkml:brushProperty name="width" value="0.025" units="cm"/>
      <inkml:brushProperty name="height" value="0.025" units="cm"/>
    </inkml:brush>
  </inkml:definitions>
  <inkml:trace contextRef="#ctx0" brushRef="#br0">1 59 216 0 0,'0'0'786'0'0,"3"-5"-442"0"0,9-13-57 0 0,-9 14 980 0 0,-2-1-1398 0 0,2 0 32 0 0,-2 3-25 0 0,0 1 0 0 0,-1-1-1 0 0,1 0 1 0 0,0 0-1 0 0,-1 1 1 0 0,1-1-1 0 0,-1 0 1 0 0,1 0 0 0 0,-1 1-1 0 0,0-4 1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39875C-EF72-4DA5-A52E-11D0DE8254BF}"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32B1A6-83CF-47E3-AE3D-F7A4AC848695}" type="slidenum">
              <a:rPr lang="en-US" smtClean="0"/>
              <a:t>‹#›</a:t>
            </a:fld>
            <a:endParaRPr lang="en-US"/>
          </a:p>
        </p:txBody>
      </p:sp>
    </p:spTree>
    <p:extLst>
      <p:ext uri="{BB962C8B-B14F-4D97-AF65-F5344CB8AC3E}">
        <p14:creationId xmlns:p14="http://schemas.microsoft.com/office/powerpoint/2010/main" val="7984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39875C-EF72-4DA5-A52E-11D0DE8254BF}"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32B1A6-83CF-47E3-AE3D-F7A4AC848695}" type="slidenum">
              <a:rPr lang="en-US" smtClean="0"/>
              <a:t>‹#›</a:t>
            </a:fld>
            <a:endParaRPr lang="en-US"/>
          </a:p>
        </p:txBody>
      </p:sp>
    </p:spTree>
    <p:extLst>
      <p:ext uri="{BB962C8B-B14F-4D97-AF65-F5344CB8AC3E}">
        <p14:creationId xmlns:p14="http://schemas.microsoft.com/office/powerpoint/2010/main" val="42879200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5/28/2026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07176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39875C-EF72-4DA5-A52E-11D0DE8254BF}"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32B1A6-83CF-47E3-AE3D-F7A4AC848695}" type="slidenum">
              <a:rPr lang="en-US" smtClean="0"/>
              <a:t>‹#›</a:t>
            </a:fld>
            <a:endParaRPr lang="en-US"/>
          </a:p>
        </p:txBody>
      </p:sp>
    </p:spTree>
    <p:extLst>
      <p:ext uri="{BB962C8B-B14F-4D97-AF65-F5344CB8AC3E}">
        <p14:creationId xmlns:p14="http://schemas.microsoft.com/office/powerpoint/2010/main" val="1259556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39875C-EF72-4DA5-A52E-11D0DE8254BF}" type="datetimeFigureOut">
              <a:rPr lang="en-US" smtClean="0"/>
              <a:t>5/28/2026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32B1A6-83CF-47E3-AE3D-F7A4AC848695}" type="slidenum">
              <a:rPr lang="en-US" smtClean="0"/>
              <a:t>‹#›</a:t>
            </a:fld>
            <a:endParaRPr lang="en-US"/>
          </a:p>
        </p:txBody>
      </p:sp>
    </p:spTree>
    <p:extLst>
      <p:ext uri="{BB962C8B-B14F-4D97-AF65-F5344CB8AC3E}">
        <p14:creationId xmlns:p14="http://schemas.microsoft.com/office/powerpoint/2010/main" val="497385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162930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39875C-EF72-4DA5-A52E-11D0DE8254BF}" type="datetimeFigureOut">
              <a:rPr lang="en-US" smtClean="0"/>
              <a:t>5/28/2026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32B1A6-83CF-47E3-AE3D-F7A4AC848695}" type="slidenum">
              <a:rPr lang="en-US" smtClean="0"/>
              <a:t>‹#›</a:t>
            </a:fld>
            <a:endParaRPr lang="en-US"/>
          </a:p>
        </p:txBody>
      </p:sp>
    </p:spTree>
    <p:extLst>
      <p:ext uri="{BB962C8B-B14F-4D97-AF65-F5344CB8AC3E}">
        <p14:creationId xmlns:p14="http://schemas.microsoft.com/office/powerpoint/2010/main" val="3678462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39875C-EF72-4DA5-A52E-11D0DE8254BF}"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32B1A6-83CF-47E3-AE3D-F7A4AC848695}" type="slidenum">
              <a:rPr lang="en-US" smtClean="0"/>
              <a:t>‹#›</a:t>
            </a:fld>
            <a:endParaRPr lang="en-US"/>
          </a:p>
        </p:txBody>
      </p:sp>
    </p:spTree>
    <p:extLst>
      <p:ext uri="{BB962C8B-B14F-4D97-AF65-F5344CB8AC3E}">
        <p14:creationId xmlns:p14="http://schemas.microsoft.com/office/powerpoint/2010/main" val="2481147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39875C-EF72-4DA5-A52E-11D0DE8254BF}" type="datetimeFigureOut">
              <a:rPr lang="en-US" smtClean="0"/>
              <a:t>5/28/2026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32B1A6-83CF-47E3-AE3D-F7A4AC848695}" type="slidenum">
              <a:rPr lang="en-US" smtClean="0"/>
              <a:t>‹#›</a:t>
            </a:fld>
            <a:endParaRPr lang="en-US"/>
          </a:p>
        </p:txBody>
      </p:sp>
    </p:spTree>
    <p:extLst>
      <p:ext uri="{BB962C8B-B14F-4D97-AF65-F5344CB8AC3E}">
        <p14:creationId xmlns:p14="http://schemas.microsoft.com/office/powerpoint/2010/main" val="3616248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331087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6646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221175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5/28/2026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243676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7077282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5/28/2026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0743373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39875C-EF72-4DA5-A52E-11D0DE8254BF}"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32B1A6-83CF-47E3-AE3D-F7A4AC848695}" type="slidenum">
              <a:rPr lang="en-US" smtClean="0"/>
              <a:t>‹#›</a:t>
            </a:fld>
            <a:endParaRPr lang="en-US"/>
          </a:p>
        </p:txBody>
      </p:sp>
    </p:spTree>
    <p:extLst>
      <p:ext uri="{BB962C8B-B14F-4D97-AF65-F5344CB8AC3E}">
        <p14:creationId xmlns:p14="http://schemas.microsoft.com/office/powerpoint/2010/main" val="3879616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39875C-EF72-4DA5-A52E-11D0DE8254BF}" type="datetimeFigureOut">
              <a:rPr lang="en-US" smtClean="0"/>
              <a:t>5/28/2026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32B1A6-83CF-47E3-AE3D-F7A4AC848695}" type="slidenum">
              <a:rPr lang="en-US" smtClean="0"/>
              <a:t>‹#›</a:t>
            </a:fld>
            <a:endParaRPr lang="en-US"/>
          </a:p>
        </p:txBody>
      </p:sp>
    </p:spTree>
    <p:extLst>
      <p:ext uri="{BB962C8B-B14F-4D97-AF65-F5344CB8AC3E}">
        <p14:creationId xmlns:p14="http://schemas.microsoft.com/office/powerpoint/2010/main" val="7151305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821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F22BFBB7-0DAA-F6D7-3BDC-C8C6282FB902}"/>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Tree>
    <p:extLst>
      <p:ext uri="{BB962C8B-B14F-4D97-AF65-F5344CB8AC3E}">
        <p14:creationId xmlns:p14="http://schemas.microsoft.com/office/powerpoint/2010/main" val="2550229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5/28/2026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pic>
        <p:nvPicPr>
          <p:cNvPr id="8" name="Picture 7" descr="A yellow and blue sign with words">
            <a:extLst>
              <a:ext uri="{FF2B5EF4-FFF2-40B4-BE49-F238E27FC236}">
                <a16:creationId xmlns:a16="http://schemas.microsoft.com/office/drawing/2014/main" id="{EE2BC3F5-9E81-D149-1387-D8F845ECF46E}"/>
              </a:ext>
            </a:extLst>
          </p:cNvPr>
          <p:cNvPicPr>
            <a:picLocks noChangeAspect="1"/>
          </p:cNvPicPr>
          <p:nvPr userDrawn="1"/>
        </p:nvPicPr>
        <p:blipFill>
          <a:blip r:embed="rId21"/>
          <a:stretch>
            <a:fillRect/>
          </a:stretch>
        </p:blipFill>
        <p:spPr>
          <a:xfrm>
            <a:off x="0" y="0"/>
            <a:ext cx="1620078" cy="1331843"/>
          </a:xfrm>
          <a:prstGeom prst="rect">
            <a:avLst/>
          </a:prstGeom>
        </p:spPr>
      </p:pic>
    </p:spTree>
    <p:extLst>
      <p:ext uri="{BB962C8B-B14F-4D97-AF65-F5344CB8AC3E}">
        <p14:creationId xmlns:p14="http://schemas.microsoft.com/office/powerpoint/2010/main" val="31367868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51" r:id="rId19"/>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F320B0-8294-9867-67E4-3328F0706BC7}"/>
              </a:ext>
            </a:extLst>
          </p:cNvPr>
          <p:cNvSpPr>
            <a:spLocks noGrp="1"/>
          </p:cNvSpPr>
          <p:nvPr>
            <p:ph type="title" idx="4294967295"/>
          </p:nvPr>
        </p:nvSpPr>
        <p:spPr>
          <a:xfrm>
            <a:off x="1447800" y="1827212"/>
            <a:ext cx="8904514" cy="1601788"/>
          </a:xfrm>
          <a:prstGeom prst="rect">
            <a:avLst/>
          </a:prstGeom>
        </p:spPr>
        <p:style>
          <a:lnRef idx="2">
            <a:schemeClr val="dk1">
              <a:shade val="15000"/>
            </a:schemeClr>
          </a:lnRef>
          <a:fillRef idx="1">
            <a:schemeClr val="dk1"/>
          </a:fillRef>
          <a:effectRef idx="0">
            <a:schemeClr val="dk1"/>
          </a:effectRef>
          <a:fontRef idx="minor">
            <a:schemeClr val="lt1"/>
          </a:fontRef>
        </p:style>
        <p:txBody>
          <a:bodyPr anchor="ctr"/>
          <a:lstStyle/>
          <a:p>
            <a:pPr algn="ctr"/>
            <a:r>
              <a:rPr lang="en-US" b="1" dirty="0">
                <a:effectLst/>
              </a:rPr>
              <a:t>Probability </a:t>
            </a:r>
          </a:p>
        </p:txBody>
      </p:sp>
    </p:spTree>
    <p:extLst>
      <p:ext uri="{BB962C8B-B14F-4D97-AF65-F5344CB8AC3E}">
        <p14:creationId xmlns:p14="http://schemas.microsoft.com/office/powerpoint/2010/main" val="174406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1EB09269-D605-F281-341B-B564D61DC8EF}"/>
              </a:ext>
            </a:extLst>
          </p:cNvPr>
          <p:cNvSpPr>
            <a:spLocks noGrp="1"/>
          </p:cNvSpPr>
          <p:nvPr>
            <p:ph type="body" idx="1"/>
          </p:nvPr>
        </p:nvSpPr>
        <p:spPr>
          <a:xfrm>
            <a:off x="4961427" y="76200"/>
            <a:ext cx="1776829" cy="747712"/>
          </a:xfrm>
        </p:spPr>
        <p:txBody>
          <a:bodyPr/>
          <a:lstStyle/>
          <a:p>
            <a:pPr algn="ctr"/>
            <a:r>
              <a:rPr lang="en-US" u="sng" dirty="0">
                <a:latin typeface="Bookman Old Style" panose="02050604050505020204" pitchFamily="18" charset="0"/>
              </a:rPr>
              <a:t>Concept</a:t>
            </a:r>
          </a:p>
        </p:txBody>
      </p:sp>
    </p:spTree>
    <p:extLst>
      <p:ext uri="{BB962C8B-B14F-4D97-AF65-F5344CB8AC3E}">
        <p14:creationId xmlns:p14="http://schemas.microsoft.com/office/powerpoint/2010/main" val="334532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911FF-FD89-3F4D-E2A4-487296A6EF6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636A0C-5A80-500C-C63C-D6EC9D04760D}"/>
              </a:ext>
            </a:extLst>
          </p:cNvPr>
          <p:cNvSpPr>
            <a:spLocks noGrp="1"/>
          </p:cNvSpPr>
          <p:nvPr>
            <p:ph type="body" idx="1"/>
          </p:nvPr>
        </p:nvSpPr>
        <p:spPr>
          <a:xfrm>
            <a:off x="4961427" y="76200"/>
            <a:ext cx="1776829" cy="747712"/>
          </a:xfrm>
        </p:spPr>
        <p:txBody>
          <a:bodyPr/>
          <a:lstStyle/>
          <a:p>
            <a:pPr algn="ctr"/>
            <a:r>
              <a:rPr lang="en-US" u="sng" dirty="0">
                <a:latin typeface="Bookman Old Style" panose="02050604050505020204" pitchFamily="18" charset="0"/>
              </a:rPr>
              <a:t>Concept</a:t>
            </a:r>
          </a:p>
        </p:txBody>
      </p:sp>
    </p:spTree>
    <p:extLst>
      <p:ext uri="{BB962C8B-B14F-4D97-AF65-F5344CB8AC3E}">
        <p14:creationId xmlns:p14="http://schemas.microsoft.com/office/powerpoint/2010/main" val="2554323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BA128-DC17-4724-1419-A6469887122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AD20EB40-6294-076D-A272-F36535AA7EC4}"/>
              </a:ext>
            </a:extLst>
          </p:cNvPr>
          <p:cNvSpPr>
            <a:spLocks noGrp="1"/>
          </p:cNvSpPr>
          <p:nvPr>
            <p:ph type="body" idx="1"/>
          </p:nvPr>
        </p:nvSpPr>
        <p:spPr>
          <a:xfrm>
            <a:off x="4961427" y="76200"/>
            <a:ext cx="1776829" cy="747712"/>
          </a:xfrm>
        </p:spPr>
        <p:txBody>
          <a:bodyPr/>
          <a:lstStyle/>
          <a:p>
            <a:pPr algn="ctr"/>
            <a:r>
              <a:rPr lang="en-US" u="sng" dirty="0">
                <a:latin typeface="Bookman Old Style" panose="02050604050505020204" pitchFamily="18" charset="0"/>
              </a:rPr>
              <a:t>Concept</a:t>
            </a:r>
          </a:p>
        </p:txBody>
      </p:sp>
    </p:spTree>
    <p:extLst>
      <p:ext uri="{BB962C8B-B14F-4D97-AF65-F5344CB8AC3E}">
        <p14:creationId xmlns:p14="http://schemas.microsoft.com/office/powerpoint/2010/main" val="1403086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8BBC9-1E5F-E649-697E-BD5889B1642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2395A97-FFDD-4EA3-88D3-020D22306023}"/>
              </a:ext>
            </a:extLst>
          </p:cNvPr>
          <p:cNvSpPr>
            <a:spLocks noGrp="1"/>
          </p:cNvSpPr>
          <p:nvPr>
            <p:ph type="body" idx="1"/>
          </p:nvPr>
        </p:nvSpPr>
        <p:spPr>
          <a:xfrm>
            <a:off x="4961427" y="76200"/>
            <a:ext cx="1776829" cy="747712"/>
          </a:xfrm>
        </p:spPr>
        <p:txBody>
          <a:bodyPr/>
          <a:lstStyle/>
          <a:p>
            <a:pPr algn="ctr"/>
            <a:r>
              <a:rPr lang="en-US" u="sng" dirty="0">
                <a:latin typeface="Bookman Old Style" panose="02050604050505020204" pitchFamily="18" charset="0"/>
              </a:rPr>
              <a:t>Concept</a:t>
            </a:r>
          </a:p>
        </p:txBody>
      </p:sp>
    </p:spTree>
    <p:extLst>
      <p:ext uri="{BB962C8B-B14F-4D97-AF65-F5344CB8AC3E}">
        <p14:creationId xmlns:p14="http://schemas.microsoft.com/office/powerpoint/2010/main" val="3450154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346840" y="1777384"/>
                <a:ext cx="5157787" cy="3684588"/>
              </a:xfrm>
            </p:spPr>
            <p:txBody>
              <a:bodyPr>
                <a:noAutofit/>
              </a:bodyPr>
              <a:lstStyle/>
              <a:p>
                <a:pPr marL="0" indent="0" algn="just">
                  <a:lnSpc>
                    <a:spcPct val="150000"/>
                  </a:lnSpc>
                  <a:buNone/>
                </a:pPr>
                <a:r>
                  <a:rPr lang="en-IN" sz="2300" b="1" dirty="0">
                    <a:latin typeface="Bookman Old Style" pitchFamily="18" charset="0"/>
                    <a:cs typeface="Times New Roman" panose="02020603050405020304" pitchFamily="18" charset="0"/>
                  </a:rPr>
                  <a:t>Four unbiased coins are tossed .what is </a:t>
                </a:r>
                <a:r>
                  <a:rPr lang="en-IN" sz="2300" b="1" dirty="0">
                    <a:effectLst/>
                    <a:latin typeface="Bookman Old Style" pitchFamily="18" charset="0"/>
                    <a:cs typeface="Times New Roman" panose="02020603050405020304" pitchFamily="18" charset="0"/>
                  </a:rPr>
                  <a:t>the</a:t>
                </a:r>
                <a:r>
                  <a:rPr lang="en-IN" sz="2300" b="1" dirty="0">
                    <a:latin typeface="Bookman Old Style" pitchFamily="18" charset="0"/>
                    <a:cs typeface="Times New Roman" panose="02020603050405020304" pitchFamily="18" charset="0"/>
                  </a:rPr>
                  <a:t> probability of getting 2 H’s and 2 T’s ?</a:t>
                </a:r>
              </a:p>
              <a:p>
                <a:pPr marL="0" indent="0" algn="just">
                  <a:lnSpc>
                    <a:spcPct val="150000"/>
                  </a:lnSpc>
                  <a:buNone/>
                </a:pPr>
                <a:r>
                  <a:rPr lang="en-IN" sz="2300" b="1" dirty="0">
                    <a:latin typeface="Bookman Old Style" pitchFamily="18" charset="0"/>
                    <a:cs typeface="Times New Roman" panose="02020603050405020304" pitchFamily="18" charset="0"/>
                  </a:rPr>
                  <a:t>    a. </a:t>
                </a:r>
                <a14:m>
                  <m:oMath xmlns:m="http://schemas.openxmlformats.org/officeDocument/2006/math">
                    <m:f>
                      <m:fPr>
                        <m:ctrlPr>
                          <a:rPr lang="en-IN" sz="2300" b="1" i="1">
                            <a:latin typeface="Cambria Math" panose="02040503050406030204" pitchFamily="18" charset="0"/>
                            <a:cs typeface="Times New Roman" panose="02020603050405020304" pitchFamily="18" charset="0"/>
                          </a:rPr>
                        </m:ctrlPr>
                      </m:fPr>
                      <m:num>
                        <m:r>
                          <a:rPr lang="en-US" sz="2300" b="1" i="1" smtClean="0">
                            <a:latin typeface="Cambria Math"/>
                            <a:cs typeface="Times New Roman" panose="02020603050405020304" pitchFamily="18" charset="0"/>
                          </a:rPr>
                          <m:t>𝟑</m:t>
                        </m:r>
                      </m:num>
                      <m:den>
                        <m:r>
                          <a:rPr lang="en-US" sz="2300" b="1" i="1" smtClean="0">
                            <a:latin typeface="Cambria Math"/>
                            <a:cs typeface="Times New Roman" panose="02020603050405020304" pitchFamily="18" charset="0"/>
                          </a:rPr>
                          <m:t>𝟖</m:t>
                        </m:r>
                      </m:den>
                    </m:f>
                  </m:oMath>
                </a14:m>
                <a:r>
                  <a:rPr lang="en-IN" sz="2300" b="1" dirty="0">
                    <a:latin typeface="Bookman Old Style" pitchFamily="18" charset="0"/>
                    <a:cs typeface="Times New Roman" panose="02020603050405020304" pitchFamily="18" charset="0"/>
                  </a:rPr>
                  <a:t>        b. </a:t>
                </a:r>
                <a14:m>
                  <m:oMath xmlns:m="http://schemas.openxmlformats.org/officeDocument/2006/math">
                    <m:f>
                      <m:fPr>
                        <m:ctrlPr>
                          <a:rPr lang="en-IN" sz="2300" b="1" i="1">
                            <a:latin typeface="Cambria Math" panose="02040503050406030204" pitchFamily="18" charset="0"/>
                            <a:cs typeface="Times New Roman" panose="02020603050405020304" pitchFamily="18" charset="0"/>
                          </a:rPr>
                        </m:ctrlPr>
                      </m:fPr>
                      <m:num>
                        <m:r>
                          <a:rPr lang="en-US" sz="2300" b="1" i="1" smtClean="0">
                            <a:latin typeface="Cambria Math"/>
                            <a:cs typeface="Times New Roman" panose="02020603050405020304" pitchFamily="18" charset="0"/>
                          </a:rPr>
                          <m:t>𝟏</m:t>
                        </m:r>
                      </m:num>
                      <m:den>
                        <m:r>
                          <a:rPr lang="en-US" sz="2300" b="1" i="1" smtClean="0">
                            <a:latin typeface="Cambria Math"/>
                            <a:cs typeface="Times New Roman" panose="02020603050405020304" pitchFamily="18" charset="0"/>
                          </a:rPr>
                          <m:t>𝟖</m:t>
                        </m:r>
                      </m:den>
                    </m:f>
                  </m:oMath>
                </a14:m>
                <a:r>
                  <a:rPr lang="en-IN" sz="2300" b="1" dirty="0">
                    <a:latin typeface="Bookman Old Style" pitchFamily="18" charset="0"/>
                    <a:cs typeface="Times New Roman" panose="02020603050405020304" pitchFamily="18" charset="0"/>
                  </a:rPr>
                  <a:t>      </a:t>
                </a:r>
              </a:p>
              <a:p>
                <a:pPr marL="0" indent="0" algn="just">
                  <a:lnSpc>
                    <a:spcPct val="150000"/>
                  </a:lnSpc>
                  <a:buNone/>
                </a:pPr>
                <a:r>
                  <a:rPr lang="en-IN" sz="2300" b="1" dirty="0">
                    <a:latin typeface="Bookman Old Style" pitchFamily="18" charset="0"/>
                    <a:cs typeface="Times New Roman" panose="02020603050405020304" pitchFamily="18" charset="0"/>
                  </a:rPr>
                  <a:t>    c. </a:t>
                </a:r>
                <a14:m>
                  <m:oMath xmlns:m="http://schemas.openxmlformats.org/officeDocument/2006/math">
                    <m:f>
                      <m:fPr>
                        <m:ctrlPr>
                          <a:rPr lang="en-IN" sz="2300" b="1" i="1">
                            <a:latin typeface="Cambria Math" panose="02040503050406030204" pitchFamily="18" charset="0"/>
                            <a:cs typeface="Times New Roman" panose="02020603050405020304" pitchFamily="18" charset="0"/>
                          </a:rPr>
                        </m:ctrlPr>
                      </m:fPr>
                      <m:num>
                        <m:r>
                          <a:rPr lang="en-US" sz="2300" b="1" i="1" smtClean="0">
                            <a:latin typeface="Cambria Math"/>
                            <a:cs typeface="Times New Roman" panose="02020603050405020304" pitchFamily="18" charset="0"/>
                          </a:rPr>
                          <m:t>𝟏𝟑</m:t>
                        </m:r>
                      </m:num>
                      <m:den>
                        <m:r>
                          <a:rPr lang="en-US" sz="2300" b="1" i="1" smtClean="0">
                            <a:latin typeface="Cambria Math"/>
                            <a:cs typeface="Times New Roman" panose="02020603050405020304" pitchFamily="18" charset="0"/>
                          </a:rPr>
                          <m:t>𝟏𝟔</m:t>
                        </m:r>
                      </m:den>
                    </m:f>
                  </m:oMath>
                </a14:m>
                <a:r>
                  <a:rPr lang="en-IN" sz="2300" b="1" dirty="0">
                    <a:latin typeface="Bookman Old Style" pitchFamily="18" charset="0"/>
                    <a:cs typeface="Times New Roman" panose="02020603050405020304" pitchFamily="18" charset="0"/>
                  </a:rPr>
                  <a:t>       d.  </a:t>
                </a:r>
                <a14:m>
                  <m:oMath xmlns:m="http://schemas.openxmlformats.org/officeDocument/2006/math">
                    <m:f>
                      <m:fPr>
                        <m:ctrlPr>
                          <a:rPr lang="en-IN" sz="2300" b="1" i="1">
                            <a:latin typeface="Cambria Math" panose="02040503050406030204" pitchFamily="18" charset="0"/>
                            <a:cs typeface="Times New Roman" panose="02020603050405020304" pitchFamily="18" charset="0"/>
                          </a:rPr>
                        </m:ctrlPr>
                      </m:fPr>
                      <m:num>
                        <m:r>
                          <a:rPr lang="en-US" sz="2300" b="1" i="1" smtClean="0">
                            <a:latin typeface="Cambria Math"/>
                            <a:cs typeface="Times New Roman" panose="02020603050405020304" pitchFamily="18" charset="0"/>
                          </a:rPr>
                          <m:t>𝟏</m:t>
                        </m:r>
                      </m:num>
                      <m:den>
                        <m:r>
                          <a:rPr lang="en-US" sz="2300" b="1" i="1" smtClean="0">
                            <a:latin typeface="Cambria Math"/>
                            <a:cs typeface="Times New Roman" panose="02020603050405020304" pitchFamily="18" charset="0"/>
                          </a:rPr>
                          <m:t>𝟒</m:t>
                        </m:r>
                      </m:den>
                    </m:f>
                  </m:oMath>
                </a14:m>
                <a:r>
                  <a:rPr lang="en-IN" sz="2300" b="1" dirty="0">
                    <a:latin typeface="Bookman Old Style" pitchFamily="18" charset="0"/>
                    <a:cs typeface="Times New Roman" panose="02020603050405020304" pitchFamily="18" charset="0"/>
                  </a:rPr>
                  <a:t> </a:t>
                </a:r>
              </a:p>
              <a:p>
                <a:pPr marL="0" indent="0" algn="just">
                  <a:lnSpc>
                    <a:spcPct val="150000"/>
                  </a:lnSpc>
                  <a:buNone/>
                </a:pPr>
                <a:endParaRPr lang="en-IN" sz="2300" b="1" dirty="0">
                  <a:latin typeface="Bookman Old Style" pitchFamily="18" charset="0"/>
                  <a:cs typeface="Times New Roman" panose="02020603050405020304" pitchFamily="18" charset="0"/>
                </a:endParaRPr>
              </a:p>
              <a:p>
                <a:pPr marL="0" indent="0">
                  <a:lnSpc>
                    <a:spcPct val="100000"/>
                  </a:lnSpc>
                  <a:buNone/>
                </a:pPr>
                <a:endParaRPr lang="en-IN" sz="2300" b="1" dirty="0">
                  <a:cs typeface="Times New Roman" panose="02020603050405020304" pitchFamily="18" charset="0"/>
                </a:endParaRPr>
              </a:p>
              <a:p>
                <a:pPr marL="0" indent="0">
                  <a:lnSpc>
                    <a:spcPct val="100000"/>
                  </a:lnSpc>
                  <a:buNone/>
                </a:pPr>
                <a:endParaRPr lang="en-US" sz="2300" b="1" dirty="0"/>
              </a:p>
            </p:txBody>
          </p:sp>
        </mc:Choice>
        <mc:Fallback xmlns="">
          <p:sp>
            <p:nvSpPr>
              <p:cNvPr id="11" name="Content Placeholder 10">
                <a:extLst>
                  <a:ext uri="{FF2B5EF4-FFF2-40B4-BE49-F238E27FC236}">
                    <a16:creationId xmlns:a16="http://schemas.microsoft.com/office/drawing/2014/main" id="{415BF1C3-F3E9-6FD8-6CE5-07B05638BA1C}"/>
                  </a:ext>
                </a:extLst>
              </p:cNvPr>
              <p:cNvSpPr>
                <a:spLocks noGrp="1" noRot="1" noChangeAspect="1" noMove="1" noResize="1" noEditPoints="1" noAdjustHandles="1" noChangeArrowheads="1" noChangeShapeType="1" noTextEdit="1"/>
              </p:cNvSpPr>
              <p:nvPr>
                <p:ph sz="half" idx="2"/>
              </p:nvPr>
            </p:nvSpPr>
            <p:spPr>
              <a:xfrm>
                <a:off x="346840" y="1777384"/>
                <a:ext cx="5157787" cy="3684588"/>
              </a:xfrm>
              <a:blipFill>
                <a:blip r:embed="rId2"/>
                <a:stretch>
                  <a:fillRect l="-1891" r="-2364"/>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4046520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262759" y="1777384"/>
                <a:ext cx="5157787" cy="3684588"/>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Five unbiased coins are tossed. What is the probability of getting  3 H’s and 2T’s</a:t>
                </a:r>
              </a:p>
              <a:p>
                <a:pPr marL="0" indent="0" algn="just">
                  <a:lnSpc>
                    <a:spcPct val="150000"/>
                  </a:lnSpc>
                  <a:buNone/>
                </a:pPr>
                <a:r>
                  <a:rPr lang="en-IN" sz="2300" b="1" dirty="0">
                    <a:effectLst/>
                    <a:latin typeface="Bookman Old Style" pitchFamily="18" charset="0"/>
                    <a:cs typeface="Times New Roman" panose="02020603050405020304" pitchFamily="18" charset="0"/>
                  </a:rPr>
                  <a:t>    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𝟓</m:t>
                        </m:r>
                      </m:num>
                      <m:den>
                        <m:r>
                          <a:rPr lang="en-US" sz="2300" b="1" i="1">
                            <a:effectLst/>
                            <a:latin typeface="Cambria Math"/>
                            <a:cs typeface="Times New Roman" panose="02020603050405020304" pitchFamily="18" charset="0"/>
                          </a:rPr>
                          <m:t>𝟏𝟔</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𝟏𝟏</m:t>
                        </m:r>
                      </m:num>
                      <m:den>
                        <m:r>
                          <a:rPr lang="en-US" sz="2300" b="1" i="1">
                            <a:effectLst/>
                            <a:latin typeface="Cambria Math"/>
                            <a:cs typeface="Times New Roman" panose="02020603050405020304" pitchFamily="18" charset="0"/>
                          </a:rPr>
                          <m:t>𝟏𝟔</m:t>
                        </m:r>
                      </m:den>
                    </m:f>
                  </m:oMath>
                </a14:m>
                <a:r>
                  <a:rPr lang="en-IN" sz="2300" b="1" dirty="0">
                    <a:effectLst/>
                    <a:latin typeface="Bookman Old Style" pitchFamily="18" charset="0"/>
                    <a:cs typeface="Times New Roman" panose="02020603050405020304" pitchFamily="18" charset="0"/>
                  </a:rPr>
                  <a:t>    </a:t>
                </a:r>
              </a:p>
              <a:p>
                <a:pPr marL="0" indent="0" algn="just">
                  <a:lnSpc>
                    <a:spcPct val="150000"/>
                  </a:lnSpc>
                  <a:buNone/>
                </a:pPr>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𝟓</m:t>
                        </m:r>
                      </m:num>
                      <m:den>
                        <m:r>
                          <a:rPr lang="en-US" sz="2300" b="1" i="1">
                            <a:effectLst/>
                            <a:latin typeface="Cambria Math"/>
                            <a:cs typeface="Times New Roman" panose="02020603050405020304" pitchFamily="18" charset="0"/>
                          </a:rPr>
                          <m:t>𝟑𝟐</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𝟑</m:t>
                        </m:r>
                      </m:num>
                      <m:den>
                        <m:r>
                          <a:rPr lang="en-US" sz="2300" b="1" i="1">
                            <a:effectLst/>
                            <a:latin typeface="Cambria Math"/>
                            <a:cs typeface="Times New Roman" panose="02020603050405020304" pitchFamily="18" charset="0"/>
                          </a:rPr>
                          <m:t>𝟏𝟔</m:t>
                        </m:r>
                      </m:den>
                    </m:f>
                  </m:oMath>
                </a14:m>
                <a:endParaRPr lang="en-IN" sz="2300" b="1" dirty="0">
                  <a:effectLst/>
                  <a:latin typeface="Bookman Old Style" pitchFamily="18" charset="0"/>
                  <a:cs typeface="Times New Roman" panose="02020603050405020304" pitchFamily="18" charset="0"/>
                </a:endParaRPr>
              </a:p>
              <a:p>
                <a:pPr marL="0" indent="0">
                  <a:lnSpc>
                    <a:spcPct val="100000"/>
                  </a:lnSpc>
                  <a:buNone/>
                </a:pPr>
                <a:endParaRPr lang="en-IN" sz="2300" dirty="0">
                  <a:effectLst/>
                  <a:latin typeface="Bookman Old Style" panose="02050604050505020204" pitchFamily="18" charset="0"/>
                  <a:cs typeface="Times New Roman" panose="02020603050405020304" pitchFamily="18" charset="0"/>
                </a:endParaRPr>
              </a:p>
              <a:p>
                <a:pPr marL="0" indent="0">
                  <a:lnSpc>
                    <a:spcPct val="100000"/>
                  </a:lnSpc>
                  <a:buNone/>
                </a:pPr>
                <a:endParaRPr lang="en-US" sz="2300" dirty="0">
                  <a:effectLst/>
                  <a:latin typeface="Bookman Old Style" panose="02050604050505020204" pitchFamily="18" charset="0"/>
                </a:endParaRPr>
              </a:p>
            </p:txBody>
          </p:sp>
        </mc:Choice>
        <mc:Fallback xmlns="">
          <p:sp>
            <p:nvSpPr>
              <p:cNvPr id="11" name="Content Placeholder 10">
                <a:extLst>
                  <a:ext uri="{FF2B5EF4-FFF2-40B4-BE49-F238E27FC236}">
                    <a16:creationId xmlns:a16="http://schemas.microsoft.com/office/drawing/2014/main" id="{415BF1C3-F3E9-6FD8-6CE5-07B05638BA1C}"/>
                  </a:ext>
                </a:extLst>
              </p:cNvPr>
              <p:cNvSpPr>
                <a:spLocks noGrp="1" noRot="1" noChangeAspect="1" noMove="1" noResize="1" noEditPoints="1" noAdjustHandles="1" noChangeArrowheads="1" noChangeShapeType="1" noTextEdit="1"/>
              </p:cNvSpPr>
              <p:nvPr>
                <p:ph sz="half" idx="2"/>
              </p:nvPr>
            </p:nvSpPr>
            <p:spPr>
              <a:xfrm>
                <a:off x="262759" y="1777384"/>
                <a:ext cx="5157787" cy="3684588"/>
              </a:xfrm>
              <a:blipFill>
                <a:blip r:embed="rId2"/>
                <a:stretch>
                  <a:fillRect l="-1655" r="-1773"/>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684107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232353" y="1777384"/>
                <a:ext cx="5157787" cy="3684588"/>
              </a:xfrm>
            </p:spPr>
            <p:txBody>
              <a:bodyPr>
                <a:noAutofit/>
              </a:bodyPr>
              <a:lstStyle/>
              <a:p>
                <a:pPr marL="0" indent="0" algn="just">
                  <a:lnSpc>
                    <a:spcPct val="150000"/>
                  </a:lnSpc>
                  <a:buNone/>
                </a:pPr>
                <a:r>
                  <a:rPr lang="en-US" sz="2300" b="1" dirty="0">
                    <a:effectLst/>
                    <a:latin typeface="Bookman Old Style" pitchFamily="18" charset="0"/>
                    <a:cs typeface="Times New Roman" pitchFamily="18" charset="0"/>
                  </a:rPr>
                  <a:t>Three fair coins are tossed simultaneously. What is the probability of getting at least 2 heads?</a:t>
                </a:r>
              </a:p>
              <a:p>
                <a:pPr marL="0" indent="0" algn="just">
                  <a:lnSpc>
                    <a:spcPct val="150000"/>
                  </a:lnSpc>
                  <a:buNone/>
                </a:pPr>
                <a:r>
                  <a:rPr lang="en-IN" sz="2300" b="1" dirty="0">
                    <a:effectLst/>
                    <a:latin typeface="Bookman Old Style" pitchFamily="18" charset="0"/>
                    <a:cs typeface="Times New Roman" pitchFamily="18" charset="0"/>
                  </a:rPr>
                  <a:t> a.</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𝟒</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𝟑</m:t>
                        </m:r>
                      </m:num>
                      <m:den>
                        <m:r>
                          <a:rPr lang="en-US" sz="2300" b="1" i="1">
                            <a:effectLst/>
                            <a:latin typeface="Cambria Math"/>
                            <a:cs typeface="Times New Roman" panose="02020603050405020304" pitchFamily="18" charset="0"/>
                          </a:rPr>
                          <m:t>𝟖</m:t>
                        </m:r>
                      </m:den>
                    </m:f>
                  </m:oMath>
                </a14:m>
                <a:r>
                  <a:rPr lang="en-IN" sz="2300" b="1" dirty="0">
                    <a:effectLst/>
                    <a:latin typeface="Bookman Old Style" pitchFamily="18" charset="0"/>
                    <a:cs typeface="Times New Roman" panose="02020603050405020304" pitchFamily="18" charset="0"/>
                  </a:rPr>
                  <a:t>          </a:t>
                </a:r>
              </a:p>
              <a:p>
                <a:pPr marL="0" indent="0" algn="just">
                  <a:lnSpc>
                    <a:spcPct val="150000"/>
                  </a:lnSpc>
                  <a:buNone/>
                </a:pPr>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𝟐</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𝟓</m:t>
                        </m:r>
                      </m:num>
                      <m:den>
                        <m:r>
                          <a:rPr lang="en-US" sz="2300" b="1" i="1">
                            <a:effectLst/>
                            <a:latin typeface="Cambria Math"/>
                            <a:cs typeface="Times New Roman" panose="02020603050405020304" pitchFamily="18" charset="0"/>
                          </a:rPr>
                          <m:t>𝟖</m:t>
                        </m:r>
                      </m:den>
                    </m:f>
                  </m:oMath>
                </a14:m>
                <a:r>
                  <a:rPr lang="en-IN" sz="2300" b="1" dirty="0">
                    <a:effectLst/>
                    <a:latin typeface="Bookman Old Style" pitchFamily="18" charset="0"/>
                    <a:cs typeface="Times New Roman" panose="02020603050405020304" pitchFamily="18" charset="0"/>
                  </a:rPr>
                  <a:t> </a:t>
                </a:r>
              </a:p>
              <a:p>
                <a:pPr marL="0" indent="0" algn="just">
                  <a:lnSpc>
                    <a:spcPct val="100000"/>
                  </a:lnSpc>
                  <a:buNone/>
                </a:pPr>
                <a:endParaRPr lang="en-IN" sz="2300" b="1" dirty="0">
                  <a:effectLst/>
                  <a:cs typeface="Times New Roman" panose="02020603050405020304" pitchFamily="18" charset="0"/>
                </a:endParaRPr>
              </a:p>
              <a:p>
                <a:pPr marL="0" indent="0">
                  <a:lnSpc>
                    <a:spcPct val="100000"/>
                  </a:lnSpc>
                  <a:buNone/>
                </a:pPr>
                <a:endParaRPr lang="en-US" sz="2300" b="1" dirty="0">
                  <a:effectLst/>
                </a:endParaRPr>
              </a:p>
            </p:txBody>
          </p:sp>
        </mc:Choice>
        <mc:Fallback xmlns="">
          <p:sp>
            <p:nvSpPr>
              <p:cNvPr id="11" name="Content Placeholder 10">
                <a:extLst>
                  <a:ext uri="{FF2B5EF4-FFF2-40B4-BE49-F238E27FC236}">
                    <a16:creationId xmlns:a16="http://schemas.microsoft.com/office/drawing/2014/main" id="{415BF1C3-F3E9-6FD8-6CE5-07B05638BA1C}"/>
                  </a:ext>
                </a:extLst>
              </p:cNvPr>
              <p:cNvSpPr>
                <a:spLocks noGrp="1" noRot="1" noChangeAspect="1" noMove="1" noResize="1" noEditPoints="1" noAdjustHandles="1" noChangeArrowheads="1" noChangeShapeType="1" noTextEdit="1"/>
              </p:cNvSpPr>
              <p:nvPr>
                <p:ph sz="half" idx="2"/>
              </p:nvPr>
            </p:nvSpPr>
            <p:spPr>
              <a:xfrm>
                <a:off x="232353" y="1777384"/>
                <a:ext cx="5157787" cy="3684588"/>
              </a:xfrm>
              <a:blipFill>
                <a:blip r:embed="rId2"/>
                <a:stretch>
                  <a:fillRect l="-1655" r="-1773" b="-7616"/>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971412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273269" y="1777384"/>
            <a:ext cx="5626788" cy="3684588"/>
          </a:xfrm>
        </p:spPr>
        <p:txBody>
          <a:bodyPr>
            <a:normAutofit/>
          </a:bodyPr>
          <a:lstStyle/>
          <a:p>
            <a:pPr marL="0" indent="0" algn="just">
              <a:lnSpc>
                <a:spcPct val="150000"/>
              </a:lnSpc>
              <a:buNone/>
            </a:pPr>
            <a:r>
              <a:rPr lang="en-US" sz="2300" b="1" dirty="0">
                <a:effectLst/>
                <a:latin typeface="Bookman Old Style" pitchFamily="18" charset="0"/>
                <a:cs typeface="Times New Roman" pitchFamily="18" charset="0"/>
              </a:rPr>
              <a:t>five coins are tossed once. What is the probability of getting at most four heads </a:t>
            </a:r>
          </a:p>
          <a:p>
            <a:pPr marL="0" indent="0" algn="just">
              <a:lnSpc>
                <a:spcPct val="150000"/>
              </a:lnSpc>
              <a:buNone/>
            </a:pPr>
            <a:r>
              <a:rPr lang="en-US" sz="2300" b="1" dirty="0">
                <a:effectLst/>
                <a:latin typeface="Bookman Old Style" pitchFamily="18" charset="0"/>
                <a:cs typeface="Times New Roman" pitchFamily="18" charset="0"/>
              </a:rPr>
              <a:t>  a.31/32       b.15/16  </a:t>
            </a:r>
          </a:p>
          <a:p>
            <a:pPr marL="0" indent="0" algn="just">
              <a:lnSpc>
                <a:spcPct val="150000"/>
              </a:lnSpc>
              <a:buNone/>
            </a:pPr>
            <a:r>
              <a:rPr lang="en-US" sz="2300" b="1" dirty="0">
                <a:effectLst/>
                <a:latin typeface="Bookman Old Style" pitchFamily="18" charset="0"/>
                <a:cs typeface="Times New Roman" pitchFamily="18" charset="0"/>
              </a:rPr>
              <a:t>  c.29/32       d.7/8</a:t>
            </a:r>
          </a:p>
        </p:txBody>
      </p:sp>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16A4595-48DA-2952-9839-70D7BAACA6D1}"/>
                  </a:ext>
                </a:extLst>
              </p14:cNvPr>
              <p14:cNvContentPartPr/>
              <p14:nvPr/>
            </p14:nvContentPartPr>
            <p14:xfrm>
              <a:off x="12561857" y="1972560"/>
              <a:ext cx="10800" cy="21600"/>
            </p14:xfrm>
          </p:contentPart>
        </mc:Choice>
        <mc:Fallback xmlns="">
          <p:pic>
            <p:nvPicPr>
              <p:cNvPr id="4" name="Ink 3">
                <a:extLst>
                  <a:ext uri="{FF2B5EF4-FFF2-40B4-BE49-F238E27FC236}">
                    <a16:creationId xmlns:a16="http://schemas.microsoft.com/office/drawing/2014/main" id="{616A4595-48DA-2952-9839-70D7BAACA6D1}"/>
                  </a:ext>
                </a:extLst>
              </p:cNvPr>
              <p:cNvPicPr/>
              <p:nvPr/>
            </p:nvPicPr>
            <p:blipFill>
              <a:blip r:embed="rId8"/>
              <a:stretch>
                <a:fillRect/>
              </a:stretch>
            </p:blipFill>
            <p:spPr>
              <a:xfrm>
                <a:off x="12557537" y="1968240"/>
                <a:ext cx="19440" cy="30240"/>
              </a:xfrm>
              <a:prstGeom prst="rect">
                <a:avLst/>
              </a:prstGeom>
            </p:spPr>
          </p:pic>
        </mc:Fallback>
      </mc:AlternateContent>
    </p:spTree>
    <p:extLst>
      <p:ext uri="{BB962C8B-B14F-4D97-AF65-F5344CB8AC3E}">
        <p14:creationId xmlns:p14="http://schemas.microsoft.com/office/powerpoint/2010/main" val="2277066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178675" y="1777384"/>
            <a:ext cx="5791201" cy="3684588"/>
          </a:xfrm>
        </p:spPr>
        <p:txBody>
          <a:bodyPr>
            <a:normAutofit/>
          </a:bodyPr>
          <a:lstStyle/>
          <a:p>
            <a:pPr marL="0" indent="0" algn="just">
              <a:lnSpc>
                <a:spcPct val="150000"/>
              </a:lnSpc>
              <a:buNone/>
            </a:pPr>
            <a:r>
              <a:rPr lang="en-US" sz="2300" b="1" dirty="0">
                <a:effectLst/>
                <a:latin typeface="Bookman Old Style" pitchFamily="18" charset="0"/>
                <a:cs typeface="Times New Roman" pitchFamily="18" charset="0"/>
              </a:rPr>
              <a:t>four coins are tossed simultaneously .what is the probability of getting exactly two heads</a:t>
            </a:r>
          </a:p>
          <a:p>
            <a:pPr marL="0" indent="0" algn="just">
              <a:lnSpc>
                <a:spcPct val="150000"/>
              </a:lnSpc>
              <a:buNone/>
            </a:pPr>
            <a:r>
              <a:rPr lang="en-US" sz="2300" b="1" dirty="0">
                <a:effectLst/>
                <a:latin typeface="Bookman Old Style" pitchFamily="18" charset="0"/>
                <a:cs typeface="Times New Roman" pitchFamily="18" charset="0"/>
              </a:rPr>
              <a:t>  a. ½     b. ¼       c.1/8      d. 3/8</a:t>
            </a:r>
          </a:p>
          <a:p>
            <a:pPr marL="0" indent="0">
              <a:lnSpc>
                <a:spcPct val="100000"/>
              </a:lnSpc>
              <a:spcAft>
                <a:spcPts val="800"/>
              </a:spcAft>
              <a:buNone/>
              <a:tabLst>
                <a:tab pos="2417445" algn="l"/>
              </a:tabLst>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358705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178675" y="1777384"/>
            <a:ext cx="5791201" cy="368458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An unbiased die is thrown. What is the probability of getting</a:t>
            </a:r>
          </a:p>
          <a:p>
            <a:pPr marL="0" indent="0" algn="just">
              <a:lnSpc>
                <a:spcPct val="150000"/>
              </a:lnSpc>
              <a:buNone/>
            </a:pPr>
            <a:r>
              <a:rPr lang="en-IN" sz="2300" b="1" dirty="0" err="1">
                <a:effectLst/>
                <a:latin typeface="Bookman Old Style" pitchFamily="18" charset="0"/>
                <a:cs typeface="Times New Roman" panose="02020603050405020304" pitchFamily="18" charset="0"/>
              </a:rPr>
              <a:t>i</a:t>
            </a:r>
            <a:r>
              <a:rPr lang="en-IN" sz="2300" b="1" dirty="0">
                <a:effectLst/>
                <a:latin typeface="Bookman Old Style" pitchFamily="18" charset="0"/>
                <a:cs typeface="Times New Roman" panose="02020603050405020304" pitchFamily="18" charset="0"/>
              </a:rPr>
              <a:t>. Number 5</a:t>
            </a:r>
          </a:p>
          <a:p>
            <a:pPr marL="0" indent="0" algn="just">
              <a:lnSpc>
                <a:spcPct val="150000"/>
              </a:lnSpc>
              <a:buNone/>
            </a:pPr>
            <a:r>
              <a:rPr lang="en-IN" sz="2300" b="1" dirty="0">
                <a:effectLst/>
                <a:latin typeface="Bookman Old Style" pitchFamily="18" charset="0"/>
                <a:cs typeface="Times New Roman" panose="02020603050405020304" pitchFamily="18" charset="0"/>
              </a:rPr>
              <a:t>ii. Prime number</a:t>
            </a:r>
          </a:p>
          <a:p>
            <a:pPr marL="0" indent="0" algn="just">
              <a:lnSpc>
                <a:spcPct val="150000"/>
              </a:lnSpc>
              <a:buNone/>
            </a:pPr>
            <a:r>
              <a:rPr lang="en-IN" sz="2300" b="1" dirty="0">
                <a:effectLst/>
                <a:latin typeface="Bookman Old Style" pitchFamily="18" charset="0"/>
                <a:cs typeface="Times New Roman" panose="02020603050405020304" pitchFamily="18" charset="0"/>
              </a:rPr>
              <a:t>iii. Multiple of 3</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578975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675D4-1BC0-63B6-9DA2-ECFC528041DA}"/>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5DE8067-4E99-39A0-44A5-D002F4A9A654}"/>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F07F314A-90CB-F34B-E6DD-5E76C8F6ABB5}"/>
              </a:ext>
            </a:extLst>
          </p:cNvPr>
          <p:cNvSpPr>
            <a:spLocks noGrp="1"/>
          </p:cNvSpPr>
          <p:nvPr>
            <p:ph sz="half" idx="2"/>
          </p:nvPr>
        </p:nvSpPr>
        <p:spPr>
          <a:xfrm>
            <a:off x="178675" y="1777384"/>
            <a:ext cx="5791201" cy="368458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An unbiased die is thrown. What is the probability of getting</a:t>
            </a:r>
          </a:p>
          <a:p>
            <a:pPr marL="0" indent="0" algn="just">
              <a:lnSpc>
                <a:spcPct val="150000"/>
              </a:lnSpc>
              <a:buNone/>
            </a:pPr>
            <a:r>
              <a:rPr lang="en-IN" sz="2300" b="1" dirty="0">
                <a:effectLst/>
                <a:latin typeface="Bookman Old Style" pitchFamily="18" charset="0"/>
                <a:cs typeface="Times New Roman" panose="02020603050405020304" pitchFamily="18" charset="0"/>
              </a:rPr>
              <a:t>iv. Numbers greater than 4</a:t>
            </a:r>
          </a:p>
          <a:p>
            <a:pPr marL="0" indent="0" algn="just">
              <a:lnSpc>
                <a:spcPct val="150000"/>
              </a:lnSpc>
              <a:buNone/>
            </a:pPr>
            <a:r>
              <a:rPr lang="en-IN" sz="2300" b="1" dirty="0">
                <a:effectLst/>
                <a:latin typeface="Bookman Old Style" pitchFamily="18" charset="0"/>
                <a:cs typeface="Times New Roman" panose="02020603050405020304" pitchFamily="18" charset="0"/>
              </a:rPr>
              <a:t>v. Square value</a:t>
            </a:r>
          </a:p>
          <a:p>
            <a:pPr marL="0" indent="0" algn="just">
              <a:lnSpc>
                <a:spcPct val="150000"/>
              </a:lnSpc>
              <a:buNone/>
            </a:pPr>
            <a:r>
              <a:rPr lang="en-IN" sz="2300" b="1" dirty="0">
                <a:effectLst/>
                <a:latin typeface="Bookman Old Style" pitchFamily="18" charset="0"/>
                <a:cs typeface="Times New Roman" panose="02020603050405020304" pitchFamily="18" charset="0"/>
              </a:rPr>
              <a:t>vi. Cube value</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CCA3AF81-08EF-8D37-CB29-E2D0FD57C42B}"/>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618910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325820" y="1777384"/>
            <a:ext cx="5339256" cy="368458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Two dices are thrown simultaneously. What is the probability of getting</a:t>
            </a:r>
          </a:p>
          <a:p>
            <a:pPr marL="0" indent="0" algn="just">
              <a:lnSpc>
                <a:spcPct val="150000"/>
              </a:lnSpc>
              <a:buNone/>
            </a:pPr>
            <a:r>
              <a:rPr lang="en-IN" sz="2300" b="1" dirty="0" err="1">
                <a:effectLst/>
                <a:latin typeface="Bookman Old Style" pitchFamily="18" charset="0"/>
                <a:cs typeface="Times New Roman" panose="02020603050405020304" pitchFamily="18" charset="0"/>
              </a:rPr>
              <a:t>i</a:t>
            </a:r>
            <a:r>
              <a:rPr lang="en-IN" sz="2300" b="1" dirty="0">
                <a:effectLst/>
                <a:latin typeface="Bookman Old Style" pitchFamily="18" charset="0"/>
                <a:cs typeface="Times New Roman" panose="02020603050405020304" pitchFamily="18" charset="0"/>
              </a:rPr>
              <a:t>. Sum or total as 7</a:t>
            </a:r>
          </a:p>
          <a:p>
            <a:pPr marL="0" indent="0" algn="just">
              <a:lnSpc>
                <a:spcPct val="150000"/>
              </a:lnSpc>
              <a:buNone/>
            </a:pPr>
            <a:r>
              <a:rPr lang="en-IN" sz="2300" b="1" dirty="0">
                <a:effectLst/>
                <a:latin typeface="Bookman Old Style" pitchFamily="18" charset="0"/>
                <a:cs typeface="Times New Roman" panose="02020603050405020304" pitchFamily="18" charset="0"/>
              </a:rPr>
              <a:t>ii. Sum as prime number</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228580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1BF5A-BDCA-D0E0-5262-EAA472D4669A}"/>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B198B283-C112-D8AF-3FC4-9BCF758958A2}"/>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1E77239C-36CC-E71E-0ABA-C4D69105B768}"/>
              </a:ext>
            </a:extLst>
          </p:cNvPr>
          <p:cNvSpPr>
            <a:spLocks noGrp="1"/>
          </p:cNvSpPr>
          <p:nvPr>
            <p:ph sz="half" idx="2"/>
          </p:nvPr>
        </p:nvSpPr>
        <p:spPr>
          <a:xfrm>
            <a:off x="325820" y="1777384"/>
            <a:ext cx="5339256" cy="368458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Two dices are thrown simultaneously. What is the probability of getting</a:t>
            </a:r>
          </a:p>
          <a:p>
            <a:pPr marL="0" indent="0" algn="just">
              <a:lnSpc>
                <a:spcPct val="150000"/>
              </a:lnSpc>
              <a:buNone/>
            </a:pPr>
            <a:r>
              <a:rPr lang="en-IN" sz="2300" b="1" dirty="0">
                <a:effectLst/>
                <a:latin typeface="Bookman Old Style" pitchFamily="18" charset="0"/>
                <a:cs typeface="Times New Roman" panose="02020603050405020304" pitchFamily="18" charset="0"/>
              </a:rPr>
              <a:t>iii. Sum as multiples of 4</a:t>
            </a:r>
          </a:p>
          <a:p>
            <a:pPr marL="0" indent="0" algn="just">
              <a:lnSpc>
                <a:spcPct val="150000"/>
              </a:lnSpc>
              <a:buNone/>
            </a:pPr>
            <a:r>
              <a:rPr lang="en-IN" sz="2300" b="1" dirty="0">
                <a:effectLst/>
                <a:latin typeface="Bookman Old Style" pitchFamily="18" charset="0"/>
                <a:cs typeface="Times New Roman" panose="02020603050405020304" pitchFamily="18" charset="0"/>
              </a:rPr>
              <a:t>iv. Sum as greater than 8</a:t>
            </a:r>
          </a:p>
          <a:p>
            <a:pPr marL="0" indent="0" algn="just">
              <a:lnSpc>
                <a:spcPct val="150000"/>
              </a:lnSpc>
              <a:buNone/>
            </a:pPr>
            <a:r>
              <a:rPr lang="en-IN" sz="2300" b="1" dirty="0">
                <a:effectLst/>
                <a:latin typeface="Bookman Old Style" pitchFamily="18" charset="0"/>
                <a:cs typeface="Times New Roman" panose="02020603050405020304" pitchFamily="18" charset="0"/>
              </a:rPr>
              <a:t>v. Sum as square value</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3F63EAAD-22BE-C928-A4C8-8BCEF67EBCF3}"/>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7655561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315310" y="1850957"/>
                <a:ext cx="5157787" cy="4734900"/>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 dice is thrown twice. What is the probability that at least one of them comes up with number 4 ?</a:t>
                </a:r>
              </a:p>
              <a:p>
                <a:pPr marL="0" indent="0" algn="just">
                  <a:lnSpc>
                    <a:spcPct val="150000"/>
                  </a:lnSpc>
                  <a:buNone/>
                </a:pPr>
                <a:r>
                  <a:rPr lang="en-IN" sz="2300" b="1" dirty="0">
                    <a:effectLst/>
                    <a:latin typeface="Bookman Old Style" pitchFamily="18" charset="0"/>
                    <a:cs typeface="Times New Roman" panose="02020603050405020304" pitchFamily="18" charset="0"/>
                  </a:rPr>
                  <a:t>  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𝟏𝟏</m:t>
                        </m:r>
                      </m:num>
                      <m:den>
                        <m:r>
                          <a:rPr lang="en-US" sz="2300" b="1" i="1">
                            <a:effectLst/>
                            <a:latin typeface="Cambria Math"/>
                            <a:cs typeface="Times New Roman" panose="02020603050405020304" pitchFamily="18" charset="0"/>
                          </a:rPr>
                          <m:t>𝟐𝟓</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𝟏𝟏</m:t>
                        </m:r>
                      </m:num>
                      <m:den>
                        <m:r>
                          <a:rPr lang="en-US" sz="2300" b="1" i="1">
                            <a:effectLst/>
                            <a:latin typeface="Cambria Math"/>
                            <a:cs typeface="Times New Roman" panose="02020603050405020304" pitchFamily="18" charset="0"/>
                          </a:rPr>
                          <m:t>𝟑𝟔</m:t>
                        </m:r>
                      </m:den>
                    </m:f>
                  </m:oMath>
                </a14:m>
                <a:r>
                  <a:rPr lang="en-IN" sz="2300" b="1" dirty="0">
                    <a:effectLst/>
                    <a:latin typeface="Bookman Old Style" pitchFamily="18" charset="0"/>
                    <a:cs typeface="Times New Roman" panose="02020603050405020304" pitchFamily="18" charset="0"/>
                  </a:rPr>
                  <a:t>    </a:t>
                </a:r>
              </a:p>
              <a:p>
                <a:pPr marL="0" indent="0" algn="just">
                  <a:lnSpc>
                    <a:spcPct val="150000"/>
                  </a:lnSpc>
                  <a:buNone/>
                </a:pPr>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𝟏𝟏</m:t>
                        </m:r>
                      </m:num>
                      <m:den>
                        <m:r>
                          <a:rPr lang="en-US" sz="2300" b="1" i="1">
                            <a:effectLst/>
                            <a:latin typeface="Cambria Math"/>
                            <a:cs typeface="Times New Roman" panose="02020603050405020304" pitchFamily="18" charset="0"/>
                          </a:rPr>
                          <m:t>𝟔𝟑</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𝟑</m:t>
                        </m:r>
                      </m:den>
                    </m:f>
                  </m:oMath>
                </a14:m>
                <a:r>
                  <a:rPr lang="en-IN" sz="2300" b="1" dirty="0">
                    <a:effectLst/>
                    <a:latin typeface="Bookman Old Style" pitchFamily="18" charset="0"/>
                    <a:cs typeface="Times New Roman" panose="02020603050405020304" pitchFamily="18" charset="0"/>
                  </a:rPr>
                  <a:t> </a:t>
                </a:r>
              </a:p>
            </p:txBody>
          </p:sp>
        </mc:Choice>
        <mc:Fallback xmlns="">
          <p:sp>
            <p:nvSpPr>
              <p:cNvPr id="11" name="Content Placeholder 10">
                <a:extLst>
                  <a:ext uri="{FF2B5EF4-FFF2-40B4-BE49-F238E27FC236}">
                    <a16:creationId xmlns:a16="http://schemas.microsoft.com/office/drawing/2014/main" id="{415BF1C3-F3E9-6FD8-6CE5-07B05638BA1C}"/>
                  </a:ext>
                </a:extLst>
              </p:cNvPr>
              <p:cNvSpPr>
                <a:spLocks noGrp="1" noRot="1" noChangeAspect="1" noMove="1" noResize="1" noEditPoints="1" noAdjustHandles="1" noChangeArrowheads="1" noChangeShapeType="1" noTextEdit="1"/>
              </p:cNvSpPr>
              <p:nvPr>
                <p:ph sz="half" idx="2"/>
              </p:nvPr>
            </p:nvSpPr>
            <p:spPr>
              <a:xfrm>
                <a:off x="315310" y="1850957"/>
                <a:ext cx="5157787" cy="4734900"/>
              </a:xfrm>
              <a:blipFill>
                <a:blip r:embed="rId2"/>
                <a:stretch>
                  <a:fillRect l="-1773" r="-1655"/>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167821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168165" y="1777384"/>
                <a:ext cx="5833242" cy="368458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Two dice are thrown simultaneously. What is the probability of getting 2 numbers whose product is even ?</a:t>
                </a:r>
              </a:p>
              <a:p>
                <a:pPr marL="0" indent="0" algn="just">
                  <a:lnSpc>
                    <a:spcPct val="150000"/>
                  </a:lnSpc>
                  <a:buNone/>
                </a:pPr>
                <a:r>
                  <a:rPr lang="en-IN" sz="2300" b="1" dirty="0">
                    <a:effectLst/>
                    <a:latin typeface="Bookman Old Style" pitchFamily="18" charset="0"/>
                    <a:cs typeface="Times New Roman" panose="02020603050405020304" pitchFamily="18" charset="0"/>
                  </a:rPr>
                  <a:t>  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𝟓</m:t>
                        </m:r>
                      </m:num>
                      <m:den>
                        <m:r>
                          <a:rPr lang="en-US" sz="2300" b="1" i="1">
                            <a:effectLst/>
                            <a:latin typeface="Cambria Math"/>
                            <a:cs typeface="Times New Roman" panose="02020603050405020304" pitchFamily="18" charset="0"/>
                          </a:rPr>
                          <m:t>𝟒</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𝟐</m:t>
                        </m:r>
                      </m:den>
                    </m:f>
                  </m:oMath>
                </a14:m>
                <a:r>
                  <a:rPr lang="en-IN" sz="2300" b="1" dirty="0">
                    <a:effectLst/>
                    <a:latin typeface="Bookman Old Style" pitchFamily="18" charset="0"/>
                    <a:cs typeface="Times New Roman" panose="02020603050405020304" pitchFamily="18" charset="0"/>
                  </a:rPr>
                  <a:t>         </a:t>
                </a:r>
              </a:p>
              <a:p>
                <a:pPr marL="0" indent="0" algn="just">
                  <a:lnSpc>
                    <a:spcPct val="150000"/>
                  </a:lnSpc>
                  <a:buNone/>
                </a:pPr>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𝟑</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𝟑</m:t>
                        </m:r>
                      </m:num>
                      <m:den>
                        <m:r>
                          <a:rPr lang="en-US" sz="2300" b="1" i="1">
                            <a:effectLst/>
                            <a:latin typeface="Cambria Math"/>
                            <a:cs typeface="Times New Roman" panose="02020603050405020304" pitchFamily="18" charset="0"/>
                          </a:rPr>
                          <m:t>𝟒</m:t>
                        </m:r>
                      </m:den>
                    </m:f>
                  </m:oMath>
                </a14:m>
                <a:endParaRPr lang="en-IN" sz="2300" b="1" dirty="0">
                  <a:effectLst/>
                  <a:latin typeface="Bookman Old Style" pitchFamily="18" charset="0"/>
                  <a:cs typeface="Times New Roman" panose="02020603050405020304" pitchFamily="18" charset="0"/>
                </a:endParaRP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415BF1C3-F3E9-6FD8-6CE5-07B05638BA1C}"/>
                  </a:ext>
                </a:extLst>
              </p:cNvPr>
              <p:cNvSpPr>
                <a:spLocks noGrp="1" noRot="1" noChangeAspect="1" noMove="1" noResize="1" noEditPoints="1" noAdjustHandles="1" noChangeArrowheads="1" noChangeShapeType="1" noTextEdit="1"/>
              </p:cNvSpPr>
              <p:nvPr>
                <p:ph sz="half" idx="2"/>
              </p:nvPr>
            </p:nvSpPr>
            <p:spPr>
              <a:xfrm>
                <a:off x="168165" y="1777384"/>
                <a:ext cx="5833242" cy="3684588"/>
              </a:xfrm>
              <a:blipFill>
                <a:blip r:embed="rId2"/>
                <a:stretch>
                  <a:fillRect l="-1569" r="-1569"/>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764178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168165" y="1777384"/>
                <a:ext cx="6358759" cy="4612530"/>
              </a:xfrm>
            </p:spPr>
            <p:txBody>
              <a:bodyPr>
                <a:noAutofit/>
              </a:bodyPr>
              <a:lstStyle/>
              <a:p>
                <a:pPr marL="0" indent="0" algn="just">
                  <a:lnSpc>
                    <a:spcPct val="150000"/>
                  </a:lnSpc>
                  <a:buNone/>
                </a:pPr>
                <a:r>
                  <a:rPr lang="en-US" sz="2300" b="1" dirty="0">
                    <a:effectLst/>
                    <a:latin typeface="Bookman Old Style" pitchFamily="18" charset="0"/>
                    <a:cs typeface="Times New Roman" pitchFamily="18" charset="0"/>
                  </a:rPr>
                  <a:t>Two dice, one blue and one orange, are rolled simultaneously. Find the probability of getting  equal numbers on both </a:t>
                </a:r>
              </a:p>
              <a:p>
                <a:pPr marL="0" indent="0" algn="just">
                  <a:lnSpc>
                    <a:spcPct val="150000"/>
                  </a:lnSpc>
                  <a:buNone/>
                </a:pPr>
                <a:r>
                  <a:rPr lang="en-IN" sz="2300" b="1" dirty="0">
                    <a:effectLst/>
                    <a:latin typeface="Bookman Old Style" pitchFamily="18" charset="0"/>
                    <a:cs typeface="Times New Roman" panose="02020603050405020304" pitchFamily="18" charset="0"/>
                  </a:rPr>
                  <a:t>       a.</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𝟓</m:t>
                        </m:r>
                      </m:num>
                      <m:den>
                        <m:r>
                          <a:rPr lang="en-US" sz="2300" b="1" i="1">
                            <a:effectLst/>
                            <a:latin typeface="Cambria Math"/>
                            <a:cs typeface="Times New Roman" panose="02020603050405020304" pitchFamily="18" charset="0"/>
                          </a:rPr>
                          <m:t>𝟔</m:t>
                        </m:r>
                      </m:den>
                    </m:f>
                  </m:oMath>
                </a14:m>
                <a:r>
                  <a:rPr lang="en-US" sz="2300" b="1" dirty="0">
                    <a:effectLst/>
                    <a:latin typeface="Bookman Old Style" pitchFamily="18" charset="0"/>
                    <a:cs typeface="Times New Roman" pitchFamily="18" charset="0"/>
                  </a:rPr>
                  <a:t>                 b.</a:t>
                </a:r>
                <a:r>
                  <a:rPr lang="en-IN" sz="2300" b="1" dirty="0">
                    <a:effectLst/>
                    <a:latin typeface="Bookman Old Style" pitchFamily="18" charset="0"/>
                    <a:cs typeface="Times New Roman" pitchFamily="18" charset="0"/>
                  </a:rPr>
                  <a:t>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𝟔</m:t>
                        </m:r>
                      </m:den>
                    </m:f>
                  </m:oMath>
                </a14:m>
                <a:r>
                  <a:rPr lang="en-US" sz="2300" b="1" dirty="0">
                    <a:effectLst/>
                    <a:latin typeface="Bookman Old Style" pitchFamily="18" charset="0"/>
                    <a:cs typeface="Times New Roman" pitchFamily="18" charset="0"/>
                  </a:rPr>
                  <a:t>         </a:t>
                </a:r>
              </a:p>
              <a:p>
                <a:pPr marL="0" indent="0" algn="just">
                  <a:lnSpc>
                    <a:spcPct val="150000"/>
                  </a:lnSpc>
                  <a:buNone/>
                </a:pPr>
                <a:r>
                  <a:rPr lang="en-US" sz="2300" b="1" dirty="0">
                    <a:effectLst/>
                    <a:latin typeface="Bookman Old Style" pitchFamily="18" charset="0"/>
                    <a:cs typeface="Times New Roman" pitchFamily="18" charset="0"/>
                  </a:rPr>
                  <a:t>      c.</a:t>
                </a:r>
                <a:r>
                  <a:rPr lang="en-IN" sz="2300" b="1" dirty="0">
                    <a:effectLst/>
                    <a:latin typeface="Bookman Old Style" pitchFamily="18" charset="0"/>
                    <a:cs typeface="Times New Roman" pitchFamily="18" charset="0"/>
                  </a:rPr>
                  <a:t>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𝟑</m:t>
                        </m:r>
                      </m:den>
                    </m:f>
                  </m:oMath>
                </a14:m>
                <a:r>
                  <a:rPr lang="en-US" sz="2300" b="1" dirty="0">
                    <a:effectLst/>
                    <a:latin typeface="Bookman Old Style" pitchFamily="18" charset="0"/>
                    <a:cs typeface="Times New Roman" pitchFamily="18" charset="0"/>
                  </a:rPr>
                  <a:t>                  d.</a:t>
                </a:r>
                <a:r>
                  <a:rPr lang="en-IN" sz="2300" b="1" dirty="0">
                    <a:effectLst/>
                    <a:latin typeface="Bookman Old Style" pitchFamily="18" charset="0"/>
                    <a:cs typeface="Times New Roman" pitchFamily="18" charset="0"/>
                  </a:rPr>
                  <a:t>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𝟐</m:t>
                        </m:r>
                      </m:den>
                    </m:f>
                  </m:oMath>
                </a14:m>
                <a:r>
                  <a:rPr lang="en-US" sz="2300" b="1" dirty="0">
                    <a:effectLst/>
                    <a:latin typeface="Bookman Old Style" pitchFamily="18" charset="0"/>
                    <a:cs typeface="Times New Roman" pitchFamily="18" charset="0"/>
                  </a:rPr>
                  <a:t> </a:t>
                </a:r>
              </a:p>
              <a:p>
                <a:pPr marL="0" indent="0" algn="just">
                  <a:lnSpc>
                    <a:spcPct val="150000"/>
                  </a:lnSpc>
                  <a:buNone/>
                </a:pPr>
                <a:endParaRPr lang="en-US" sz="2300" b="1" dirty="0">
                  <a:effectLst/>
                  <a:latin typeface="Bookman Old Style" pitchFamily="18" charset="0"/>
                  <a:cs typeface="Times New Roman"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415BF1C3-F3E9-6FD8-6CE5-07B05638BA1C}"/>
                  </a:ext>
                </a:extLst>
              </p:cNvPr>
              <p:cNvSpPr>
                <a:spLocks noGrp="1" noRot="1" noChangeAspect="1" noMove="1" noResize="1" noEditPoints="1" noAdjustHandles="1" noChangeArrowheads="1" noChangeShapeType="1" noTextEdit="1"/>
              </p:cNvSpPr>
              <p:nvPr>
                <p:ph sz="half" idx="2"/>
              </p:nvPr>
            </p:nvSpPr>
            <p:spPr>
              <a:xfrm>
                <a:off x="168165" y="1777384"/>
                <a:ext cx="6358759" cy="4612530"/>
              </a:xfrm>
              <a:blipFill>
                <a:blip r:embed="rId2"/>
                <a:stretch>
                  <a:fillRect l="-1438" r="-1342"/>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7034215" y="953472"/>
            <a:ext cx="5183188" cy="823912"/>
          </a:xfrm>
        </p:spPr>
        <p:txBody>
          <a:bodyPr/>
          <a:lstStyle/>
          <a:p>
            <a:r>
              <a:rPr lang="en-US" dirty="0"/>
              <a:t>Solution</a:t>
            </a:r>
          </a:p>
        </p:txBody>
      </p:sp>
    </p:spTree>
    <p:extLst>
      <p:ext uri="{BB962C8B-B14F-4D97-AF65-F5344CB8AC3E}">
        <p14:creationId xmlns:p14="http://schemas.microsoft.com/office/powerpoint/2010/main" val="810761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4B3E8-E0CD-7B97-6FF7-40D48EBB75BC}"/>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9A14868-9A79-9652-CC17-540D4DA114AB}"/>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EA54D7A1-BF21-2176-2624-5AD1DBF7BDCB}"/>
                  </a:ext>
                </a:extLst>
              </p:cNvPr>
              <p:cNvSpPr>
                <a:spLocks noGrp="1"/>
              </p:cNvSpPr>
              <p:nvPr>
                <p:ph sz="half" idx="2"/>
              </p:nvPr>
            </p:nvSpPr>
            <p:spPr>
              <a:xfrm>
                <a:off x="168165" y="1777384"/>
                <a:ext cx="6358759" cy="3684588"/>
              </a:xfrm>
            </p:spPr>
            <p:txBody>
              <a:bodyPr>
                <a:normAutofit/>
              </a:bodyPr>
              <a:lstStyle/>
              <a:p>
                <a:pPr marL="0" indent="0" algn="just">
                  <a:lnSpc>
                    <a:spcPct val="150000"/>
                  </a:lnSpc>
                  <a:buNone/>
                </a:pPr>
                <a:r>
                  <a:rPr lang="en-US" sz="2300" b="1" dirty="0">
                    <a:effectLst/>
                    <a:latin typeface="Bookman Old Style" pitchFamily="18" charset="0"/>
                    <a:cs typeface="Times New Roman" pitchFamily="18" charset="0"/>
                  </a:rPr>
                  <a:t>Two dice, one blue and one orange, are rolled simultaneously. Find the probability of getting  Prime numbers on both</a:t>
                </a:r>
              </a:p>
              <a:p>
                <a:pPr marL="0" indent="0" algn="just">
                  <a:lnSpc>
                    <a:spcPct val="150000"/>
                  </a:lnSpc>
                  <a:buNone/>
                </a:pPr>
                <a:r>
                  <a:rPr lang="en-US" sz="2300" b="1" dirty="0">
                    <a:effectLst/>
                    <a:latin typeface="Bookman Old Style" pitchFamily="18" charset="0"/>
                    <a:cs typeface="Times New Roman" pitchFamily="18" charset="0"/>
                  </a:rPr>
                  <a:t>       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𝟓</m:t>
                        </m:r>
                      </m:num>
                      <m:den>
                        <m:r>
                          <a:rPr lang="en-US" sz="2300" b="1" i="1">
                            <a:effectLst/>
                            <a:latin typeface="Cambria Math"/>
                            <a:cs typeface="Times New Roman" panose="02020603050405020304" pitchFamily="18" charset="0"/>
                          </a:rPr>
                          <m:t>𝟔</m:t>
                        </m:r>
                      </m:den>
                    </m:f>
                  </m:oMath>
                </a14:m>
                <a:r>
                  <a:rPr lang="en-US" sz="2300" b="1" dirty="0">
                    <a:effectLst/>
                    <a:latin typeface="Bookman Old Style" pitchFamily="18" charset="0"/>
                    <a:cs typeface="Times New Roman" pitchFamily="18" charset="0"/>
                  </a:rPr>
                  <a:t>       b.</a:t>
                </a:r>
                <a:r>
                  <a:rPr lang="en-IN" sz="2300" b="1" dirty="0">
                    <a:effectLst/>
                    <a:latin typeface="Bookman Old Style" pitchFamily="18" charset="0"/>
                    <a:cs typeface="Times New Roman" pitchFamily="18" charset="0"/>
                  </a:rPr>
                  <a:t>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𝟔</m:t>
                        </m:r>
                      </m:den>
                    </m:f>
                  </m:oMath>
                </a14:m>
                <a:r>
                  <a:rPr lang="en-US" sz="2300" b="1" dirty="0">
                    <a:effectLst/>
                    <a:latin typeface="Bookman Old Style" pitchFamily="18" charset="0"/>
                    <a:cs typeface="Times New Roman" pitchFamily="18" charset="0"/>
                  </a:rPr>
                  <a:t>          c.</a:t>
                </a:r>
                <a:r>
                  <a:rPr lang="en-IN" sz="2300" b="1" dirty="0">
                    <a:effectLst/>
                    <a:latin typeface="Bookman Old Style" pitchFamily="18" charset="0"/>
                    <a:cs typeface="Times New Roman" pitchFamily="18" charset="0"/>
                  </a:rPr>
                  <a:t>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𝟑</m:t>
                        </m:r>
                      </m:den>
                    </m:f>
                  </m:oMath>
                </a14:m>
                <a:r>
                  <a:rPr lang="en-US" sz="2300" b="1" dirty="0">
                    <a:effectLst/>
                    <a:latin typeface="Bookman Old Style" pitchFamily="18" charset="0"/>
                    <a:cs typeface="Times New Roman" pitchFamily="18" charset="0"/>
                  </a:rPr>
                  <a:t>        d.</a:t>
                </a:r>
                <a:r>
                  <a:rPr lang="en-IN" sz="2300" b="1" dirty="0">
                    <a:effectLst/>
                    <a:latin typeface="Bookman Old Style" pitchFamily="18" charset="0"/>
                    <a:cs typeface="Times New Roman" pitchFamily="18" charset="0"/>
                  </a:rPr>
                  <a:t>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𝟒</m:t>
                        </m:r>
                      </m:den>
                    </m:f>
                  </m:oMath>
                </a14:m>
                <a:endParaRPr lang="en-IN" sz="2300" b="1" dirty="0">
                  <a:effectLst/>
                  <a:latin typeface="Bookman Old Style" pitchFamily="18"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EA54D7A1-BF21-2176-2624-5AD1DBF7BDCB}"/>
                  </a:ext>
                </a:extLst>
              </p:cNvPr>
              <p:cNvSpPr>
                <a:spLocks noGrp="1" noRot="1" noChangeAspect="1" noMove="1" noResize="1" noEditPoints="1" noAdjustHandles="1" noChangeArrowheads="1" noChangeShapeType="1" noTextEdit="1"/>
              </p:cNvSpPr>
              <p:nvPr>
                <p:ph sz="half" idx="2"/>
              </p:nvPr>
            </p:nvSpPr>
            <p:spPr>
              <a:xfrm>
                <a:off x="168165" y="1777384"/>
                <a:ext cx="6358759" cy="3684588"/>
              </a:xfrm>
              <a:blipFill>
                <a:blip r:embed="rId2"/>
                <a:stretch>
                  <a:fillRect l="-1438" r="-1342"/>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669B039F-8A7C-39E0-B8DF-33DFBFC23296}"/>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846144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76A9C1BA-92A8-9CE1-A78F-8575BC7AC255}"/>
              </a:ext>
            </a:extLst>
          </p:cNvPr>
          <p:cNvSpPr>
            <a:spLocks noGrp="1"/>
          </p:cNvSpPr>
          <p:nvPr>
            <p:ph type="body" idx="1"/>
          </p:nvPr>
        </p:nvSpPr>
        <p:spPr>
          <a:xfrm>
            <a:off x="168164"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415BF1C3-F3E9-6FD8-6CE5-07B05638BA1C}"/>
                  </a:ext>
                </a:extLst>
              </p:cNvPr>
              <p:cNvSpPr>
                <a:spLocks noGrp="1"/>
              </p:cNvSpPr>
              <p:nvPr>
                <p:ph sz="half" idx="2"/>
              </p:nvPr>
            </p:nvSpPr>
            <p:spPr>
              <a:xfrm>
                <a:off x="168165" y="1777384"/>
                <a:ext cx="5157787"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 card is drawn from pack of 52 cards. The probability of getting</a:t>
                </a:r>
              </a:p>
              <a:p>
                <a:pPr marL="0" indent="0" algn="just">
                  <a:lnSpc>
                    <a:spcPct val="150000"/>
                  </a:lnSpc>
                  <a:buNone/>
                </a:pPr>
                <a:r>
                  <a:rPr lang="en-IN" sz="2300" b="1" dirty="0">
                    <a:effectLst/>
                    <a:latin typeface="Bookman Old Style" pitchFamily="18" charset="0"/>
                    <a:cs typeface="Times New Roman" panose="02020603050405020304" pitchFamily="18" charset="0"/>
                  </a:rPr>
                  <a:t>diamond’s king</a:t>
                </a:r>
              </a:p>
              <a:p>
                <a:pPr marL="0" indent="0" algn="just">
                  <a:lnSpc>
                    <a:spcPct val="150000"/>
                  </a:lnSpc>
                  <a:buNone/>
                </a:pPr>
                <a:r>
                  <a:rPr lang="en-IN" sz="2300" b="1" dirty="0">
                    <a:effectLst/>
                    <a:latin typeface="Bookman Old Style" pitchFamily="18" charset="0"/>
                    <a:cs typeface="Times New Roman" panose="02020603050405020304" pitchFamily="18" charset="0"/>
                  </a:rPr>
                  <a:t> 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𝟔</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𝟐</m:t>
                        </m:r>
                      </m:den>
                    </m:f>
                  </m:oMath>
                </a14:m>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𝟓𝟐</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𝟒</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415BF1C3-F3E9-6FD8-6CE5-07B05638BA1C}"/>
                  </a:ext>
                </a:extLst>
              </p:cNvPr>
              <p:cNvSpPr>
                <a:spLocks noGrp="1" noRot="1" noChangeAspect="1" noMove="1" noResize="1" noEditPoints="1" noAdjustHandles="1" noChangeArrowheads="1" noChangeShapeType="1" noTextEdit="1"/>
              </p:cNvSpPr>
              <p:nvPr>
                <p:ph sz="half" idx="2"/>
              </p:nvPr>
            </p:nvSpPr>
            <p:spPr>
              <a:xfrm>
                <a:off x="168165" y="1777384"/>
                <a:ext cx="5157787" cy="4389500"/>
              </a:xfrm>
              <a:blipFill>
                <a:blip r:embed="rId2"/>
                <a:stretch>
                  <a:fillRect l="-1773" r="-1655"/>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1EB09269-D605-F281-341B-B564D61DC8E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515686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08AF4-CE96-843E-271B-4DC093F26076}"/>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7987D97-06B9-659C-30C8-4D0A8E850EB1}"/>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B448C6BA-AA2C-2640-1B24-B0EA17A24CE8}"/>
                  </a:ext>
                </a:extLst>
              </p:cNvPr>
              <p:cNvSpPr>
                <a:spLocks noGrp="1"/>
              </p:cNvSpPr>
              <p:nvPr>
                <p:ph sz="half" idx="2"/>
              </p:nvPr>
            </p:nvSpPr>
            <p:spPr>
              <a:xfrm>
                <a:off x="168165" y="1777384"/>
                <a:ext cx="5157787"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 card is drawn from pack of 52 cards. The probability of getting</a:t>
                </a:r>
              </a:p>
              <a:p>
                <a:pPr marL="0" indent="0" algn="just">
                  <a:lnSpc>
                    <a:spcPct val="150000"/>
                  </a:lnSpc>
                  <a:buNone/>
                </a:pPr>
                <a:r>
                  <a:rPr lang="en-IN" sz="2300" b="1" dirty="0">
                    <a:effectLst/>
                    <a:latin typeface="Bookman Old Style" pitchFamily="18" charset="0"/>
                    <a:cs typeface="Times New Roman" panose="02020603050405020304" pitchFamily="18" charset="0"/>
                  </a:rPr>
                  <a:t>A queen of club or a king of heart</a:t>
                </a:r>
              </a:p>
              <a:p>
                <a:pPr marL="0" indent="0" algn="just">
                  <a:lnSpc>
                    <a:spcPct val="150000"/>
                  </a:lnSpc>
                  <a:buNone/>
                </a:pPr>
                <a:r>
                  <a:rPr lang="en-IN" sz="2300" b="1" dirty="0">
                    <a:effectLst/>
                    <a:latin typeface="Bookman Old Style" pitchFamily="18" charset="0"/>
                    <a:cs typeface="Times New Roman" panose="02020603050405020304" pitchFamily="18" charset="0"/>
                  </a:rPr>
                  <a:t>a.</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𝟏𝟐</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𝟏𝟒</m:t>
                        </m:r>
                      </m:den>
                    </m:f>
                  </m:oMath>
                </a14:m>
                <a:r>
                  <a:rPr lang="en-IN" sz="2300" b="1" dirty="0">
                    <a:effectLst/>
                    <a:latin typeface="Bookman Old Style" pitchFamily="18" charset="0"/>
                    <a:cs typeface="Times New Roman" panose="02020603050405020304" pitchFamily="18" charset="0"/>
                  </a:rPr>
                  <a:t>         </a:t>
                </a:r>
              </a:p>
              <a:p>
                <a:pPr marL="0" indent="0" algn="just">
                  <a:lnSpc>
                    <a:spcPct val="150000"/>
                  </a:lnSpc>
                  <a:buNone/>
                </a:pPr>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𝟐𝟔</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𝟓𝟐</m:t>
                        </m:r>
                      </m:den>
                    </m:f>
                  </m:oMath>
                </a14:m>
                <a:r>
                  <a:rPr lang="en-IN" sz="2300" b="1" dirty="0">
                    <a:effectLst/>
                    <a:latin typeface="Bookman Old Style" pitchFamily="18" charset="0"/>
                    <a:cs typeface="Times New Roman" panose="02020603050405020304" pitchFamily="18" charset="0"/>
                  </a:rPr>
                  <a:t> </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B448C6BA-AA2C-2640-1B24-B0EA17A24CE8}"/>
                  </a:ext>
                </a:extLst>
              </p:cNvPr>
              <p:cNvSpPr>
                <a:spLocks noGrp="1" noRot="1" noChangeAspect="1" noMove="1" noResize="1" noEditPoints="1" noAdjustHandles="1" noChangeArrowheads="1" noChangeShapeType="1" noTextEdit="1"/>
              </p:cNvSpPr>
              <p:nvPr>
                <p:ph sz="half" idx="2"/>
              </p:nvPr>
            </p:nvSpPr>
            <p:spPr>
              <a:xfrm>
                <a:off x="168165" y="1777384"/>
                <a:ext cx="5157787" cy="4389500"/>
              </a:xfrm>
              <a:blipFill>
                <a:blip r:embed="rId2"/>
                <a:stretch>
                  <a:fillRect l="-1773" r="-1655"/>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437CFF51-FCCC-1C99-1601-B8F775BF8B09}"/>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24317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E3A1E-6256-15FD-30F5-FBA7AD479969}"/>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C9C8D5B-B497-78E9-0FAB-F8E479C62A6E}"/>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56F6DD1F-29C3-62A0-9D4A-0670F23AF6F0}"/>
                  </a:ext>
                </a:extLst>
              </p:cNvPr>
              <p:cNvSpPr>
                <a:spLocks noGrp="1"/>
              </p:cNvSpPr>
              <p:nvPr>
                <p:ph sz="half" idx="2"/>
              </p:nvPr>
            </p:nvSpPr>
            <p:spPr>
              <a:xfrm>
                <a:off x="168165" y="1777384"/>
                <a:ext cx="5157787"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 card is drawn from pack of 52 cards. The probability of getting</a:t>
                </a:r>
              </a:p>
              <a:p>
                <a:pPr marL="0" indent="0" algn="just">
                  <a:lnSpc>
                    <a:spcPct val="150000"/>
                  </a:lnSpc>
                  <a:buNone/>
                </a:pPr>
                <a:r>
                  <a:rPr lang="en-IN" sz="2300" b="1" dirty="0">
                    <a:effectLst/>
                    <a:latin typeface="Bookman Old Style" pitchFamily="18" charset="0"/>
                    <a:cs typeface="Times New Roman" panose="02020603050405020304" pitchFamily="18" charset="0"/>
                  </a:rPr>
                  <a:t>Face card</a:t>
                </a:r>
              </a:p>
              <a:p>
                <a:pPr marL="0" indent="0" algn="just">
                  <a:lnSpc>
                    <a:spcPct val="150000"/>
                  </a:lnSpc>
                  <a:buNone/>
                </a:pPr>
                <a:r>
                  <a:rPr lang="en-IN" sz="2300" b="1" dirty="0">
                    <a:effectLst/>
                    <a:cs typeface="Times New Roman" panose="02020603050405020304" pitchFamily="18" charset="0"/>
                  </a:rPr>
                  <a:t>  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𝟑</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𝟔</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𝟖</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𝟓</m:t>
                        </m:r>
                      </m:num>
                      <m:den>
                        <m:r>
                          <a:rPr lang="en-US" sz="2300" b="1" i="1">
                            <a:effectLst/>
                            <a:latin typeface="Cambria Math"/>
                            <a:cs typeface="Times New Roman" panose="02020603050405020304" pitchFamily="18" charset="0"/>
                          </a:rPr>
                          <m:t>𝟔</m:t>
                        </m:r>
                      </m:den>
                    </m:f>
                  </m:oMath>
                </a14:m>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56F6DD1F-29C3-62A0-9D4A-0670F23AF6F0}"/>
                  </a:ext>
                </a:extLst>
              </p:cNvPr>
              <p:cNvSpPr>
                <a:spLocks noGrp="1" noRot="1" noChangeAspect="1" noMove="1" noResize="1" noEditPoints="1" noAdjustHandles="1" noChangeArrowheads="1" noChangeShapeType="1" noTextEdit="1"/>
              </p:cNvSpPr>
              <p:nvPr>
                <p:ph sz="half" idx="2"/>
              </p:nvPr>
            </p:nvSpPr>
            <p:spPr>
              <a:xfrm>
                <a:off x="168165" y="1777384"/>
                <a:ext cx="5157787" cy="4389500"/>
              </a:xfrm>
              <a:blipFill>
                <a:blip r:embed="rId2"/>
                <a:stretch>
                  <a:fillRect l="-1773" r="-1655"/>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91470FC2-85DB-8568-E023-5AB83B03852E}"/>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4002893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CC304-4842-C7AD-E34A-59288B077782}"/>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B89E084C-3836-5AE1-78CD-8E6A4025E3A0}"/>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11EC7952-7B65-C22C-3BCF-DD2F018E011E}"/>
                  </a:ext>
                </a:extLst>
              </p:cNvPr>
              <p:cNvSpPr>
                <a:spLocks noGrp="1"/>
              </p:cNvSpPr>
              <p:nvPr>
                <p:ph sz="half" idx="2"/>
              </p:nvPr>
            </p:nvSpPr>
            <p:spPr>
              <a:xfrm>
                <a:off x="168165" y="1777384"/>
                <a:ext cx="5157787"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 card is drawn from pack of 52 cards. The probability of getting</a:t>
                </a:r>
              </a:p>
              <a:p>
                <a:pPr marL="0" indent="0" algn="just">
                  <a:lnSpc>
                    <a:spcPct val="150000"/>
                  </a:lnSpc>
                  <a:buNone/>
                </a:pPr>
                <a:r>
                  <a:rPr lang="en-IN" sz="2300" b="1" dirty="0">
                    <a:effectLst/>
                    <a:latin typeface="Bookman Old Style" pitchFamily="18" charset="0"/>
                    <a:cs typeface="Times New Roman" panose="02020603050405020304" pitchFamily="18" charset="0"/>
                  </a:rPr>
                  <a:t>Either heart’s card or kings</a:t>
                </a:r>
              </a:p>
              <a:p>
                <a:pPr marL="0" indent="0" algn="just">
                  <a:lnSpc>
                    <a:spcPct val="150000"/>
                  </a:lnSpc>
                  <a:buNone/>
                </a:pPr>
                <a:r>
                  <a:rPr lang="en-IN" sz="2300" b="1" dirty="0">
                    <a:effectLst/>
                    <a:latin typeface="Bookman Old Style" pitchFamily="18" charset="0"/>
                    <a:cs typeface="Times New Roman" panose="02020603050405020304" pitchFamily="18" charset="0"/>
                  </a:rPr>
                  <a:t>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𝟑</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𝟔</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𝟖</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𝟒</m:t>
                        </m:r>
                      </m:num>
                      <m:den>
                        <m:r>
                          <a:rPr lang="en-US" sz="2300" b="1" i="1">
                            <a:effectLst/>
                            <a:latin typeface="Cambria Math"/>
                            <a:cs typeface="Times New Roman" panose="02020603050405020304" pitchFamily="18" charset="0"/>
                          </a:rPr>
                          <m:t>𝟏𝟑</m:t>
                        </m:r>
                      </m:den>
                    </m:f>
                  </m:oMath>
                </a14:m>
                <a:endParaRPr lang="en-IN" sz="2300" b="1" dirty="0">
                  <a:effectLst/>
                  <a:latin typeface="Bookman Old Style" pitchFamily="18" charset="0"/>
                  <a:cs typeface="Times New Roman" panose="02020603050405020304" pitchFamily="18" charset="0"/>
                </a:endParaRP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11EC7952-7B65-C22C-3BCF-DD2F018E011E}"/>
                  </a:ext>
                </a:extLst>
              </p:cNvPr>
              <p:cNvSpPr>
                <a:spLocks noGrp="1" noRot="1" noChangeAspect="1" noMove="1" noResize="1" noEditPoints="1" noAdjustHandles="1" noChangeArrowheads="1" noChangeShapeType="1" noTextEdit="1"/>
              </p:cNvSpPr>
              <p:nvPr>
                <p:ph sz="half" idx="2"/>
              </p:nvPr>
            </p:nvSpPr>
            <p:spPr>
              <a:xfrm>
                <a:off x="168165" y="1777384"/>
                <a:ext cx="5157787" cy="4389500"/>
              </a:xfrm>
              <a:blipFill>
                <a:blip r:embed="rId2"/>
                <a:stretch>
                  <a:fillRect l="-1773" r="-1655"/>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7737D3FB-6C03-421E-2EC5-ACF1C0804CC8}"/>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985072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8BFD7-4B80-A856-5DB2-BDCC99E659F5}"/>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F5369F6E-EB2D-D680-26EA-53DB9FCC310F}"/>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5F5AA87B-2C61-BBE2-B645-531DB5E51AFA}"/>
                  </a:ext>
                </a:extLst>
              </p:cNvPr>
              <p:cNvSpPr>
                <a:spLocks noGrp="1"/>
              </p:cNvSpPr>
              <p:nvPr>
                <p:ph sz="half" idx="2"/>
              </p:nvPr>
            </p:nvSpPr>
            <p:spPr>
              <a:xfrm>
                <a:off x="168165" y="1777384"/>
                <a:ext cx="5157787"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 card is drawn from pack of 52 cards. The probability of getting</a:t>
                </a:r>
              </a:p>
              <a:p>
                <a:pPr marL="0" indent="0" algn="just">
                  <a:lnSpc>
                    <a:spcPct val="150000"/>
                  </a:lnSpc>
                  <a:buNone/>
                </a:pPr>
                <a:r>
                  <a:rPr lang="en-IN" sz="2300" b="1" dirty="0">
                    <a:effectLst/>
                    <a:latin typeface="Bookman Old Style" pitchFamily="18" charset="0"/>
                    <a:cs typeface="Times New Roman" panose="02020603050405020304" pitchFamily="18" charset="0"/>
                  </a:rPr>
                  <a:t>a card having prime number</a:t>
                </a:r>
              </a:p>
              <a:p>
                <a:pPr marL="0" indent="0" algn="just">
                  <a:lnSpc>
                    <a:spcPct val="150000"/>
                  </a:lnSpc>
                  <a:buNone/>
                </a:pPr>
                <a:r>
                  <a:rPr lang="en-IN" sz="2300" b="1" dirty="0">
                    <a:effectLst/>
                    <a:latin typeface="Bookman Old Style" pitchFamily="18" charset="0"/>
                    <a:cs typeface="Times New Roman" panose="02020603050405020304" pitchFamily="18" charset="0"/>
                  </a:rPr>
                  <a:t>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𝟑</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𝟔</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𝟖</m:t>
                        </m:r>
                      </m:num>
                      <m:den>
                        <m:r>
                          <a:rPr lang="en-US" sz="2300" b="1" i="1">
                            <a:effectLst/>
                            <a:latin typeface="Cambria Math"/>
                            <a:cs typeface="Times New Roman" panose="02020603050405020304" pitchFamily="18" charset="0"/>
                          </a:rPr>
                          <m:t>𝟏𝟑</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𝟒</m:t>
                        </m:r>
                      </m:num>
                      <m:den>
                        <m:r>
                          <a:rPr lang="en-US" sz="2300" b="1" i="1">
                            <a:effectLst/>
                            <a:latin typeface="Cambria Math"/>
                            <a:cs typeface="Times New Roman" panose="02020603050405020304" pitchFamily="18" charset="0"/>
                          </a:rPr>
                          <m:t>𝟏𝟑</m:t>
                        </m:r>
                      </m:den>
                    </m:f>
                  </m:oMath>
                </a14:m>
                <a:endParaRPr lang="en-IN" sz="2300" b="1" dirty="0">
                  <a:effectLst/>
                  <a:latin typeface="Bookman Old Style" pitchFamily="18" charset="0"/>
                  <a:cs typeface="Times New Roman" panose="02020603050405020304" pitchFamily="18" charset="0"/>
                </a:endParaRP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5F5AA87B-2C61-BBE2-B645-531DB5E51AFA}"/>
                  </a:ext>
                </a:extLst>
              </p:cNvPr>
              <p:cNvSpPr>
                <a:spLocks noGrp="1" noRot="1" noChangeAspect="1" noMove="1" noResize="1" noEditPoints="1" noAdjustHandles="1" noChangeArrowheads="1" noChangeShapeType="1" noTextEdit="1"/>
              </p:cNvSpPr>
              <p:nvPr>
                <p:ph sz="half" idx="2"/>
              </p:nvPr>
            </p:nvSpPr>
            <p:spPr>
              <a:xfrm>
                <a:off x="168165" y="1777384"/>
                <a:ext cx="5157787" cy="4389500"/>
              </a:xfrm>
              <a:blipFill>
                <a:blip r:embed="rId2"/>
                <a:stretch>
                  <a:fillRect l="-1773" r="-1655"/>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5DA294C6-C6F4-1F36-4E7D-6F22B9AFFEE3}"/>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704373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19078-DD0F-A3F7-16DB-8A24D2DF0FCA}"/>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44B6E607-64E2-9C35-D705-7BCD859CCA4D}"/>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EE4617B6-4B2D-A695-1938-220B7B33F527}"/>
                  </a:ext>
                </a:extLst>
              </p:cNvPr>
              <p:cNvSpPr>
                <a:spLocks noGrp="1"/>
              </p:cNvSpPr>
              <p:nvPr>
                <p:ph sz="half" idx="2"/>
              </p:nvPr>
            </p:nvSpPr>
            <p:spPr>
              <a:xfrm>
                <a:off x="168165" y="1777384"/>
                <a:ext cx="5625493"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Anil placed a deck of 52 cards. If you pick 2 cards what is the probability that Both are Aces</a:t>
                </a:r>
              </a:p>
              <a:p>
                <a:pPr marL="0" indent="0" algn="just">
                  <a:lnSpc>
                    <a:spcPct val="150000"/>
                  </a:lnSpc>
                  <a:buNone/>
                </a:pPr>
                <a:r>
                  <a:rPr lang="en-IN" sz="2300" b="1" dirty="0">
                    <a:effectLst/>
                    <a:latin typeface="Bookman Old Style" pitchFamily="18" charset="0"/>
                    <a:cs typeface="Times New Roman" panose="02020603050405020304" pitchFamily="18" charset="0"/>
                  </a:rPr>
                  <a:t>     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𝟑</m:t>
                        </m:r>
                      </m:num>
                      <m:den>
                        <m:r>
                          <a:rPr lang="en-US" sz="2300" b="1" i="1">
                            <a:effectLst/>
                            <a:latin typeface="Cambria Math"/>
                            <a:cs typeface="Times New Roman" panose="02020603050405020304" pitchFamily="18" charset="0"/>
                          </a:rPr>
                          <m:t>𝟐𝟐𝟏</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𝟒</m:t>
                        </m:r>
                      </m:num>
                      <m:den>
                        <m:r>
                          <a:rPr lang="en-US" sz="2300" b="1" i="1">
                            <a:effectLst/>
                            <a:latin typeface="Cambria Math"/>
                            <a:cs typeface="Times New Roman" panose="02020603050405020304" pitchFamily="18" charset="0"/>
                          </a:rPr>
                          <m:t>𝟐𝟐𝟏</m:t>
                        </m:r>
                      </m:den>
                    </m:f>
                  </m:oMath>
                </a14:m>
                <a:r>
                  <a:rPr lang="en-IN" sz="2300" b="1" dirty="0">
                    <a:effectLst/>
                    <a:latin typeface="Bookman Old Style" pitchFamily="18" charset="0"/>
                    <a:cs typeface="Times New Roman" panose="02020603050405020304" pitchFamily="18" charset="0"/>
                  </a:rPr>
                  <a:t>    </a:t>
                </a:r>
              </a:p>
              <a:p>
                <a:pPr marL="0" indent="0" algn="just">
                  <a:lnSpc>
                    <a:spcPct val="150000"/>
                  </a:lnSpc>
                  <a:buNone/>
                </a:pPr>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𝟐</m:t>
                        </m:r>
                      </m:num>
                      <m:den>
                        <m:r>
                          <a:rPr lang="en-US" sz="2300" b="1" i="1">
                            <a:effectLst/>
                            <a:latin typeface="Cambria Math"/>
                            <a:cs typeface="Times New Roman" panose="02020603050405020304" pitchFamily="18" charset="0"/>
                          </a:rPr>
                          <m:t>𝟐𝟐𝟏</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𝟐𝟐𝟏</m:t>
                        </m:r>
                      </m:den>
                    </m:f>
                  </m:oMath>
                </a14:m>
                <a:endParaRPr lang="en-US" sz="2300" b="1" dirty="0">
                  <a:effectLst/>
                  <a:latin typeface="Bookman Old Style" pitchFamily="18" charset="0"/>
                  <a:cs typeface="Times New Roman" panose="02020603050405020304" pitchFamily="18" charset="0"/>
                </a:endParaRPr>
              </a:p>
              <a:p>
                <a:pPr marL="0" indent="0" algn="just">
                  <a:lnSpc>
                    <a:spcPct val="150000"/>
                  </a:lnSpc>
                  <a:buNone/>
                </a:pPr>
                <a:r>
                  <a:rPr lang="en-IN" sz="2300" b="1" dirty="0">
                    <a:effectLst/>
                    <a:latin typeface="Bookman Old Style" pitchFamily="18" charset="0"/>
                    <a:cs typeface="Times New Roman" panose="02020603050405020304" pitchFamily="18" charset="0"/>
                  </a:rPr>
                  <a:t> </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EE4617B6-4B2D-A695-1938-220B7B33F527}"/>
                  </a:ext>
                </a:extLst>
              </p:cNvPr>
              <p:cNvSpPr>
                <a:spLocks noGrp="1" noRot="1" noChangeAspect="1" noMove="1" noResize="1" noEditPoints="1" noAdjustHandles="1" noChangeArrowheads="1" noChangeShapeType="1" noTextEdit="1"/>
              </p:cNvSpPr>
              <p:nvPr>
                <p:ph sz="half" idx="2"/>
              </p:nvPr>
            </p:nvSpPr>
            <p:spPr>
              <a:xfrm>
                <a:off x="168165" y="1777384"/>
                <a:ext cx="5625493" cy="4389500"/>
              </a:xfrm>
              <a:blipFill>
                <a:blip r:embed="rId2"/>
                <a:stretch>
                  <a:fillRect l="-1627" r="-1627"/>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B4823B09-4774-9A31-CB5C-450D1103DF38}"/>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048564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6B54C-AE7B-4A18-D8E1-F53EC4BDBBE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0DD489AD-26F5-DB6D-3BF4-8B8E443DD355}"/>
              </a:ext>
            </a:extLst>
          </p:cNvPr>
          <p:cNvSpPr>
            <a:spLocks noGrp="1"/>
          </p:cNvSpPr>
          <p:nvPr>
            <p:ph type="body" idx="1"/>
          </p:nvPr>
        </p:nvSpPr>
        <p:spPr>
          <a:xfrm>
            <a:off x="0" y="953472"/>
            <a:ext cx="5157787" cy="823912"/>
          </a:xfrm>
        </p:spPr>
        <p:txBody>
          <a:bodyPr/>
          <a:lstStyle/>
          <a:p>
            <a:r>
              <a:rPr lang="en-US" dirty="0"/>
              <a:t>Question</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2EB8B609-8ACC-1B21-76BE-C18C8DB982B8}"/>
                  </a:ext>
                </a:extLst>
              </p:cNvPr>
              <p:cNvSpPr>
                <a:spLocks noGrp="1"/>
              </p:cNvSpPr>
              <p:nvPr>
                <p:ph sz="half" idx="2"/>
              </p:nvPr>
            </p:nvSpPr>
            <p:spPr>
              <a:xfrm>
                <a:off x="342337" y="1777384"/>
                <a:ext cx="5157787"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Anil placed a deck of 52 cards. If you pick 2 cards what is the probability that Both are kings (without replacement)</a:t>
                </a:r>
              </a:p>
              <a:p>
                <a:pPr marL="0" indent="0" algn="just">
                  <a:lnSpc>
                    <a:spcPct val="150000"/>
                  </a:lnSpc>
                  <a:buNone/>
                </a:pPr>
                <a:r>
                  <a:rPr lang="en-IN" sz="2300" b="1" dirty="0">
                    <a:effectLst/>
                    <a:latin typeface="Bookman Old Style" pitchFamily="18" charset="0"/>
                    <a:cs typeface="Times New Roman" panose="02020603050405020304" pitchFamily="18" charset="0"/>
                  </a:rPr>
                  <a:t>     a.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𝟑</m:t>
                        </m:r>
                      </m:num>
                      <m:den>
                        <m:r>
                          <a:rPr lang="en-US" sz="2300" b="1" i="1">
                            <a:effectLst/>
                            <a:latin typeface="Cambria Math"/>
                            <a:cs typeface="Times New Roman" panose="02020603050405020304" pitchFamily="18" charset="0"/>
                          </a:rPr>
                          <m:t>𝟐𝟐𝟏</m:t>
                        </m:r>
                      </m:den>
                    </m:f>
                  </m:oMath>
                </a14:m>
                <a:r>
                  <a:rPr lang="en-IN" sz="2300" b="1" dirty="0">
                    <a:effectLst/>
                    <a:latin typeface="Bookman Old Style" pitchFamily="18" charset="0"/>
                    <a:cs typeface="Times New Roman" panose="02020603050405020304" pitchFamily="18" charset="0"/>
                  </a:rPr>
                  <a:t>                 b.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𝟒</m:t>
                        </m:r>
                      </m:num>
                      <m:den>
                        <m:r>
                          <a:rPr lang="en-US" sz="2300" b="1" i="1">
                            <a:effectLst/>
                            <a:latin typeface="Cambria Math"/>
                            <a:cs typeface="Times New Roman" panose="02020603050405020304" pitchFamily="18" charset="0"/>
                          </a:rPr>
                          <m:t>𝟐𝟐𝟏</m:t>
                        </m:r>
                      </m:den>
                    </m:f>
                  </m:oMath>
                </a14:m>
                <a:r>
                  <a:rPr lang="en-IN" sz="2300" b="1" dirty="0">
                    <a:effectLst/>
                    <a:latin typeface="Bookman Old Style" pitchFamily="18" charset="0"/>
                    <a:cs typeface="Times New Roman" panose="02020603050405020304" pitchFamily="18" charset="0"/>
                  </a:rPr>
                  <a:t>  </a:t>
                </a:r>
              </a:p>
              <a:p>
                <a:pPr marL="0" indent="0" algn="just">
                  <a:lnSpc>
                    <a:spcPct val="150000"/>
                  </a:lnSpc>
                  <a:buNone/>
                </a:pPr>
                <a:r>
                  <a:rPr lang="en-IN" sz="2300" b="1" dirty="0">
                    <a:effectLst/>
                    <a:latin typeface="Bookman Old Style" pitchFamily="18" charset="0"/>
                    <a:cs typeface="Times New Roman" panose="02020603050405020304" pitchFamily="18" charset="0"/>
                  </a:rPr>
                  <a:t>    c.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𝟐</m:t>
                        </m:r>
                      </m:num>
                      <m:den>
                        <m:r>
                          <a:rPr lang="en-US" sz="2300" b="1" i="1">
                            <a:effectLst/>
                            <a:latin typeface="Cambria Math"/>
                            <a:cs typeface="Times New Roman" panose="02020603050405020304" pitchFamily="18" charset="0"/>
                          </a:rPr>
                          <m:t>𝟐𝟐𝟏</m:t>
                        </m:r>
                      </m:den>
                    </m:f>
                  </m:oMath>
                </a14:m>
                <a:r>
                  <a:rPr lang="en-IN" sz="2300" b="1" dirty="0">
                    <a:effectLst/>
                    <a:latin typeface="Bookman Old Style" pitchFamily="18" charset="0"/>
                    <a:cs typeface="Times New Roman" panose="02020603050405020304" pitchFamily="18" charset="0"/>
                  </a:rPr>
                  <a:t>                d.  </a:t>
                </a:r>
                <a14:m>
                  <m:oMath xmlns:m="http://schemas.openxmlformats.org/officeDocument/2006/math">
                    <m:f>
                      <m:fPr>
                        <m:ctrlPr>
                          <a:rPr lang="en-IN" sz="2300" b="1" i="1">
                            <a:effectLst/>
                            <a:latin typeface="Cambria Math" panose="02040503050406030204" pitchFamily="18" charset="0"/>
                            <a:cs typeface="Times New Roman" panose="02020603050405020304" pitchFamily="18" charset="0"/>
                          </a:rPr>
                        </m:ctrlPr>
                      </m:fPr>
                      <m:num>
                        <m:r>
                          <a:rPr lang="en-US" sz="2300" b="1" i="1">
                            <a:effectLst/>
                            <a:latin typeface="Cambria Math"/>
                            <a:cs typeface="Times New Roman" panose="02020603050405020304" pitchFamily="18" charset="0"/>
                          </a:rPr>
                          <m:t>𝟏</m:t>
                        </m:r>
                      </m:num>
                      <m:den>
                        <m:r>
                          <a:rPr lang="en-US" sz="2300" b="1" i="1">
                            <a:effectLst/>
                            <a:latin typeface="Cambria Math"/>
                            <a:cs typeface="Times New Roman" panose="02020603050405020304" pitchFamily="18" charset="0"/>
                          </a:rPr>
                          <m:t>𝟐𝟐𝟏</m:t>
                        </m:r>
                      </m:den>
                    </m:f>
                  </m:oMath>
                </a14:m>
                <a:endParaRPr lang="en-IN" sz="2300" b="1" dirty="0">
                  <a:effectLst/>
                  <a:latin typeface="Bookman Old Style" pitchFamily="18" charset="0"/>
                  <a:cs typeface="Times New Roman" panose="02020603050405020304" pitchFamily="18" charset="0"/>
                </a:endParaRP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mc:Choice>
        <mc:Fallback xmlns="">
          <p:sp>
            <p:nvSpPr>
              <p:cNvPr id="11" name="Content Placeholder 10">
                <a:extLst>
                  <a:ext uri="{FF2B5EF4-FFF2-40B4-BE49-F238E27FC236}">
                    <a16:creationId xmlns:a16="http://schemas.microsoft.com/office/drawing/2014/main" id="{2EB8B609-8ACC-1B21-76BE-C18C8DB982B8}"/>
                  </a:ext>
                </a:extLst>
              </p:cNvPr>
              <p:cNvSpPr>
                <a:spLocks noGrp="1" noRot="1" noChangeAspect="1" noMove="1" noResize="1" noEditPoints="1" noAdjustHandles="1" noChangeArrowheads="1" noChangeShapeType="1" noTextEdit="1"/>
              </p:cNvSpPr>
              <p:nvPr>
                <p:ph sz="half" idx="2"/>
              </p:nvPr>
            </p:nvSpPr>
            <p:spPr>
              <a:xfrm>
                <a:off x="342337" y="1777384"/>
                <a:ext cx="5157787" cy="4389500"/>
              </a:xfrm>
              <a:blipFill>
                <a:blip r:embed="rId2"/>
                <a:stretch>
                  <a:fillRect l="-1655" r="-1773"/>
                </a:stretch>
              </a:blipFill>
            </p:spPr>
            <p:txBody>
              <a:bodyPr/>
              <a:lstStyle/>
              <a:p>
                <a:r>
                  <a:rPr lang="en-IN">
                    <a:noFill/>
                  </a:rPr>
                  <a:t> </a:t>
                </a:r>
              </a:p>
            </p:txBody>
          </p:sp>
        </mc:Fallback>
      </mc:AlternateContent>
      <p:sp>
        <p:nvSpPr>
          <p:cNvPr id="12" name="Text Placeholder 11">
            <a:extLst>
              <a:ext uri="{FF2B5EF4-FFF2-40B4-BE49-F238E27FC236}">
                <a16:creationId xmlns:a16="http://schemas.microsoft.com/office/drawing/2014/main" id="{F217A3B5-114C-D687-FBBC-AE501ED434C5}"/>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984083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0CDF0-FDE1-43F1-62C7-1654E367B6A1}"/>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E2B1C852-4611-6BAD-EFDA-33FD11F38F8C}"/>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32D4B57C-7831-470F-B6E6-B81B1731BE0B}"/>
              </a:ext>
            </a:extLst>
          </p:cNvPr>
          <p:cNvSpPr>
            <a:spLocks noGrp="1"/>
          </p:cNvSpPr>
          <p:nvPr>
            <p:ph sz="half" idx="2"/>
          </p:nvPr>
        </p:nvSpPr>
        <p:spPr>
          <a:xfrm>
            <a:off x="168165" y="1777384"/>
            <a:ext cx="5157787" cy="4389500"/>
          </a:xfrm>
        </p:spPr>
        <p:txBody>
          <a:bodyPr>
            <a:norm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A bag contains 8 white and 6 black balls. If we taken out two random balls from that bag , then find the probability that </a:t>
            </a:r>
          </a:p>
          <a:p>
            <a:pPr marL="0" indent="0" algn="just">
              <a:lnSpc>
                <a:spcPct val="150000"/>
              </a:lnSpc>
              <a:buNone/>
            </a:pPr>
            <a:r>
              <a:rPr lang="en-IN" sz="2200" b="1" dirty="0">
                <a:effectLst/>
                <a:latin typeface="Bookman Old Style" pitchFamily="18" charset="0"/>
                <a:cs typeface="Times New Roman" panose="02020603050405020304" pitchFamily="18" charset="0"/>
              </a:rPr>
              <a:t> They are of the same colour ?</a:t>
            </a:r>
          </a:p>
          <a:p>
            <a:pPr marL="0" indent="0" algn="just">
              <a:lnSpc>
                <a:spcPct val="150000"/>
              </a:lnSpc>
              <a:buNone/>
            </a:pPr>
            <a:r>
              <a:rPr lang="en-IN" sz="2200" b="1" dirty="0">
                <a:effectLst/>
                <a:latin typeface="Bookman Old Style" pitchFamily="18" charset="0"/>
                <a:cs typeface="Times New Roman" panose="02020603050405020304" pitchFamily="18" charset="0"/>
              </a:rPr>
              <a:t>       a.22/91         b. 28/91         </a:t>
            </a:r>
          </a:p>
          <a:p>
            <a:pPr marL="0" indent="0" algn="just">
              <a:lnSpc>
                <a:spcPct val="150000"/>
              </a:lnSpc>
              <a:buNone/>
            </a:pPr>
            <a:r>
              <a:rPr lang="en-IN" sz="2200" b="1" dirty="0">
                <a:effectLst/>
                <a:latin typeface="Bookman Old Style" pitchFamily="18" charset="0"/>
                <a:cs typeface="Times New Roman" panose="02020603050405020304" pitchFamily="18" charset="0"/>
              </a:rPr>
              <a:t>       c. 34/91     d. 43/91</a:t>
            </a:r>
          </a:p>
          <a:p>
            <a:pPr marL="0" indent="0" algn="just">
              <a:lnSpc>
                <a:spcPct val="150000"/>
              </a:lnSpc>
              <a:buNone/>
            </a:pPr>
            <a:endParaRPr lang="en-IN" sz="2200" b="1" dirty="0">
              <a:effectLst/>
              <a:latin typeface="Bookman Old Style" pitchFamily="18" charset="0"/>
              <a:cs typeface="Times New Roman" panose="02020603050405020304" pitchFamily="18" charset="0"/>
            </a:endParaRPr>
          </a:p>
          <a:p>
            <a:pPr marL="0" indent="0" algn="just">
              <a:lnSpc>
                <a:spcPct val="100000"/>
              </a:lnSpc>
              <a:buNone/>
            </a:pPr>
            <a:endParaRPr lang="en-IN" sz="22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98E83D9C-62CA-AD27-F1C0-B6120ED53FA7}"/>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519886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DE3E2-A376-526F-DA69-D56C1C9D78D9}"/>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0DD6FA22-046E-093D-C37D-0C27E524DEE0}"/>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51754F5E-73E4-AA91-B8A4-4144D1A2E568}"/>
              </a:ext>
            </a:extLst>
          </p:cNvPr>
          <p:cNvSpPr>
            <a:spLocks noGrp="1"/>
          </p:cNvSpPr>
          <p:nvPr>
            <p:ph sz="half" idx="2"/>
          </p:nvPr>
        </p:nvSpPr>
        <p:spPr>
          <a:xfrm>
            <a:off x="168165" y="1777384"/>
            <a:ext cx="5157787" cy="4389500"/>
          </a:xfrm>
        </p:spPr>
        <p:txBody>
          <a:bodyPr/>
          <a:lstStyle/>
          <a:p>
            <a:pPr marL="0" indent="0" algn="just">
              <a:lnSpc>
                <a:spcPct val="150000"/>
              </a:lnSpc>
              <a:buNone/>
            </a:pPr>
            <a:r>
              <a:rPr lang="en-IN" sz="2000" b="1" dirty="0">
                <a:latin typeface="Bookman Old Style" pitchFamily="18" charset="0"/>
                <a:cs typeface="Times New Roman" panose="02020603050405020304" pitchFamily="18" charset="0"/>
              </a:rPr>
              <a:t>A bag contains 8 white and 6 black balls. If we taken out two random balls from that bag , then find the probability that </a:t>
            </a:r>
          </a:p>
          <a:p>
            <a:pPr marL="0" indent="0" algn="just">
              <a:lnSpc>
                <a:spcPct val="150000"/>
              </a:lnSpc>
              <a:buNone/>
            </a:pPr>
            <a:r>
              <a:rPr lang="en-IN" sz="2000" b="1" dirty="0">
                <a:latin typeface="Bookman Old Style" pitchFamily="18" charset="0"/>
                <a:cs typeface="Times New Roman" panose="02020603050405020304" pitchFamily="18" charset="0"/>
              </a:rPr>
              <a:t> They are not of same colour ?</a:t>
            </a:r>
          </a:p>
          <a:p>
            <a:pPr marL="0" indent="0" algn="just">
              <a:lnSpc>
                <a:spcPct val="150000"/>
              </a:lnSpc>
              <a:buNone/>
            </a:pPr>
            <a:r>
              <a:rPr lang="en-IN" sz="2000" b="1" dirty="0">
                <a:latin typeface="Bookman Old Style" pitchFamily="18" charset="0"/>
                <a:cs typeface="Times New Roman" panose="02020603050405020304" pitchFamily="18" charset="0"/>
              </a:rPr>
              <a:t>       a.22/91        b. 48/91    </a:t>
            </a:r>
          </a:p>
          <a:p>
            <a:pPr marL="0" indent="0" algn="just">
              <a:lnSpc>
                <a:spcPct val="150000"/>
              </a:lnSpc>
              <a:buNone/>
            </a:pPr>
            <a:r>
              <a:rPr lang="en-IN" sz="2000" b="1" dirty="0">
                <a:latin typeface="Bookman Old Style" pitchFamily="18" charset="0"/>
                <a:cs typeface="Times New Roman" panose="02020603050405020304" pitchFamily="18" charset="0"/>
              </a:rPr>
              <a:t>       c. 34/91     d. 43/91</a:t>
            </a:r>
          </a:p>
          <a:p>
            <a:pPr marL="0" indent="0" algn="just">
              <a:lnSpc>
                <a:spcPct val="150000"/>
              </a:lnSpc>
              <a:buNone/>
            </a:pPr>
            <a:endParaRPr lang="en-IN" sz="20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F633ECB4-6A7D-6D7D-0642-66DA08A15E9A}"/>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414182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C1800-F98C-EDB3-3FE0-57AE66D5D5D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C8F018B3-A00D-D549-11B2-B5CAD16909F1}"/>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C9019AB8-26FC-B985-BAFB-28B9B76F5EEB}"/>
              </a:ext>
            </a:extLst>
          </p:cNvPr>
          <p:cNvSpPr>
            <a:spLocks noGrp="1"/>
          </p:cNvSpPr>
          <p:nvPr>
            <p:ph sz="half" idx="2"/>
          </p:nvPr>
        </p:nvSpPr>
        <p:spPr>
          <a:xfrm>
            <a:off x="418536" y="1777384"/>
            <a:ext cx="5818977"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 bag contain 4 red, 6 yellow and 5 green balls. If three balls are drawn randomly , then what is the probability that the balls drawn contain balls of different colours ? a. 19/91          b. 24/91  </a:t>
            </a:r>
          </a:p>
          <a:p>
            <a:pPr marL="0" indent="0" algn="just">
              <a:lnSpc>
                <a:spcPct val="150000"/>
              </a:lnSpc>
              <a:buNone/>
            </a:pPr>
            <a:r>
              <a:rPr lang="en-IN" sz="2300" b="1" dirty="0">
                <a:effectLst/>
                <a:latin typeface="Bookman Old Style" pitchFamily="18" charset="0"/>
                <a:cs typeface="Times New Roman" panose="02020603050405020304" pitchFamily="18" charset="0"/>
              </a:rPr>
              <a:t> c.29/91           d. 32/91</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399FFEE6-841A-EDDE-7818-03AC78BF2A93}"/>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640575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C9A2C-ABA4-8635-11BE-2C4742C82DC8}"/>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CF0C5EB-BA25-04A0-584C-754EB3828F31}"/>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9C417C86-0BAC-9AF5-8FF3-C04DD3B3B04C}"/>
              </a:ext>
            </a:extLst>
          </p:cNvPr>
          <p:cNvSpPr>
            <a:spLocks noGrp="1"/>
          </p:cNvSpPr>
          <p:nvPr>
            <p:ph sz="half" idx="2"/>
          </p:nvPr>
        </p:nvSpPr>
        <p:spPr>
          <a:xfrm>
            <a:off x="168165" y="1777384"/>
            <a:ext cx="5157787"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 bag contain 2 red, 6 yellow and 4 green balls . If 3 balls are drawn randomly, then what is the probability that the balls drawn contain no yellow ball ?</a:t>
            </a:r>
          </a:p>
          <a:p>
            <a:pPr marL="0" indent="0" algn="just">
              <a:lnSpc>
                <a:spcPct val="150000"/>
              </a:lnSpc>
              <a:buNone/>
            </a:pPr>
            <a:r>
              <a:rPr lang="en-IN" sz="2300" b="1" dirty="0">
                <a:effectLst/>
                <a:latin typeface="Bookman Old Style" pitchFamily="18" charset="0"/>
                <a:cs typeface="Times New Roman" panose="02020603050405020304" pitchFamily="18" charset="0"/>
              </a:rPr>
              <a:t>  a. 1/11     b. 2/11</a:t>
            </a:r>
          </a:p>
          <a:p>
            <a:pPr marL="0" indent="0" algn="just">
              <a:lnSpc>
                <a:spcPct val="150000"/>
              </a:lnSpc>
              <a:buNone/>
            </a:pPr>
            <a:r>
              <a:rPr lang="en-IN" sz="2300" b="1" dirty="0">
                <a:effectLst/>
                <a:latin typeface="Bookman Old Style" pitchFamily="18" charset="0"/>
                <a:cs typeface="Times New Roman" panose="02020603050405020304" pitchFamily="18" charset="0"/>
              </a:rPr>
              <a:t> c. 3/11      d. 4/11</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9EF3B12B-D1FF-3C09-3A25-C979BDECB78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693029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80466-54D9-FBE6-1DED-D625264DDFCF}"/>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7A5443D5-1B01-6066-8BBB-3EBAC4312A9B}"/>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933F2C54-C7F7-A94D-4B09-9C1B4F47DC4E}"/>
              </a:ext>
            </a:extLst>
          </p:cNvPr>
          <p:cNvSpPr>
            <a:spLocks noGrp="1"/>
          </p:cNvSpPr>
          <p:nvPr>
            <p:ph sz="half" idx="2"/>
          </p:nvPr>
        </p:nvSpPr>
        <p:spPr>
          <a:xfrm>
            <a:off x="168165" y="1777384"/>
            <a:ext cx="6385035" cy="4389500"/>
          </a:xfrm>
        </p:spPr>
        <p:txBody>
          <a:bodyPr>
            <a:noAutofit/>
          </a:bodyPr>
          <a:lstStyle/>
          <a:p>
            <a:pPr marL="0" indent="0" algn="just">
              <a:lnSpc>
                <a:spcPct val="150000"/>
              </a:lnSpc>
              <a:buNone/>
            </a:pPr>
            <a:r>
              <a:rPr lang="en-IN" b="1" dirty="0">
                <a:effectLst/>
                <a:latin typeface="Bookman Old Style" pitchFamily="18" charset="0"/>
                <a:cs typeface="Times New Roman" panose="02020603050405020304" pitchFamily="18" charset="0"/>
              </a:rPr>
              <a:t>Among group of 2500 people , 35% invest in municipal bonds. 18% invest in oil stocks and 7% invest in both municipal bonds and oil stocks. If one person is to be randomly selected from 2500 people, what is the probability that the person selected will be one who invests in municipal bonds but not in oil stocks ?</a:t>
            </a:r>
          </a:p>
          <a:p>
            <a:pPr marL="0" indent="0" algn="just">
              <a:lnSpc>
                <a:spcPct val="150000"/>
              </a:lnSpc>
              <a:buNone/>
            </a:pPr>
            <a:r>
              <a:rPr lang="en-IN" b="1" dirty="0">
                <a:effectLst/>
                <a:latin typeface="Bookman Old Style" pitchFamily="18" charset="0"/>
                <a:cs typeface="Times New Roman" panose="02020603050405020304" pitchFamily="18" charset="0"/>
              </a:rPr>
              <a:t>    a. 9/50    b. 7/25       c. 7/20        d. 21/50</a:t>
            </a:r>
          </a:p>
          <a:p>
            <a:pPr marL="0" indent="0" algn="just">
              <a:lnSpc>
                <a:spcPct val="100000"/>
              </a:lnSpc>
              <a:buNone/>
            </a:pPr>
            <a:endParaRPr lang="en-IN"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F7855159-B65A-90C8-002C-04161B311FE5}"/>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42332246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BB6A3-6B21-574E-C0D9-9E7DC6D75449}"/>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ACCBF0B6-6D71-1FDA-CF96-36929FB3B1FE}"/>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4F4C4CC6-7537-71C3-6158-054712E6D05B}"/>
              </a:ext>
            </a:extLst>
          </p:cNvPr>
          <p:cNvSpPr>
            <a:spLocks noGrp="1"/>
          </p:cNvSpPr>
          <p:nvPr>
            <p:ph sz="half" idx="2"/>
          </p:nvPr>
        </p:nvSpPr>
        <p:spPr>
          <a:xfrm>
            <a:off x="168165" y="1777384"/>
            <a:ext cx="6134664" cy="4389500"/>
          </a:xfrm>
        </p:spPr>
        <p:txBody>
          <a:bodyPr>
            <a:norm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From a bag containing a dozen bulbs, of which exactly one half are good , and four bulbs are chosen at random to fit into the four bulb holders in a room. The probability that the room gets lighted is :</a:t>
            </a:r>
          </a:p>
          <a:p>
            <a:pPr marL="0" indent="0" algn="just">
              <a:lnSpc>
                <a:spcPct val="150000"/>
              </a:lnSpc>
              <a:buNone/>
            </a:pPr>
            <a:r>
              <a:rPr lang="en-IN" sz="2100" b="1" dirty="0">
                <a:effectLst/>
                <a:latin typeface="Bookman Old Style" pitchFamily="18" charset="0"/>
                <a:cs typeface="Times New Roman" panose="02020603050405020304" pitchFamily="18" charset="0"/>
              </a:rPr>
              <a:t>  a. 2/3                  b. 1/33       </a:t>
            </a:r>
          </a:p>
          <a:p>
            <a:pPr marL="0" indent="0" algn="just">
              <a:lnSpc>
                <a:spcPct val="150000"/>
              </a:lnSpc>
              <a:buNone/>
            </a:pPr>
            <a:r>
              <a:rPr lang="en-IN" sz="2100" b="1" dirty="0">
                <a:effectLst/>
                <a:latin typeface="Bookman Old Style" pitchFamily="18" charset="0"/>
                <a:cs typeface="Times New Roman" panose="02020603050405020304" pitchFamily="18" charset="0"/>
              </a:rPr>
              <a:t>  c. 32/33              d. 31/33</a:t>
            </a:r>
          </a:p>
          <a:p>
            <a:pPr marL="0" indent="0" algn="just">
              <a:lnSpc>
                <a:spcPct val="100000"/>
              </a:lnSpc>
              <a:buNone/>
            </a:pPr>
            <a:endParaRPr lang="en-IN" sz="21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B7AF83CA-5A75-06E2-D167-68D67FF8F039}"/>
              </a:ext>
            </a:extLst>
          </p:cNvPr>
          <p:cNvSpPr>
            <a:spLocks noGrp="1"/>
          </p:cNvSpPr>
          <p:nvPr>
            <p:ph type="body" sz="quarter" idx="3"/>
          </p:nvPr>
        </p:nvSpPr>
        <p:spPr>
          <a:xfrm>
            <a:off x="6692257" y="953472"/>
            <a:ext cx="5183188" cy="823912"/>
          </a:xfrm>
        </p:spPr>
        <p:txBody>
          <a:bodyPr/>
          <a:lstStyle/>
          <a:p>
            <a:r>
              <a:rPr lang="en-US" dirty="0"/>
              <a:t>Solution</a:t>
            </a:r>
          </a:p>
        </p:txBody>
      </p:sp>
    </p:spTree>
    <p:extLst>
      <p:ext uri="{BB962C8B-B14F-4D97-AF65-F5344CB8AC3E}">
        <p14:creationId xmlns:p14="http://schemas.microsoft.com/office/powerpoint/2010/main" val="3975349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A8999-DD41-3F8A-5170-2BE59416A76B}"/>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4CCA2EBD-ACC8-8531-0737-88C29EAF2C45}"/>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C4179D32-E179-63C4-23AA-12E1E3EBBE50}"/>
              </a:ext>
            </a:extLst>
          </p:cNvPr>
          <p:cNvSpPr>
            <a:spLocks noGrp="1"/>
          </p:cNvSpPr>
          <p:nvPr>
            <p:ph sz="half" idx="2"/>
          </p:nvPr>
        </p:nvSpPr>
        <p:spPr>
          <a:xfrm>
            <a:off x="168165" y="1777384"/>
            <a:ext cx="5786321"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Two letters are selected randomly from English alphabet simultaneously . what is the probability that one is a consonant and the other a vowel ?</a:t>
            </a:r>
          </a:p>
          <a:p>
            <a:pPr marL="0" indent="0" algn="just">
              <a:lnSpc>
                <a:spcPct val="150000"/>
              </a:lnSpc>
              <a:buNone/>
            </a:pPr>
            <a:r>
              <a:rPr lang="en-IN" sz="2300" b="1" dirty="0">
                <a:effectLst/>
                <a:latin typeface="Bookman Old Style" pitchFamily="18" charset="0"/>
                <a:cs typeface="Times New Roman" panose="02020603050405020304" pitchFamily="18" charset="0"/>
              </a:rPr>
              <a:t>    a.10/67              b. 21/65   </a:t>
            </a:r>
          </a:p>
          <a:p>
            <a:pPr marL="0" indent="0" algn="just">
              <a:lnSpc>
                <a:spcPct val="150000"/>
              </a:lnSpc>
              <a:buNone/>
            </a:pPr>
            <a:r>
              <a:rPr lang="en-IN" sz="2300" b="1" dirty="0">
                <a:effectLst/>
                <a:latin typeface="Bookman Old Style" pitchFamily="18" charset="0"/>
                <a:cs typeface="Times New Roman" panose="02020603050405020304" pitchFamily="18" charset="0"/>
              </a:rPr>
              <a:t>     c. 44/65             d. 2/13</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89339116-D855-C8E1-7691-CCE0C4C52E24}"/>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764639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A27EB-D0FB-A191-6D60-08D99713E11E}"/>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105239A5-FA02-B941-7B1C-B81C8FA64B5F}"/>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48805F09-B8C5-77BA-94EA-53FEEAE1CB72}"/>
              </a:ext>
            </a:extLst>
          </p:cNvPr>
          <p:cNvSpPr>
            <a:spLocks noGrp="1"/>
          </p:cNvSpPr>
          <p:nvPr>
            <p:ph sz="half" idx="2"/>
          </p:nvPr>
        </p:nvSpPr>
        <p:spPr>
          <a:xfrm>
            <a:off x="168165" y="1777384"/>
            <a:ext cx="5786321"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The letters of the SOCIETY are placed at row what is the probability that three vowels come together ?</a:t>
            </a:r>
          </a:p>
          <a:p>
            <a:pPr marL="0" indent="0" algn="just">
              <a:lnSpc>
                <a:spcPct val="150000"/>
              </a:lnSpc>
              <a:buNone/>
            </a:pPr>
            <a:r>
              <a:rPr lang="en-IN" sz="2300" b="1" dirty="0">
                <a:effectLst/>
                <a:latin typeface="Bookman Old Style" pitchFamily="18" charset="0"/>
                <a:cs typeface="Times New Roman" panose="02020603050405020304" pitchFamily="18" charset="0"/>
              </a:rPr>
              <a:t>  a. 3/7              b. 2/7       </a:t>
            </a:r>
          </a:p>
          <a:p>
            <a:pPr marL="0" indent="0" algn="just">
              <a:lnSpc>
                <a:spcPct val="150000"/>
              </a:lnSpc>
              <a:buNone/>
            </a:pPr>
            <a:r>
              <a:rPr lang="en-IN" sz="2300" b="1" dirty="0">
                <a:effectLst/>
                <a:latin typeface="Bookman Old Style" pitchFamily="18" charset="0"/>
                <a:cs typeface="Times New Roman" panose="02020603050405020304" pitchFamily="18" charset="0"/>
              </a:rPr>
              <a:t>  c. 1/7              d. none</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27D9016E-547A-CE54-86B0-B2644A88A445}"/>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565451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E2DE6-ED40-95D0-5091-4DBEEB3E0EC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A4CE6E25-2326-F4A7-53A4-DB527E7F4AB0}"/>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01A64684-1906-53A9-0A0A-A6CD42F4272C}"/>
              </a:ext>
            </a:extLst>
          </p:cNvPr>
          <p:cNvSpPr>
            <a:spLocks noGrp="1"/>
          </p:cNvSpPr>
          <p:nvPr>
            <p:ph sz="half" idx="2"/>
          </p:nvPr>
        </p:nvSpPr>
        <p:spPr>
          <a:xfrm>
            <a:off x="168165" y="1777384"/>
            <a:ext cx="5786321" cy="4710502"/>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In a class of 25 students with roll numbers 1 to 25 , student is picked up at random to answer a question. Find the probability that the roll number of the selected student is either multiple of 5 or 7 ?</a:t>
            </a:r>
          </a:p>
          <a:p>
            <a:pPr marL="0" indent="0" algn="just">
              <a:lnSpc>
                <a:spcPct val="150000"/>
              </a:lnSpc>
              <a:buNone/>
            </a:pPr>
            <a:r>
              <a:rPr lang="en-IN" sz="2300" b="1" dirty="0">
                <a:effectLst/>
                <a:latin typeface="Bookman Old Style" pitchFamily="18" charset="0"/>
                <a:cs typeface="Times New Roman" panose="02020603050405020304" pitchFamily="18" charset="0"/>
              </a:rPr>
              <a:t>  a. 6/25           b. 4/25    </a:t>
            </a:r>
          </a:p>
          <a:p>
            <a:pPr marL="0" indent="0" algn="just">
              <a:lnSpc>
                <a:spcPct val="150000"/>
              </a:lnSpc>
              <a:buNone/>
            </a:pPr>
            <a:r>
              <a:rPr lang="en-IN" sz="2300" b="1" dirty="0">
                <a:effectLst/>
                <a:latin typeface="Bookman Old Style" pitchFamily="18" charset="0"/>
                <a:cs typeface="Times New Roman" panose="02020603050405020304" pitchFamily="18" charset="0"/>
              </a:rPr>
              <a:t>  c. 8/25            d. 7/25</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A8331CA3-C9B7-54F6-1792-A4EB1B223AA3}"/>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6446031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81C7E-2770-AD1E-4B14-712583538BB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F9F46CF2-5320-479B-6482-FD99E14A4942}"/>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CD8A3E5B-4410-4B36-A4BE-3FD9FC2FAF7B}"/>
              </a:ext>
            </a:extLst>
          </p:cNvPr>
          <p:cNvSpPr>
            <a:spLocks noGrp="1"/>
          </p:cNvSpPr>
          <p:nvPr>
            <p:ph sz="half" idx="2"/>
          </p:nvPr>
        </p:nvSpPr>
        <p:spPr>
          <a:xfrm>
            <a:off x="168165" y="1777384"/>
            <a:ext cx="5786321"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An integer is chosen at random from first two hundred natural numbers . What is the probability that the integer chosen is divisible by 6 or 8 ?</a:t>
            </a:r>
          </a:p>
          <a:p>
            <a:pPr marL="0" indent="0" algn="just">
              <a:lnSpc>
                <a:spcPct val="150000"/>
              </a:lnSpc>
              <a:buNone/>
            </a:pPr>
            <a:r>
              <a:rPr lang="en-IN" sz="2300" b="1" dirty="0">
                <a:effectLst/>
                <a:latin typeface="Bookman Old Style" pitchFamily="18" charset="0"/>
                <a:cs typeface="Times New Roman" panose="02020603050405020304" pitchFamily="18" charset="0"/>
              </a:rPr>
              <a:t>  a. ¼               b. ¾       </a:t>
            </a:r>
          </a:p>
          <a:p>
            <a:pPr marL="0" indent="0" algn="just">
              <a:lnSpc>
                <a:spcPct val="150000"/>
              </a:lnSpc>
              <a:buNone/>
            </a:pPr>
            <a:r>
              <a:rPr lang="en-IN" sz="2300" b="1" dirty="0">
                <a:effectLst/>
                <a:latin typeface="Bookman Old Style" pitchFamily="18" charset="0"/>
                <a:cs typeface="Times New Roman" panose="02020603050405020304" pitchFamily="18" charset="0"/>
              </a:rPr>
              <a:t>  c. ½              d. none</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0ECB5169-6125-7D6D-52F3-E7FE2506D04D}"/>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1403001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05355-B0E0-8819-8EF9-C78ED416B3D1}"/>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774FFC6E-9F8C-0A3C-B80A-9EA0A6CA4FE4}"/>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D416524F-BF7F-D978-0861-2A689E96F0E1}"/>
              </a:ext>
            </a:extLst>
          </p:cNvPr>
          <p:cNvSpPr>
            <a:spLocks noGrp="1"/>
          </p:cNvSpPr>
          <p:nvPr>
            <p:ph sz="half" idx="2"/>
          </p:nvPr>
        </p:nvSpPr>
        <p:spPr>
          <a:xfrm>
            <a:off x="168165" y="1777383"/>
            <a:ext cx="6230178" cy="4906445"/>
          </a:xfrm>
        </p:spPr>
        <p:txBody>
          <a:bodyPr>
            <a:noAutofit/>
          </a:bodyPr>
          <a:lstStyle/>
          <a:p>
            <a:pPr marL="0" indent="0" algn="just">
              <a:lnSpc>
                <a:spcPct val="150000"/>
              </a:lnSpc>
              <a:buNone/>
            </a:pPr>
            <a:r>
              <a:rPr lang="en-IN" sz="2200" b="1" dirty="0">
                <a:effectLst/>
                <a:latin typeface="Bookman Old Style" pitchFamily="18" charset="0"/>
                <a:cs typeface="Times New Roman" panose="02020603050405020304" pitchFamily="18" charset="0"/>
              </a:rPr>
              <a:t>The probability that a contractor will get a plumbing contract is 2/3</a:t>
            </a:r>
            <a:r>
              <a:rPr lang="en-IN" sz="2200" b="1" baseline="30000" dirty="0">
                <a:effectLst/>
                <a:latin typeface="Bookman Old Style" pitchFamily="18" charset="0"/>
                <a:cs typeface="Times New Roman" panose="02020603050405020304" pitchFamily="18" charset="0"/>
              </a:rPr>
              <a:t>rd</a:t>
            </a:r>
            <a:r>
              <a:rPr lang="en-IN" sz="2200" b="1" dirty="0">
                <a:effectLst/>
                <a:latin typeface="Bookman Old Style" pitchFamily="18" charset="0"/>
                <a:cs typeface="Times New Roman" panose="02020603050405020304" pitchFamily="18" charset="0"/>
              </a:rPr>
              <a:t> and the probability that he will not get an electric contract is 5/9</a:t>
            </a:r>
            <a:r>
              <a:rPr lang="en-IN" sz="2200" b="1" baseline="30000" dirty="0">
                <a:effectLst/>
                <a:latin typeface="Bookman Old Style" pitchFamily="18" charset="0"/>
                <a:cs typeface="Times New Roman" panose="02020603050405020304" pitchFamily="18" charset="0"/>
              </a:rPr>
              <a:t>th</a:t>
            </a:r>
            <a:r>
              <a:rPr lang="en-IN" sz="2200" b="1" dirty="0">
                <a:effectLst/>
                <a:latin typeface="Bookman Old Style" pitchFamily="18" charset="0"/>
                <a:cs typeface="Times New Roman" panose="02020603050405020304" pitchFamily="18" charset="0"/>
              </a:rPr>
              <a:t> . If the probability of getting at least one contract is 4/5</a:t>
            </a:r>
            <a:r>
              <a:rPr lang="en-IN" sz="2200" b="1" baseline="30000" dirty="0">
                <a:effectLst/>
                <a:latin typeface="Bookman Old Style" pitchFamily="18" charset="0"/>
                <a:cs typeface="Times New Roman" panose="02020603050405020304" pitchFamily="18" charset="0"/>
              </a:rPr>
              <a:t>th</a:t>
            </a:r>
            <a:r>
              <a:rPr lang="en-IN" sz="2200" b="1" dirty="0">
                <a:effectLst/>
                <a:latin typeface="Bookman Old Style" pitchFamily="18" charset="0"/>
                <a:cs typeface="Times New Roman" panose="02020603050405020304" pitchFamily="18" charset="0"/>
              </a:rPr>
              <a:t> . What is the probability that he will get both ?</a:t>
            </a:r>
          </a:p>
          <a:p>
            <a:pPr marL="0" indent="0" algn="just">
              <a:lnSpc>
                <a:spcPct val="150000"/>
              </a:lnSpc>
              <a:buNone/>
            </a:pPr>
            <a:r>
              <a:rPr lang="en-IN" sz="2200" b="1" dirty="0">
                <a:effectLst/>
                <a:latin typeface="Bookman Old Style" pitchFamily="18" charset="0"/>
                <a:cs typeface="Times New Roman" panose="02020603050405020304" pitchFamily="18" charset="0"/>
              </a:rPr>
              <a:t>    a. 8/45    b. 31/45     </a:t>
            </a:r>
          </a:p>
          <a:p>
            <a:pPr marL="0" indent="0" algn="just">
              <a:lnSpc>
                <a:spcPct val="150000"/>
              </a:lnSpc>
              <a:buNone/>
            </a:pPr>
            <a:r>
              <a:rPr lang="en-IN" sz="2200" b="1" dirty="0">
                <a:effectLst/>
                <a:latin typeface="Bookman Old Style" pitchFamily="18" charset="0"/>
                <a:cs typeface="Times New Roman" panose="02020603050405020304" pitchFamily="18" charset="0"/>
              </a:rPr>
              <a:t>    c. 14/45       d. none</a:t>
            </a:r>
          </a:p>
          <a:p>
            <a:pPr marL="0" indent="0" algn="just">
              <a:lnSpc>
                <a:spcPct val="100000"/>
              </a:lnSpc>
              <a:buNone/>
            </a:pPr>
            <a:endParaRPr lang="en-IN" sz="22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592A983C-904F-D5A5-B6FE-97FDFB6A7734}"/>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7795173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3D517-54DB-E25E-0F6D-9CD35388026B}"/>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75EE592B-02B6-355A-112B-3891DC75142E}"/>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7B7249A5-D084-6BAB-E297-535F63AA8302}"/>
              </a:ext>
            </a:extLst>
          </p:cNvPr>
          <p:cNvSpPr>
            <a:spLocks noGrp="1"/>
          </p:cNvSpPr>
          <p:nvPr>
            <p:ph sz="half" idx="2"/>
          </p:nvPr>
        </p:nvSpPr>
        <p:spPr>
          <a:xfrm>
            <a:off x="168165" y="1777384"/>
            <a:ext cx="5786321" cy="4389500"/>
          </a:xfrm>
        </p:spPr>
        <p:txBody>
          <a:bodyPr>
            <a:noAutofit/>
          </a:bodyPr>
          <a:lstStyle/>
          <a:p>
            <a:pPr marL="0" indent="0" algn="just">
              <a:lnSpc>
                <a:spcPct val="100000"/>
              </a:lnSpc>
              <a:buNone/>
            </a:pPr>
            <a:r>
              <a:rPr lang="en-IN" sz="2300" b="1" dirty="0">
                <a:effectLst/>
                <a:latin typeface="Bookman Old Style" pitchFamily="18" charset="0"/>
                <a:cs typeface="Times New Roman" panose="02020603050405020304" pitchFamily="18" charset="0"/>
              </a:rPr>
              <a:t>In the west Indies, there is a 3-match One Day International tournament between West Indies and India. At the end of every match , either a team wins or loses. There is no draw. Find the probability that India wins the series by winning at least 2 consecutive matches ?</a:t>
            </a:r>
          </a:p>
          <a:p>
            <a:pPr marL="457200" indent="-457200" algn="just">
              <a:lnSpc>
                <a:spcPct val="100000"/>
              </a:lnSpc>
              <a:buAutoNum type="alphaLcPeriod"/>
            </a:pPr>
            <a:r>
              <a:rPr lang="en-IN" sz="2300" b="1" dirty="0">
                <a:effectLst/>
                <a:latin typeface="Bookman Old Style" pitchFamily="18" charset="0"/>
                <a:cs typeface="Times New Roman" panose="02020603050405020304" pitchFamily="18" charset="0"/>
              </a:rPr>
              <a:t>1              b. 5/8       </a:t>
            </a:r>
          </a:p>
          <a:p>
            <a:pPr marL="0" indent="0" algn="just">
              <a:lnSpc>
                <a:spcPct val="100000"/>
              </a:lnSpc>
              <a:buNone/>
            </a:pPr>
            <a:r>
              <a:rPr lang="en-IN" sz="2300" b="1" dirty="0">
                <a:effectLst/>
                <a:latin typeface="Bookman Old Style" pitchFamily="18" charset="0"/>
                <a:cs typeface="Times New Roman" panose="02020603050405020304" pitchFamily="18" charset="0"/>
              </a:rPr>
              <a:t> c. 3/8           d. 1/2</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DC49A26B-F42D-3DC9-2D1A-5F6D19BA62F6}"/>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538336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6CEC0-5BE6-8D5D-F24C-1855F24D99B5}"/>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6A9CF1D0-773A-AA2A-4100-A398B6E170F8}"/>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5DD6BB65-7E7C-B5A2-5D43-74A61A698445}"/>
              </a:ext>
            </a:extLst>
          </p:cNvPr>
          <p:cNvSpPr>
            <a:spLocks noGrp="1"/>
          </p:cNvSpPr>
          <p:nvPr>
            <p:ph sz="half" idx="2"/>
          </p:nvPr>
        </p:nvSpPr>
        <p:spPr>
          <a:xfrm>
            <a:off x="168165" y="1777384"/>
            <a:ext cx="5786321" cy="4623416"/>
          </a:xfrm>
        </p:spPr>
        <p:txBody>
          <a:bodyPr>
            <a:normAutofit/>
          </a:bodyPr>
          <a:lstStyle/>
          <a:p>
            <a:pPr marL="0" indent="0" algn="just">
              <a:lnSpc>
                <a:spcPct val="150000"/>
              </a:lnSpc>
              <a:buNone/>
            </a:pPr>
            <a:r>
              <a:rPr lang="en-IN" b="1" dirty="0">
                <a:effectLst/>
                <a:latin typeface="Bookman Old Style" pitchFamily="18" charset="0"/>
                <a:cs typeface="Times New Roman" panose="02020603050405020304" pitchFamily="18" charset="0"/>
              </a:rPr>
              <a:t>There are 3 boxes A, B and C. A contains 4 red balls and 3 black balls. B contains 5 red balls and 4 black balls. C contains 4 red balls and 4 black balls. One ball is drawn from each of these boxes. What is the probability that the 3 balls drawn consist of 2 red balls and a black ball ?</a:t>
            </a:r>
          </a:p>
          <a:p>
            <a:pPr marL="0" indent="0" algn="just">
              <a:lnSpc>
                <a:spcPct val="150000"/>
              </a:lnSpc>
              <a:buNone/>
            </a:pPr>
            <a:r>
              <a:rPr lang="en-IN" b="1" dirty="0">
                <a:effectLst/>
                <a:latin typeface="Bookman Old Style" pitchFamily="18" charset="0"/>
                <a:cs typeface="Times New Roman" panose="02020603050405020304" pitchFamily="18" charset="0"/>
              </a:rPr>
              <a:t>  a. 17/42    b. 25/42   </a:t>
            </a:r>
          </a:p>
          <a:p>
            <a:pPr marL="0" indent="0" algn="just">
              <a:lnSpc>
                <a:spcPct val="150000"/>
              </a:lnSpc>
              <a:buNone/>
            </a:pPr>
            <a:r>
              <a:rPr lang="en-IN" b="1" dirty="0">
                <a:effectLst/>
                <a:latin typeface="Bookman Old Style" pitchFamily="18" charset="0"/>
                <a:cs typeface="Times New Roman" panose="02020603050405020304" pitchFamily="18" charset="0"/>
              </a:rPr>
              <a:t>  c. 19/42     d. 23/42</a:t>
            </a:r>
          </a:p>
          <a:p>
            <a:pPr marL="0" indent="0" algn="just">
              <a:lnSpc>
                <a:spcPct val="100000"/>
              </a:lnSpc>
              <a:buNone/>
            </a:pPr>
            <a:endParaRPr lang="en-IN"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C5E1BE38-D038-8148-D543-FB143641484D}"/>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2512096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784CE-6A03-242C-AD33-6FC811B130CD}"/>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9208A69D-B017-3D88-871C-CC85B634D660}"/>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10E95C1D-C3D8-26E2-1972-8747FC46D5E9}"/>
              </a:ext>
            </a:extLst>
          </p:cNvPr>
          <p:cNvSpPr>
            <a:spLocks noGrp="1"/>
          </p:cNvSpPr>
          <p:nvPr>
            <p:ph sz="half" idx="2"/>
          </p:nvPr>
        </p:nvSpPr>
        <p:spPr>
          <a:xfrm>
            <a:off x="168165" y="1777384"/>
            <a:ext cx="6230178" cy="4389500"/>
          </a:xfrm>
        </p:spPr>
        <p:txBody>
          <a:bodyPr>
            <a:no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An anti aircraft gun can take a maximum of four shots at an enemy plane moving away from it. The probability of hitting the plane at the first, second ,third and fourth shots are 0.40 , 0.30 , 0.20 and 0.1 respectively. What is the probability that the gun hits the plane ?</a:t>
            </a:r>
          </a:p>
          <a:p>
            <a:pPr marL="457200" indent="-457200" algn="just">
              <a:lnSpc>
                <a:spcPct val="150000"/>
              </a:lnSpc>
              <a:buAutoNum type="alphaLcPeriod"/>
            </a:pPr>
            <a:r>
              <a:rPr lang="en-IN" sz="2100" b="1" dirty="0">
                <a:effectLst/>
                <a:latin typeface="Bookman Old Style" pitchFamily="18" charset="0"/>
                <a:cs typeface="Times New Roman" panose="02020603050405020304" pitchFamily="18" charset="0"/>
              </a:rPr>
              <a:t>0.4379   b. 0.6872  c. 0.6976     d. none</a:t>
            </a:r>
          </a:p>
          <a:p>
            <a:pPr marL="0" indent="0" algn="just">
              <a:lnSpc>
                <a:spcPct val="100000"/>
              </a:lnSpc>
              <a:buNone/>
            </a:pPr>
            <a:endParaRPr lang="en-IN" sz="21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2212A804-CA23-9687-4250-650F5BA2952B}"/>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9628827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C0348-B349-E5D9-7CE1-62D57208DEA1}"/>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FA6728D2-C0D2-4C64-E37B-DD8411A743D1}"/>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6EC9DA83-F764-7989-4B22-B46EBB8D3012}"/>
              </a:ext>
            </a:extLst>
          </p:cNvPr>
          <p:cNvSpPr>
            <a:spLocks noGrp="1"/>
          </p:cNvSpPr>
          <p:nvPr>
            <p:ph sz="half" idx="2"/>
          </p:nvPr>
        </p:nvSpPr>
        <p:spPr>
          <a:xfrm>
            <a:off x="168165" y="1777384"/>
            <a:ext cx="5786321" cy="4389500"/>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A subscriber was dialling a telephone number. When he forgot the last 3 digits and remembering that they were different, he dialled at random. What is the probability that he dialled the right number ?</a:t>
            </a:r>
          </a:p>
          <a:p>
            <a:pPr marL="342900" indent="-342900" algn="just">
              <a:lnSpc>
                <a:spcPct val="150000"/>
              </a:lnSpc>
              <a:buAutoNum type="alphaLcPeriod"/>
            </a:pPr>
            <a:r>
              <a:rPr lang="en-IN" sz="2300" b="1" dirty="0">
                <a:effectLst/>
                <a:latin typeface="Bookman Old Style" pitchFamily="18" charset="0"/>
                <a:cs typeface="Times New Roman" panose="02020603050405020304" pitchFamily="18" charset="0"/>
              </a:rPr>
              <a:t>3/10            b. 3/720        </a:t>
            </a:r>
          </a:p>
          <a:p>
            <a:pPr marL="0" indent="0" algn="just">
              <a:lnSpc>
                <a:spcPct val="150000"/>
              </a:lnSpc>
              <a:buNone/>
            </a:pPr>
            <a:r>
              <a:rPr lang="en-IN" sz="2300" b="1" dirty="0">
                <a:effectLst/>
                <a:latin typeface="Bookman Old Style" pitchFamily="18" charset="0"/>
                <a:cs typeface="Times New Roman" panose="02020603050405020304" pitchFamily="18" charset="0"/>
              </a:rPr>
              <a:t> c. 1/720    d. cannot be determined</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1A2493B3-07F0-6537-B265-5940095DAD3B}"/>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7900995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93BCB-031A-6104-7A13-F029BDF6C30F}"/>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627CFE29-C3E1-6ACA-C694-AE8D980B78AC}"/>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46CC6744-54B1-F8F2-81CD-1FB7179348F1}"/>
              </a:ext>
            </a:extLst>
          </p:cNvPr>
          <p:cNvSpPr>
            <a:spLocks noGrp="1"/>
          </p:cNvSpPr>
          <p:nvPr>
            <p:ph sz="half" idx="2"/>
          </p:nvPr>
        </p:nvSpPr>
        <p:spPr>
          <a:xfrm>
            <a:off x="168165" y="1777383"/>
            <a:ext cx="6230178" cy="4819359"/>
          </a:xfrm>
        </p:spPr>
        <p:txBody>
          <a:bodyPr>
            <a:no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Three of the men participating  in a race are A, B and C. The probability of A wining the race is 1/6 , the probability for B wining the race is 2/5 and for C is 4/13 if dead heat among them is possible . What is the probability that only one of the three winning the race ?</a:t>
            </a:r>
          </a:p>
          <a:p>
            <a:pPr marL="0" indent="0" algn="just">
              <a:lnSpc>
                <a:spcPct val="150000"/>
              </a:lnSpc>
              <a:buNone/>
            </a:pPr>
            <a:r>
              <a:rPr lang="en-IN" sz="2100" b="1" dirty="0">
                <a:effectLst/>
                <a:latin typeface="Bookman Old Style" pitchFamily="18" charset="0"/>
                <a:cs typeface="Times New Roman" panose="02020603050405020304" pitchFamily="18" charset="0"/>
              </a:rPr>
              <a:t>   a. 177/380          b. 59/130        </a:t>
            </a:r>
          </a:p>
          <a:p>
            <a:pPr marL="0" indent="0" algn="just">
              <a:lnSpc>
                <a:spcPct val="150000"/>
              </a:lnSpc>
              <a:buNone/>
            </a:pPr>
            <a:r>
              <a:rPr lang="en-IN" sz="2100" b="1" dirty="0">
                <a:effectLst/>
                <a:latin typeface="Bookman Old Style" pitchFamily="18" charset="0"/>
                <a:cs typeface="Times New Roman" panose="02020603050405020304" pitchFamily="18" charset="0"/>
              </a:rPr>
              <a:t>   c. 39/157           d. 134/390 </a:t>
            </a:r>
          </a:p>
          <a:p>
            <a:pPr marL="0" indent="0" algn="just">
              <a:lnSpc>
                <a:spcPct val="100000"/>
              </a:lnSpc>
              <a:buNone/>
            </a:pPr>
            <a:endParaRPr lang="en-IN" sz="21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CB69055B-1A78-64B6-78EA-95FA52BA90F1}"/>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0050363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10F3B-37C2-A4AB-4437-261620A7FF49}"/>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04F82EEC-4DCA-1270-787B-D8C80EFE5CC9}"/>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DA998FD6-14C0-B770-A915-0D12A5204A20}"/>
              </a:ext>
            </a:extLst>
          </p:cNvPr>
          <p:cNvSpPr>
            <a:spLocks noGrp="1"/>
          </p:cNvSpPr>
          <p:nvPr>
            <p:ph sz="half" idx="2"/>
          </p:nvPr>
        </p:nvSpPr>
        <p:spPr>
          <a:xfrm>
            <a:off x="168165" y="1777384"/>
            <a:ext cx="6230178" cy="4389500"/>
          </a:xfrm>
        </p:spPr>
        <p:txBody>
          <a:bodyPr>
            <a:normAutofit/>
          </a:bodyPr>
          <a:lstStyle/>
          <a:p>
            <a:pPr marL="0" indent="0" algn="just">
              <a:lnSpc>
                <a:spcPct val="100000"/>
              </a:lnSpc>
              <a:buNone/>
            </a:pPr>
            <a:r>
              <a:rPr lang="en-IN" b="1" dirty="0">
                <a:effectLst/>
                <a:latin typeface="Bookman Old Style" pitchFamily="18" charset="0"/>
                <a:cs typeface="Times New Roman" panose="02020603050405020304" pitchFamily="18" charset="0"/>
              </a:rPr>
              <a:t>Two bucket contain black and white balls. The first has five black and three white and the second one has 4 white and 4 black balls. A ball is picked from the first bucket and put into the second bucket. Next a ball from the second bucket is picked and put into the first bucket. Find the probability of the event that after these actions the composition of first bucket has become that of the second one and the composition of second bucket has become that of first bucket ?</a:t>
            </a:r>
          </a:p>
          <a:p>
            <a:pPr marL="0" indent="0" algn="just">
              <a:lnSpc>
                <a:spcPct val="100000"/>
              </a:lnSpc>
              <a:buNone/>
            </a:pPr>
            <a:r>
              <a:rPr lang="en-IN" b="1" dirty="0">
                <a:effectLst/>
                <a:latin typeface="Bookman Old Style" pitchFamily="18" charset="0"/>
                <a:cs typeface="Times New Roman" panose="02020603050405020304" pitchFamily="18" charset="0"/>
              </a:rPr>
              <a:t>a. 12/19     b.5/18      c.4/9       d. 7/18</a:t>
            </a:r>
          </a:p>
          <a:p>
            <a:pPr marL="0" indent="0" algn="just">
              <a:lnSpc>
                <a:spcPct val="100000"/>
              </a:lnSpc>
              <a:buNone/>
            </a:pPr>
            <a:endParaRPr lang="en-IN"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18C91FDD-71BA-E22B-811B-488A351CBC81}"/>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5037629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86FFD-A7D8-A46D-FD95-113D7BA3B052}"/>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3031EDF2-2AD9-B470-8CD8-6E1E1C7085EC}"/>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1B4A5CAB-0AC1-4F1D-5909-B8661ED4CE20}"/>
              </a:ext>
            </a:extLst>
          </p:cNvPr>
          <p:cNvSpPr>
            <a:spLocks noGrp="1"/>
          </p:cNvSpPr>
          <p:nvPr>
            <p:ph sz="half" idx="2"/>
          </p:nvPr>
        </p:nvSpPr>
        <p:spPr>
          <a:xfrm>
            <a:off x="168165" y="1777384"/>
            <a:ext cx="6230178" cy="4389500"/>
          </a:xfrm>
        </p:spPr>
        <p:txBody>
          <a:bodyPr>
            <a:noAutofit/>
          </a:bodyPr>
          <a:lstStyle/>
          <a:p>
            <a:pPr marL="0" indent="0" algn="just">
              <a:lnSpc>
                <a:spcPct val="100000"/>
              </a:lnSpc>
              <a:buNone/>
            </a:pPr>
            <a:r>
              <a:rPr lang="en-IN" sz="2200" b="1" dirty="0">
                <a:effectLst/>
                <a:latin typeface="Bookman Old Style" pitchFamily="18" charset="0"/>
                <a:cs typeface="Times New Roman" panose="02020603050405020304" pitchFamily="18" charset="0"/>
              </a:rPr>
              <a:t>A blind man lives in an apartment containing two rooms . Each day before going to work he enters any one room randomly , picks up a bag and leaves home. One of the rooms contains 3 blue, 4 green and 5 red bags and the other contains 2 blue , 1 green and 3 red bags. What is the probability that he takes a green bag to work ?</a:t>
            </a:r>
          </a:p>
          <a:p>
            <a:pPr marL="0" indent="0" algn="just">
              <a:lnSpc>
                <a:spcPct val="100000"/>
              </a:lnSpc>
              <a:buNone/>
            </a:pPr>
            <a:r>
              <a:rPr lang="en-IN" sz="2200" b="1" dirty="0">
                <a:effectLst/>
                <a:latin typeface="Bookman Old Style" pitchFamily="18" charset="0"/>
                <a:cs typeface="Times New Roman" panose="02020603050405020304" pitchFamily="18" charset="0"/>
              </a:rPr>
              <a:t> a. ½              b. ¼     c. 1/3         d. 1/6</a:t>
            </a:r>
          </a:p>
          <a:p>
            <a:pPr marL="0" indent="0" algn="just">
              <a:lnSpc>
                <a:spcPct val="100000"/>
              </a:lnSpc>
              <a:buNone/>
            </a:pPr>
            <a:endParaRPr lang="en-IN" sz="22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9658504D-D0E3-EBD7-057F-496D8AC9B284}"/>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1244790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FD2A8-B097-8026-0521-98481BC3D74B}"/>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68D54651-AC5D-29B7-B2C2-6D648C982930}"/>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E81AC2E5-6737-6271-1626-AD3D3AF7E32D}"/>
              </a:ext>
            </a:extLst>
          </p:cNvPr>
          <p:cNvSpPr>
            <a:spLocks noGrp="1"/>
          </p:cNvSpPr>
          <p:nvPr>
            <p:ph sz="half" idx="2"/>
          </p:nvPr>
        </p:nvSpPr>
        <p:spPr>
          <a:xfrm>
            <a:off x="168165" y="1777384"/>
            <a:ext cx="6230178"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The probability of rain on any given day in Pune city is 50% then what is the probability that it rains on exactly 3 days in a 5 day period ?</a:t>
            </a:r>
          </a:p>
          <a:p>
            <a:pPr marL="0" indent="0" algn="just">
              <a:lnSpc>
                <a:spcPct val="150000"/>
              </a:lnSpc>
              <a:buNone/>
            </a:pPr>
            <a:r>
              <a:rPr lang="en-IN" sz="2300" b="1" dirty="0">
                <a:effectLst/>
                <a:latin typeface="Bookman Old Style" pitchFamily="18" charset="0"/>
                <a:cs typeface="Times New Roman" panose="02020603050405020304" pitchFamily="18" charset="0"/>
              </a:rPr>
              <a:t> a. 8/125      b. 5/16       </a:t>
            </a:r>
          </a:p>
          <a:p>
            <a:pPr marL="0" indent="0" algn="just">
              <a:lnSpc>
                <a:spcPct val="150000"/>
              </a:lnSpc>
              <a:buNone/>
            </a:pPr>
            <a:r>
              <a:rPr lang="en-IN" sz="2300" b="1" dirty="0">
                <a:effectLst/>
                <a:latin typeface="Bookman Old Style" pitchFamily="18" charset="0"/>
                <a:cs typeface="Times New Roman" panose="02020603050405020304" pitchFamily="18" charset="0"/>
              </a:rPr>
              <a:t>  c. 8/25      d. 2/25</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102B5F46-CD14-93A6-679B-5A4B32616EE0}"/>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1130939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429A5-9416-25DC-22BC-4CC898E1FD92}"/>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22E2725A-A2C3-EEEC-B369-85F1E181FA09}"/>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073CB413-1565-2109-4050-7FA7ADEEF23C}"/>
              </a:ext>
            </a:extLst>
          </p:cNvPr>
          <p:cNvSpPr>
            <a:spLocks noGrp="1"/>
          </p:cNvSpPr>
          <p:nvPr>
            <p:ph sz="half" idx="2"/>
          </p:nvPr>
        </p:nvSpPr>
        <p:spPr>
          <a:xfrm>
            <a:off x="168165" y="1777384"/>
            <a:ext cx="6230178" cy="4389500"/>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Ram speaks the truth 3 out of 4 times while </a:t>
            </a:r>
            <a:r>
              <a:rPr lang="en-IN" sz="2300" b="1" dirty="0" err="1">
                <a:effectLst/>
                <a:latin typeface="Bookman Old Style" pitchFamily="18" charset="0"/>
                <a:cs typeface="Times New Roman" panose="02020603050405020304" pitchFamily="18" charset="0"/>
              </a:rPr>
              <a:t>shyam</a:t>
            </a:r>
            <a:r>
              <a:rPr lang="en-IN" sz="2300" b="1" dirty="0">
                <a:effectLst/>
                <a:latin typeface="Bookman Old Style" pitchFamily="18" charset="0"/>
                <a:cs typeface="Times New Roman" panose="02020603050405020304" pitchFamily="18" charset="0"/>
              </a:rPr>
              <a:t> speaks the truth 3 out of 5 times . What is the probability that they contradict each other ?</a:t>
            </a:r>
          </a:p>
          <a:p>
            <a:pPr marL="0" indent="0" algn="just">
              <a:lnSpc>
                <a:spcPct val="150000"/>
              </a:lnSpc>
              <a:buNone/>
            </a:pPr>
            <a:r>
              <a:rPr lang="en-IN" sz="2300" b="1" dirty="0">
                <a:effectLst/>
                <a:latin typeface="Bookman Old Style" pitchFamily="18" charset="0"/>
                <a:cs typeface="Times New Roman" panose="02020603050405020304" pitchFamily="18" charset="0"/>
              </a:rPr>
              <a:t>    a. 3/10          b. 9/20     </a:t>
            </a:r>
          </a:p>
          <a:p>
            <a:pPr marL="0" indent="0" algn="just">
              <a:lnSpc>
                <a:spcPct val="150000"/>
              </a:lnSpc>
              <a:buNone/>
            </a:pPr>
            <a:r>
              <a:rPr lang="en-IN" sz="2300" b="1" dirty="0">
                <a:effectLst/>
                <a:latin typeface="Bookman Old Style" pitchFamily="18" charset="0"/>
                <a:cs typeface="Times New Roman" panose="02020603050405020304" pitchFamily="18" charset="0"/>
              </a:rPr>
              <a:t>     c. 11/20       d. none </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A42474CA-1BEF-A259-EF2B-85F99C0CE14E}"/>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4623996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A384F-80DC-51CB-74B2-186120CD7A38}"/>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F6AB3C20-408D-17EC-8F43-764D32C47162}"/>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9E3CDAA7-3B9C-9647-6A7B-DDCA22A0B18F}"/>
              </a:ext>
            </a:extLst>
          </p:cNvPr>
          <p:cNvSpPr>
            <a:spLocks noGrp="1"/>
          </p:cNvSpPr>
          <p:nvPr>
            <p:ph sz="half" idx="2"/>
          </p:nvPr>
        </p:nvSpPr>
        <p:spPr>
          <a:xfrm>
            <a:off x="168165" y="1777384"/>
            <a:ext cx="6230178" cy="4389500"/>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If M and N are independent events such that P(M) = a, P(N) = 1.5a and P(Exactly one of M, N) = 1/2, then a = ______</a:t>
            </a:r>
          </a:p>
          <a:p>
            <a:pPr marL="0" indent="0" algn="just">
              <a:lnSpc>
                <a:spcPct val="150000"/>
              </a:lnSpc>
              <a:buNone/>
            </a:pPr>
            <a:r>
              <a:rPr lang="en-US" sz="2300" b="1" dirty="0">
                <a:effectLst/>
                <a:latin typeface="Bookman Old Style" pitchFamily="18" charset="0"/>
                <a:cs typeface="Times New Roman" panose="02020603050405020304" pitchFamily="18" charset="0"/>
              </a:rPr>
              <a:t>A. 1/2     B. 1/8      C. ¼         D. 1/9</a:t>
            </a: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CFA22096-76F6-0BCE-BA7F-74807F17E79F}"/>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4112311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11726-EE09-7C34-D025-A61876F118B9}"/>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049C6D15-8C0A-E676-C6D2-8B6BA7962092}"/>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BF5FF464-C657-531D-E834-6DABFA0D3240}"/>
              </a:ext>
            </a:extLst>
          </p:cNvPr>
          <p:cNvSpPr>
            <a:spLocks noGrp="1"/>
          </p:cNvSpPr>
          <p:nvPr>
            <p:ph sz="half" idx="2"/>
          </p:nvPr>
        </p:nvSpPr>
        <p:spPr>
          <a:xfrm>
            <a:off x="168165" y="1777384"/>
            <a:ext cx="6230178" cy="4389500"/>
          </a:xfrm>
        </p:spPr>
        <p:txBody>
          <a:bodyPr>
            <a:noAutofit/>
          </a:bodyPr>
          <a:lstStyle/>
          <a:p>
            <a:pPr marL="0" indent="0" algn="just">
              <a:lnSpc>
                <a:spcPct val="100000"/>
              </a:lnSpc>
              <a:buNone/>
            </a:pPr>
            <a:r>
              <a:rPr lang="en-IN" sz="2300" b="1" dirty="0">
                <a:effectLst/>
                <a:latin typeface="Bookman Old Style" pitchFamily="18" charset="0"/>
                <a:cs typeface="Times New Roman" panose="02020603050405020304" pitchFamily="18" charset="0"/>
              </a:rPr>
              <a:t>What is the probability that 53 Sundays in a </a:t>
            </a:r>
          </a:p>
          <a:p>
            <a:pPr marL="0" indent="0" algn="just">
              <a:lnSpc>
                <a:spcPct val="100000"/>
              </a:lnSpc>
              <a:buNone/>
            </a:pPr>
            <a:r>
              <a:rPr lang="en-IN" sz="2300" b="1" dirty="0" err="1">
                <a:effectLst/>
                <a:latin typeface="Bookman Old Style" pitchFamily="18" charset="0"/>
                <a:cs typeface="Times New Roman" panose="02020603050405020304" pitchFamily="18" charset="0"/>
              </a:rPr>
              <a:t>i</a:t>
            </a:r>
            <a:r>
              <a:rPr lang="en-IN" sz="2300" b="1" dirty="0">
                <a:effectLst/>
                <a:latin typeface="Bookman Old Style" pitchFamily="18" charset="0"/>
                <a:cs typeface="Times New Roman" panose="02020603050405020304" pitchFamily="18" charset="0"/>
              </a:rPr>
              <a:t>. Non-leap year</a:t>
            </a:r>
          </a:p>
          <a:p>
            <a:pPr marL="0" indent="0" algn="just">
              <a:lnSpc>
                <a:spcPct val="100000"/>
              </a:lnSpc>
              <a:buNone/>
            </a:pPr>
            <a:r>
              <a:rPr lang="en-IN" sz="2300" b="1" dirty="0">
                <a:effectLst/>
                <a:latin typeface="Bookman Old Style" pitchFamily="18" charset="0"/>
                <a:cs typeface="Times New Roman" panose="02020603050405020304" pitchFamily="18" charset="0"/>
              </a:rPr>
              <a:t>a. 2/7     b. 6/7      c. 1/7      d. none</a:t>
            </a:r>
          </a:p>
          <a:p>
            <a:pPr marL="0" indent="0" algn="just">
              <a:lnSpc>
                <a:spcPct val="100000"/>
              </a:lnSpc>
              <a:buNone/>
            </a:pPr>
            <a:endParaRPr lang="en-IN" sz="2300" b="1" dirty="0">
              <a:effectLst/>
              <a:latin typeface="Bookman Old Style" pitchFamily="18" charset="0"/>
              <a:cs typeface="Times New Roman" panose="02020603050405020304" pitchFamily="18" charset="0"/>
            </a:endParaRPr>
          </a:p>
          <a:p>
            <a:pPr marL="0" indent="0" algn="just">
              <a:lnSpc>
                <a:spcPct val="100000"/>
              </a:lnSpc>
              <a:buNone/>
            </a:pPr>
            <a:r>
              <a:rPr lang="en-IN" sz="2300" b="1" dirty="0">
                <a:effectLst/>
                <a:latin typeface="Bookman Old Style" pitchFamily="18" charset="0"/>
                <a:cs typeface="Times New Roman" panose="02020603050405020304" pitchFamily="18" charset="0"/>
              </a:rPr>
              <a:t>ii. Leap year</a:t>
            </a:r>
          </a:p>
          <a:p>
            <a:pPr marL="0" indent="0" algn="just">
              <a:lnSpc>
                <a:spcPct val="100000"/>
              </a:lnSpc>
              <a:buNone/>
            </a:pPr>
            <a:r>
              <a:rPr lang="en-IN" sz="2300" b="1" dirty="0">
                <a:effectLst/>
                <a:latin typeface="Bookman Old Style" pitchFamily="18" charset="0"/>
                <a:cs typeface="Times New Roman" panose="02020603050405020304" pitchFamily="18" charset="0"/>
              </a:rPr>
              <a:t>a. 2/7       b. 6/7     c. 1/7     d. none</a:t>
            </a:r>
          </a:p>
          <a:p>
            <a:pPr marL="0" indent="0" algn="just">
              <a:lnSpc>
                <a:spcPct val="100000"/>
              </a:lnSpc>
              <a:buNone/>
            </a:pP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EC0FF29A-7882-5490-0912-9C394D2D01D8}"/>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7189714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60A2E-49E0-1E0F-F482-81123E9726D3}"/>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9D3C0E9E-D39B-C4CA-B54D-ED0CF84393E7}"/>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0182E524-E3C0-F2C7-DBCA-95D732A13224}"/>
              </a:ext>
            </a:extLst>
          </p:cNvPr>
          <p:cNvSpPr>
            <a:spLocks noGrp="1"/>
          </p:cNvSpPr>
          <p:nvPr>
            <p:ph sz="half" idx="2"/>
          </p:nvPr>
        </p:nvSpPr>
        <p:spPr>
          <a:xfrm>
            <a:off x="168165" y="1777384"/>
            <a:ext cx="6230178" cy="4389500"/>
          </a:xfrm>
        </p:spPr>
        <p:txBody>
          <a:bodyPr>
            <a:normAutofit lnSpcReduction="10000"/>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A wood casketed box contains 7 white and 10 ivory colored game coins. What is the probability of drawing 2 ivory colored game coins in succession when the coin that is drawn first is not replaced?</a:t>
            </a:r>
          </a:p>
          <a:p>
            <a:pPr marL="457200" indent="-457200" algn="just">
              <a:lnSpc>
                <a:spcPct val="150000"/>
              </a:lnSpc>
              <a:buAutoNum type="alphaUcPeriod"/>
            </a:pPr>
            <a:r>
              <a:rPr lang="en-US" sz="2300" b="1" dirty="0">
                <a:effectLst/>
                <a:latin typeface="Bookman Old Style" pitchFamily="18" charset="0"/>
                <a:cs typeface="Times New Roman" panose="02020603050405020304" pitchFamily="18" charset="0"/>
              </a:rPr>
              <a:t>45/136         B. 9/16   </a:t>
            </a:r>
          </a:p>
          <a:p>
            <a:pPr marL="0" indent="0" algn="just">
              <a:lnSpc>
                <a:spcPct val="150000"/>
              </a:lnSpc>
              <a:buNone/>
            </a:pPr>
            <a:r>
              <a:rPr lang="en-US" sz="2300" b="1" dirty="0">
                <a:effectLst/>
                <a:latin typeface="Bookman Old Style" pitchFamily="18" charset="0"/>
                <a:cs typeface="Times New Roman" panose="02020603050405020304" pitchFamily="18" charset="0"/>
              </a:rPr>
              <a:t> C. 12/141         D. 10/17</a:t>
            </a: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A9D84085-EE99-2040-D82D-8FA94CFB2102}"/>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5437055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22C22-B624-E9FD-4AF3-01688EC8CE72}"/>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83530EC6-C8BF-0BC6-350B-0F8B5390EDAA}"/>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EA7BB497-6D0A-4999-A528-8FD96366DCA2}"/>
              </a:ext>
            </a:extLst>
          </p:cNvPr>
          <p:cNvSpPr>
            <a:spLocks noGrp="1"/>
          </p:cNvSpPr>
          <p:nvPr>
            <p:ph sz="half" idx="2"/>
          </p:nvPr>
        </p:nvSpPr>
        <p:spPr>
          <a:xfrm>
            <a:off x="168165" y="1777384"/>
            <a:ext cx="6230178" cy="4389500"/>
          </a:xfrm>
        </p:spPr>
        <p:txBody>
          <a:bodyPr>
            <a:normAutofit lnSpcReduction="10000"/>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In the game of shooting, the probability that a bullet will miss the target is 1/7. Three such bullets are released from a gun simultaneously towards the target. What is the probability that the target will be hit?</a:t>
            </a:r>
          </a:p>
          <a:p>
            <a:pPr marL="457200" indent="-457200" algn="just">
              <a:lnSpc>
                <a:spcPct val="150000"/>
              </a:lnSpc>
              <a:buAutoNum type="alphaUcPeriod"/>
            </a:pPr>
            <a:r>
              <a:rPr lang="en-US" sz="2300" b="1" dirty="0">
                <a:effectLst/>
                <a:latin typeface="Bookman Old Style" pitchFamily="18" charset="0"/>
                <a:cs typeface="Times New Roman" panose="02020603050405020304" pitchFamily="18" charset="0"/>
              </a:rPr>
              <a:t>1/343              B. 342/343  </a:t>
            </a:r>
          </a:p>
          <a:p>
            <a:pPr marL="0" indent="0" algn="just">
              <a:lnSpc>
                <a:spcPct val="150000"/>
              </a:lnSpc>
              <a:buNone/>
            </a:pPr>
            <a:r>
              <a:rPr lang="en-US" sz="2300" b="1" dirty="0">
                <a:effectLst/>
                <a:latin typeface="Bookman Old Style" pitchFamily="18" charset="0"/>
                <a:cs typeface="Times New Roman" panose="02020603050405020304" pitchFamily="18" charset="0"/>
              </a:rPr>
              <a:t> C. 216/343           D. 127/343</a:t>
            </a: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EF66FB11-E64C-F01A-99B7-6899321B900B}"/>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24260624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66035-66CE-20EA-162F-DFBB54913563}"/>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5EDF772E-3C37-D54B-D746-550094CE20D8}"/>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C5F97D6D-9CEB-D79E-3D2A-2631CDA557DA}"/>
              </a:ext>
            </a:extLst>
          </p:cNvPr>
          <p:cNvSpPr>
            <a:spLocks noGrp="1"/>
          </p:cNvSpPr>
          <p:nvPr>
            <p:ph sz="half" idx="2"/>
          </p:nvPr>
        </p:nvSpPr>
        <p:spPr>
          <a:xfrm>
            <a:off x="168165" y="1777384"/>
            <a:ext cx="6230178" cy="4389500"/>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The probability that Nandan will come first in the Math's’ Olympic tour is 1/5 and the probability that Herry will come first in the Math's’ Olympic is 3/4. What is the probability that only one of them will come first in Math's’ Olympic tour?</a:t>
            </a:r>
          </a:p>
          <a:p>
            <a:pPr marL="0" indent="0" algn="just">
              <a:lnSpc>
                <a:spcPct val="150000"/>
              </a:lnSpc>
              <a:buNone/>
            </a:pPr>
            <a:r>
              <a:rPr lang="en-US" sz="2300" b="1" dirty="0">
                <a:effectLst/>
                <a:latin typeface="Bookman Old Style" pitchFamily="18" charset="0"/>
                <a:cs typeface="Times New Roman" panose="02020603050405020304" pitchFamily="18" charset="0"/>
              </a:rPr>
              <a:t>A. 7/20   B. 2/5   C. 1/5   D. 13/20</a:t>
            </a: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C624426C-826E-C392-773D-717A47326952}"/>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4151437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4DCAB-78B0-611B-6A4B-43F1C775F93B}"/>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50C796F3-78C7-E567-0DE6-E76DA4BDD7A5}"/>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DA9D9EA2-A023-FD03-B94B-CB867CB67178}"/>
              </a:ext>
            </a:extLst>
          </p:cNvPr>
          <p:cNvSpPr>
            <a:spLocks noGrp="1"/>
          </p:cNvSpPr>
          <p:nvPr>
            <p:ph sz="half" idx="2"/>
          </p:nvPr>
        </p:nvSpPr>
        <p:spPr>
          <a:xfrm>
            <a:off x="168165" y="1777384"/>
            <a:ext cx="6230178" cy="4389500"/>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A bag contains 5 brown wrapped, 4 yellow wrapped and 7 mustard wrapped chocolates. Three chocolates are drawn randomly simultaneously. What is the probability that the chocolates are wrapped in different </a:t>
            </a:r>
            <a:r>
              <a:rPr lang="en-US" sz="2300" b="1" dirty="0" err="1">
                <a:effectLst/>
                <a:latin typeface="Bookman Old Style" pitchFamily="18" charset="0"/>
                <a:cs typeface="Times New Roman" panose="02020603050405020304" pitchFamily="18" charset="0"/>
              </a:rPr>
              <a:t>colour</a:t>
            </a:r>
            <a:r>
              <a:rPr lang="en-US" sz="2300" b="1" dirty="0">
                <a:effectLst/>
                <a:latin typeface="Bookman Old Style" pitchFamily="18" charset="0"/>
                <a:cs typeface="Times New Roman" panose="02020603050405020304" pitchFamily="18" charset="0"/>
              </a:rPr>
              <a:t>?</a:t>
            </a:r>
          </a:p>
          <a:p>
            <a:pPr marL="0" indent="0" algn="just">
              <a:lnSpc>
                <a:spcPct val="150000"/>
              </a:lnSpc>
              <a:buNone/>
            </a:pPr>
            <a:r>
              <a:rPr lang="en-US" sz="2300" b="1" dirty="0">
                <a:effectLst/>
                <a:latin typeface="Bookman Old Style" pitchFamily="18" charset="0"/>
                <a:cs typeface="Times New Roman" panose="02020603050405020304" pitchFamily="18" charset="0"/>
              </a:rPr>
              <a:t>A. 1/6   B. 1/4    C. 5/16     D. 1/3</a:t>
            </a: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555E95F0-110B-3DCD-2D20-5198B4B44865}"/>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18237631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347A0-124C-03EA-8D1A-62F653563BA7}"/>
            </a:ext>
          </a:extLst>
        </p:cNvPr>
        <p:cNvGrpSpPr/>
        <p:nvPr/>
      </p:nvGrpSpPr>
      <p:grpSpPr>
        <a:xfrm>
          <a:off x="0" y="0"/>
          <a:ext cx="0" cy="0"/>
          <a:chOff x="0" y="0"/>
          <a:chExt cx="0" cy="0"/>
        </a:xfrm>
      </p:grpSpPr>
      <p:sp>
        <p:nvSpPr>
          <p:cNvPr id="10" name="Text Placeholder 9">
            <a:extLst>
              <a:ext uri="{FF2B5EF4-FFF2-40B4-BE49-F238E27FC236}">
                <a16:creationId xmlns:a16="http://schemas.microsoft.com/office/drawing/2014/main" id="{83449D19-2F28-E21D-3CB5-0076B96823DC}"/>
              </a:ext>
            </a:extLst>
          </p:cNvPr>
          <p:cNvSpPr>
            <a:spLocks noGrp="1"/>
          </p:cNvSpPr>
          <p:nvPr>
            <p:ph type="body" idx="1"/>
          </p:nvPr>
        </p:nvSpPr>
        <p:spPr>
          <a:xfrm>
            <a:off x="0" y="953472"/>
            <a:ext cx="5157787" cy="823912"/>
          </a:xfrm>
        </p:spPr>
        <p:txBody>
          <a:bodyPr/>
          <a:lstStyle/>
          <a:p>
            <a:r>
              <a:rPr lang="en-US" dirty="0"/>
              <a:t>Question</a:t>
            </a:r>
          </a:p>
        </p:txBody>
      </p:sp>
      <p:sp>
        <p:nvSpPr>
          <p:cNvPr id="11" name="Content Placeholder 10">
            <a:extLst>
              <a:ext uri="{FF2B5EF4-FFF2-40B4-BE49-F238E27FC236}">
                <a16:creationId xmlns:a16="http://schemas.microsoft.com/office/drawing/2014/main" id="{73904028-6D19-0A13-F2D1-82305C09BD48}"/>
              </a:ext>
            </a:extLst>
          </p:cNvPr>
          <p:cNvSpPr>
            <a:spLocks noGrp="1"/>
          </p:cNvSpPr>
          <p:nvPr>
            <p:ph sz="half" idx="2"/>
          </p:nvPr>
        </p:nvSpPr>
        <p:spPr>
          <a:xfrm>
            <a:off x="168165" y="1777384"/>
            <a:ext cx="6230178" cy="4389500"/>
          </a:xfrm>
        </p:spPr>
        <p:txBody>
          <a:bodyPr>
            <a:normAutofit/>
          </a:bodyPr>
          <a:lstStyle/>
          <a:p>
            <a:pPr marL="0" indent="0" algn="just">
              <a:lnSpc>
                <a:spcPct val="150000"/>
              </a:lnSpc>
              <a:buNone/>
            </a:pPr>
            <a:r>
              <a:rPr lang="en-US" sz="2300" b="1" dirty="0">
                <a:effectLst/>
                <a:latin typeface="Bookman Old Style" pitchFamily="18" charset="0"/>
                <a:cs typeface="Times New Roman" panose="02020603050405020304" pitchFamily="18" charset="0"/>
              </a:rPr>
              <a:t>Three trucks P, Q and R moved from Delhi to Mumbai. If the ratio of their arriving safely are 4:5, 7:11 and 9:13 respectively, then the probability of all the trucks arriving safely is:</a:t>
            </a:r>
          </a:p>
          <a:p>
            <a:pPr marL="457200" indent="-457200" algn="just">
              <a:lnSpc>
                <a:spcPct val="150000"/>
              </a:lnSpc>
              <a:buAutoNum type="alphaUcPeriod"/>
            </a:pPr>
            <a:r>
              <a:rPr lang="en-US" sz="2300" b="1" dirty="0">
                <a:effectLst/>
                <a:latin typeface="Bookman Old Style" pitchFamily="18" charset="0"/>
                <a:cs typeface="Times New Roman" panose="02020603050405020304" pitchFamily="18" charset="0"/>
              </a:rPr>
              <a:t>7/99              B. 6/101     </a:t>
            </a:r>
          </a:p>
          <a:p>
            <a:pPr marL="0" indent="0" algn="just">
              <a:lnSpc>
                <a:spcPct val="150000"/>
              </a:lnSpc>
              <a:buNone/>
            </a:pPr>
            <a:r>
              <a:rPr lang="en-US" sz="2300" b="1" dirty="0">
                <a:effectLst/>
                <a:latin typeface="Bookman Old Style" pitchFamily="18" charset="0"/>
                <a:cs typeface="Times New Roman" panose="02020603050405020304" pitchFamily="18" charset="0"/>
              </a:rPr>
              <a:t>C. 92/99              D. 84/97</a:t>
            </a:r>
            <a:endParaRPr lang="en-IN" sz="2300" b="1" dirty="0">
              <a:effectLst/>
              <a:ea typeface="Calibri" panose="020F0502020204030204" pitchFamily="34" charset="0"/>
              <a:cs typeface="Times New Roman" panose="02020603050405020304" pitchFamily="18" charset="0"/>
            </a:endParaRPr>
          </a:p>
        </p:txBody>
      </p:sp>
      <p:sp>
        <p:nvSpPr>
          <p:cNvPr id="12" name="Text Placeholder 11">
            <a:extLst>
              <a:ext uri="{FF2B5EF4-FFF2-40B4-BE49-F238E27FC236}">
                <a16:creationId xmlns:a16="http://schemas.microsoft.com/office/drawing/2014/main" id="{4C42E0B2-A5ED-E108-6F04-1165CA2E3D20}"/>
              </a:ext>
            </a:extLst>
          </p:cNvPr>
          <p:cNvSpPr>
            <a:spLocks noGrp="1"/>
          </p:cNvSpPr>
          <p:nvPr>
            <p:ph type="body" sz="quarter" idx="3"/>
          </p:nvPr>
        </p:nvSpPr>
        <p:spPr>
          <a:xfrm>
            <a:off x="6398343" y="953472"/>
            <a:ext cx="5183188" cy="823912"/>
          </a:xfrm>
        </p:spPr>
        <p:txBody>
          <a:bodyPr/>
          <a:lstStyle/>
          <a:p>
            <a:r>
              <a:rPr lang="en-US" dirty="0"/>
              <a:t>Solution</a:t>
            </a:r>
          </a:p>
        </p:txBody>
      </p:sp>
    </p:spTree>
    <p:extLst>
      <p:ext uri="{BB962C8B-B14F-4D97-AF65-F5344CB8AC3E}">
        <p14:creationId xmlns:p14="http://schemas.microsoft.com/office/powerpoint/2010/main" val="3579851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A93E7-59D7-54A9-CFBA-7949BC35DDC4}"/>
            </a:ext>
          </a:extLst>
        </p:cNvPr>
        <p:cNvGrpSpPr/>
        <p:nvPr/>
      </p:nvGrpSpPr>
      <p:grpSpPr>
        <a:xfrm>
          <a:off x="0" y="0"/>
          <a:ext cx="0" cy="0"/>
          <a:chOff x="0" y="0"/>
          <a:chExt cx="0" cy="0"/>
        </a:xfrm>
      </p:grpSpPr>
      <p:sp>
        <p:nvSpPr>
          <p:cNvPr id="8" name="Google Shape;524;p33">
            <a:extLst>
              <a:ext uri="{FF2B5EF4-FFF2-40B4-BE49-F238E27FC236}">
                <a16:creationId xmlns:a16="http://schemas.microsoft.com/office/drawing/2014/main" id="{BCC90094-5E01-4B36-7AC8-8A8F86CC98D8}"/>
              </a:ext>
            </a:extLst>
          </p:cNvPr>
          <p:cNvSpPr txBox="1">
            <a:spLocks/>
          </p:cNvSpPr>
          <p:nvPr/>
        </p:nvSpPr>
        <p:spPr>
          <a:xfrm>
            <a:off x="2421143" y="2007805"/>
            <a:ext cx="6593700" cy="1159800"/>
          </a:xfrm>
          <a:prstGeom prst="rect">
            <a:avLst/>
          </a:prstGeom>
        </p:spPr>
        <p:txBody>
          <a:bodyPr spcFirstLastPara="1" wrap="square" lIns="91425" tIns="91425" rIns="91425" bIns="91425"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IN" sz="6000" b="1" dirty="0">
                <a:solidFill>
                  <a:schemeClr val="accent2"/>
                </a:solidFill>
              </a:rPr>
              <a:t>THANK YOU ALL!</a:t>
            </a:r>
          </a:p>
        </p:txBody>
      </p:sp>
      <p:sp>
        <p:nvSpPr>
          <p:cNvPr id="9" name="Google Shape;524;p33">
            <a:extLst>
              <a:ext uri="{FF2B5EF4-FFF2-40B4-BE49-F238E27FC236}">
                <a16:creationId xmlns:a16="http://schemas.microsoft.com/office/drawing/2014/main" id="{A8FC00A4-EA80-C553-AE72-1239EDE0B2EB}"/>
              </a:ext>
            </a:extLst>
          </p:cNvPr>
          <p:cNvSpPr txBox="1">
            <a:spLocks/>
          </p:cNvSpPr>
          <p:nvPr/>
        </p:nvSpPr>
        <p:spPr>
          <a:xfrm>
            <a:off x="2911000" y="3994920"/>
            <a:ext cx="6593700" cy="1159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1pPr>
            <a:lvl2pPr marR="0" lvl="1"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2pPr>
            <a:lvl3pPr marR="0" lvl="2"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3pPr>
            <a:lvl4pPr marR="0" lvl="3"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4pPr>
            <a:lvl5pPr marR="0" lvl="4"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5pPr>
            <a:lvl6pPr marR="0" lvl="5"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6pPr>
            <a:lvl7pPr marR="0" lvl="6"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7pPr>
            <a:lvl8pPr marR="0" lvl="7"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8pPr>
            <a:lvl9pPr marR="0" lvl="8" algn="l" rtl="0">
              <a:lnSpc>
                <a:spcPct val="100000"/>
              </a:lnSpc>
              <a:spcBef>
                <a:spcPts val="0"/>
              </a:spcBef>
              <a:spcAft>
                <a:spcPts val="0"/>
              </a:spcAft>
              <a:buClr>
                <a:schemeClr val="lt1"/>
              </a:buClr>
              <a:buSzPts val="2000"/>
              <a:buFont typeface="Roboto Condensed"/>
              <a:buNone/>
              <a:defRPr sz="2000" b="1" i="0" u="none" strike="noStrike" cap="none">
                <a:solidFill>
                  <a:schemeClr val="lt1"/>
                </a:solidFill>
                <a:latin typeface="Roboto Condensed"/>
                <a:ea typeface="Roboto Condensed"/>
                <a:cs typeface="Roboto Condensed"/>
                <a:sym typeface="Roboto Condensed"/>
              </a:defRPr>
            </a:lvl9pPr>
          </a:lstStyle>
          <a:p>
            <a:pPr algn="ctr"/>
            <a:r>
              <a:rPr lang="en-IN" sz="6000" dirty="0">
                <a:solidFill>
                  <a:srgbClr val="00B0F0"/>
                </a:solidFill>
              </a:rPr>
              <a:t>All the best… </a:t>
            </a:r>
          </a:p>
        </p:txBody>
      </p:sp>
    </p:spTree>
    <p:extLst>
      <p:ext uri="{BB962C8B-B14F-4D97-AF65-F5344CB8AC3E}">
        <p14:creationId xmlns:p14="http://schemas.microsoft.com/office/powerpoint/2010/main" val="26809882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593</TotalTime>
  <Words>2274</Words>
  <Application>Microsoft Office PowerPoint</Application>
  <PresentationFormat>Widescreen</PresentationFormat>
  <Paragraphs>246</Paragraphs>
  <Slides>53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Bookman Old Style</vt:lpstr>
      <vt:lpstr>Calibri</vt:lpstr>
      <vt:lpstr>Cambria Math</vt:lpstr>
      <vt:lpstr>Rockwell</vt:lpstr>
      <vt:lpstr>Times New Roman</vt:lpstr>
      <vt:lpstr>Damask</vt:lpstr>
      <vt:lpstr>Probability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Name - Quiz Explanation</dc:title>
  <dc:creator>Abid ali</dc:creator>
  <cp:lastModifiedBy>harikrishnareddy pagadam</cp:lastModifiedBy>
  <cp:revision>225</cp:revision>
  <dcterms:created xsi:type="dcterms:W3CDTF">2024-09-07T01:57:29Z</dcterms:created>
  <dcterms:modified xsi:type="dcterms:W3CDTF">2026-05-28T16:59:09Z</dcterms:modified>
</cp:coreProperties>
</file>