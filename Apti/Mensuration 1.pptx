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29" roundtripDataSignature="AMtx7mhiafH7zuZE2hbmZJ1PVLlG+2PD5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 name="Google Shape;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 name="Google Shape;5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 name="Google Shape;66;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2" name="Google Shape;12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 name="Google Shape;12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 name="Google Shape;136;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1" name="Google Shape;17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78d993554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778d993554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2" name="Google Shape;19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9" name="Google Shape;199;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2" name="Google Shape;12;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 name="Shape 14"/>
        <p:cNvGrpSpPr/>
        <p:nvPr/>
      </p:nvGrpSpPr>
      <p:grpSpPr>
        <a:xfrm>
          <a:off x="0" y="0"/>
          <a:ext cx="0" cy="0"/>
          <a:chOff x="0" y="0"/>
          <a:chExt cx="0" cy="0"/>
        </a:xfrm>
      </p:grpSpPr>
      <p:sp>
        <p:nvSpPr>
          <p:cNvPr id="15" name="Google Shape;15;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6" name="Google Shape;16;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7" name="Google Shape;17;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8" name="Shape 18"/>
        <p:cNvGrpSpPr/>
        <p:nvPr/>
      </p:nvGrpSpPr>
      <p:grpSpPr>
        <a:xfrm>
          <a:off x="0" y="0"/>
          <a:ext cx="0" cy="0"/>
          <a:chOff x="0" y="0"/>
          <a:chExt cx="0" cy="0"/>
        </a:xfrm>
      </p:grpSpPr>
      <p:sp>
        <p:nvSpPr>
          <p:cNvPr id="19" name="Google Shape;19;p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0" name="Google Shape;2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3" name="Google Shape;23;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5" name="Google Shape;25;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8" name="Google Shape;28;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1" name="Google Shape;31;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2" name="Google Shape;32;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5" name="Google Shape;35;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9" name="Google Shape;39;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1" name="Google Shape;41;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4" name="Google Shape;44;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3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7" name="Google Shape;47;p3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8" name="Google Shape;48;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pic>
        <p:nvPicPr>
          <p:cNvPr descr="Logo, company name&#10;&#10;Description automatically generated" id="9" name="Google Shape;9;p23"/>
          <p:cNvPicPr preferRelativeResize="0"/>
          <p:nvPr/>
        </p:nvPicPr>
        <p:blipFill rotWithShape="1">
          <a:blip r:embed="rId1">
            <a:alphaModFix/>
          </a:blip>
          <a:srcRect b="0" l="0" r="0" t="0"/>
          <a:stretch/>
        </p:blipFill>
        <p:spPr>
          <a:xfrm>
            <a:off x="7124529" y="-1"/>
            <a:ext cx="2019475" cy="80779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b="1" lang="en-GB">
                <a:latin typeface="Calibri"/>
                <a:ea typeface="Calibri"/>
                <a:cs typeface="Calibri"/>
                <a:sym typeface="Calibri"/>
              </a:rPr>
              <a:t>Mensuration</a:t>
            </a:r>
            <a:endParaRPr b="1">
              <a:latin typeface="Calibri"/>
              <a:ea typeface="Calibri"/>
              <a:cs typeface="Calibri"/>
              <a:sym typeface="Calibri"/>
            </a:endParaRPr>
          </a:p>
        </p:txBody>
      </p:sp>
      <p:sp>
        <p:nvSpPr>
          <p:cNvPr id="56" name="Google Shape;56;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t>Type – 1 : To find the cost</a:t>
            </a:r>
            <a:endParaRPr b="1"/>
          </a:p>
        </p:txBody>
      </p:sp>
      <p:sp>
        <p:nvSpPr>
          <p:cNvPr id="62" name="Google Shape;62;p2"/>
          <p:cNvSpPr txBox="1"/>
          <p:nvPr>
            <p:ph idx="1" type="body"/>
          </p:nvPr>
        </p:nvSpPr>
        <p:spPr>
          <a:xfrm>
            <a:off x="311700" y="1164667"/>
            <a:ext cx="8832300" cy="3990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GB">
                <a:solidFill>
                  <a:srgbClr val="073763"/>
                </a:solidFill>
              </a:rPr>
              <a:t>The length of a rectangular plot is 20 m more than its breath. If the cost of fencing the plot at Rs. 26.50 per metre is Rs. 5300, what is the length of the plot in metres?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342900" lvl="0" marL="457200" rtl="0" algn="l">
              <a:lnSpc>
                <a:spcPct val="115000"/>
              </a:lnSpc>
              <a:spcBef>
                <a:spcPts val="1200"/>
              </a:spcBef>
              <a:spcAft>
                <a:spcPts val="0"/>
              </a:spcAft>
              <a:buClr>
                <a:srgbClr val="073763"/>
              </a:buClr>
              <a:buSzPts val="1800"/>
              <a:buAutoNum type="alphaUcPeriod"/>
            </a:pPr>
            <a:r>
              <a:rPr lang="en-GB">
                <a:solidFill>
                  <a:srgbClr val="073763"/>
                </a:solidFill>
              </a:rPr>
              <a:t>40</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50</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120</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Data and adequate</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None of these</a:t>
            </a:r>
            <a:endParaRPr>
              <a:solidFill>
                <a:srgbClr val="073763"/>
              </a:solidFill>
            </a:endParaRPr>
          </a:p>
        </p:txBody>
      </p:sp>
      <p:pic>
        <p:nvPicPr>
          <p:cNvPr descr="checkmark icon" id="63" name="Google Shape;63;p2"/>
          <p:cNvPicPr preferRelativeResize="0"/>
          <p:nvPr/>
        </p:nvPicPr>
        <p:blipFill rotWithShape="1">
          <a:blip r:embed="rId3">
            <a:alphaModFix/>
          </a:blip>
          <a:srcRect b="0" l="0" r="0" t="0"/>
          <a:stretch/>
        </p:blipFill>
        <p:spPr>
          <a:xfrm>
            <a:off x="421428" y="3701561"/>
            <a:ext cx="382850" cy="382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69" name="Google Shape;69;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GB">
                <a:solidFill>
                  <a:srgbClr val="073763"/>
                </a:solidFill>
              </a:rPr>
              <a:t>A farmer wishes to start 100 m² rectangular vegetable garden. Since he has only 30 m barbed wire, he fences three sides of the garden letting his house compound wall act as the fourth side fencing. The dimension of the garden is</a:t>
            </a:r>
            <a:endParaRPr>
              <a:solidFill>
                <a:srgbClr val="073763"/>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073763"/>
              </a:solidFill>
            </a:endParaRPr>
          </a:p>
          <a:p>
            <a:pPr indent="0" lvl="0" marL="0" rtl="0" algn="l">
              <a:lnSpc>
                <a:spcPct val="115000"/>
              </a:lnSpc>
              <a:spcBef>
                <a:spcPts val="1200"/>
              </a:spcBef>
              <a:spcAft>
                <a:spcPts val="0"/>
              </a:spcAft>
              <a:buClr>
                <a:schemeClr val="dk1"/>
              </a:buClr>
              <a:buSzPts val="1100"/>
              <a:buFont typeface="Arial"/>
              <a:buNone/>
            </a:pPr>
            <a:r>
              <a:rPr lang="en-GB">
                <a:solidFill>
                  <a:srgbClr val="073763"/>
                </a:solidFill>
              </a:rPr>
              <a:t>A. 15m x 6.67m</a:t>
            </a:r>
            <a:endParaRPr>
              <a:solidFill>
                <a:srgbClr val="073763"/>
              </a:solidFill>
            </a:endParaRPr>
          </a:p>
          <a:p>
            <a:pPr indent="0" lvl="0" marL="0" rtl="0" algn="l">
              <a:lnSpc>
                <a:spcPct val="115000"/>
              </a:lnSpc>
              <a:spcBef>
                <a:spcPts val="1200"/>
              </a:spcBef>
              <a:spcAft>
                <a:spcPts val="0"/>
              </a:spcAft>
              <a:buClr>
                <a:schemeClr val="dk1"/>
              </a:buClr>
              <a:buSzPts val="1100"/>
              <a:buFont typeface="Arial"/>
              <a:buNone/>
            </a:pPr>
            <a:r>
              <a:rPr lang="en-GB">
                <a:solidFill>
                  <a:srgbClr val="073763"/>
                </a:solidFill>
              </a:rPr>
              <a:t>B. 20m x 5m</a:t>
            </a:r>
            <a:endParaRPr>
              <a:solidFill>
                <a:srgbClr val="073763"/>
              </a:solidFill>
            </a:endParaRPr>
          </a:p>
          <a:p>
            <a:pPr indent="0" lvl="0" marL="0" rtl="0" algn="l">
              <a:lnSpc>
                <a:spcPct val="115000"/>
              </a:lnSpc>
              <a:spcBef>
                <a:spcPts val="1200"/>
              </a:spcBef>
              <a:spcAft>
                <a:spcPts val="0"/>
              </a:spcAft>
              <a:buClr>
                <a:schemeClr val="dk1"/>
              </a:buClr>
              <a:buSzPts val="1100"/>
              <a:buFont typeface="Arial"/>
              <a:buNone/>
            </a:pPr>
            <a:r>
              <a:rPr lang="en-GB">
                <a:solidFill>
                  <a:srgbClr val="073763"/>
                </a:solidFill>
              </a:rPr>
              <a:t>C. 30m x 3.33m</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40m x 2.5m</a:t>
            </a:r>
            <a:endParaRPr>
              <a:solidFill>
                <a:srgbClr val="073763"/>
              </a:solidFill>
            </a:endParaRPr>
          </a:p>
        </p:txBody>
      </p:sp>
      <p:pic>
        <p:nvPicPr>
          <p:cNvPr descr="checkmark icon" id="70" name="Google Shape;70;p3"/>
          <p:cNvPicPr preferRelativeResize="0"/>
          <p:nvPr/>
        </p:nvPicPr>
        <p:blipFill rotWithShape="1">
          <a:blip r:embed="rId3">
            <a:alphaModFix/>
          </a:blip>
          <a:srcRect b="0" l="0" r="0" t="0"/>
          <a:stretch/>
        </p:blipFill>
        <p:spPr>
          <a:xfrm>
            <a:off x="266374" y="2971701"/>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
                                        </p:tgtEl>
                                        <p:attrNameLst>
                                          <p:attrName>style.visibility</p:attrName>
                                        </p:attrNameLst>
                                      </p:cBhvr>
                                      <p:to>
                                        <p:strVal val="visible"/>
                                      </p:to>
                                    </p:set>
                                    <p:animEffect filter="fade" transition="in">
                                      <p:cBhvr>
                                        <p:cTn dur="1000"/>
                                        <p:tgtEl>
                                          <p:spTgt spid="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76" name="Google Shape;76;p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The length of a room is 5.5 m and breadth is 3.75 m. Find the cost of paving the floor by slabs at the rate of Rs. 800 per square metre?</a:t>
            </a:r>
            <a:endParaRPr>
              <a:solidFill>
                <a:srgbClr val="073763"/>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Rs. 15000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Rs. 15500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Rs. 15600</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Rs. 16500</a:t>
            </a:r>
            <a:endParaRPr>
              <a:solidFill>
                <a:srgbClr val="073763"/>
              </a:solidFill>
            </a:endParaRPr>
          </a:p>
        </p:txBody>
      </p:sp>
      <p:pic>
        <p:nvPicPr>
          <p:cNvPr descr="checkmark icon" id="77" name="Google Shape;77;p4"/>
          <p:cNvPicPr preferRelativeResize="0"/>
          <p:nvPr/>
        </p:nvPicPr>
        <p:blipFill rotWithShape="1">
          <a:blip r:embed="rId3">
            <a:alphaModFix/>
          </a:blip>
          <a:srcRect b="0" l="0" r="0" t="0"/>
          <a:stretch/>
        </p:blipFill>
        <p:spPr>
          <a:xfrm>
            <a:off x="311699" y="3789176"/>
            <a:ext cx="418150" cy="418150"/>
          </a:xfrm>
          <a:prstGeom prst="rect">
            <a:avLst/>
          </a:prstGeom>
          <a:noFill/>
          <a:ln>
            <a:noFill/>
          </a:ln>
          <a:effectLst>
            <a:outerShdw blurRad="57150" rotWithShape="0" algn="bl" dir="5400000" dist="19050">
              <a:srgbClr val="000000">
                <a:alpha val="49803"/>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
                                        </p:tgtEl>
                                        <p:attrNameLst>
                                          <p:attrName>style.visibility</p:attrName>
                                        </p:attrNameLst>
                                      </p:cBhvr>
                                      <p:to>
                                        <p:strVal val="visible"/>
                                      </p:to>
                                    </p:set>
                                    <p:animEffect filter="fade" transition="in">
                                      <p:cBhvr>
                                        <p:cTn dur="1000"/>
                                        <p:tgtEl>
                                          <p:spTgt spid="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83" name="Google Shape;83;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GB">
                <a:solidFill>
                  <a:srgbClr val="073763"/>
                </a:solidFill>
              </a:rPr>
              <a:t>A room is 15 feet long and 12 feet broad. A mat has to be placed on the floor of this room leaving 1 1/2 feet space from the walls. What will be the cost of the mat at the rate of Rs. 3.50 per square feet?</a:t>
            </a:r>
            <a:endParaRPr>
              <a:solidFill>
                <a:srgbClr val="073763"/>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Rs. 378</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Rs. 472.50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Rs. 496</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Rs. 630</a:t>
            </a:r>
            <a:endParaRPr>
              <a:solidFill>
                <a:srgbClr val="073763"/>
              </a:solidFill>
            </a:endParaRPr>
          </a:p>
        </p:txBody>
      </p:sp>
      <p:pic>
        <p:nvPicPr>
          <p:cNvPr descr="checkmark icon" id="84" name="Google Shape;84;p5"/>
          <p:cNvPicPr preferRelativeResize="0"/>
          <p:nvPr/>
        </p:nvPicPr>
        <p:blipFill rotWithShape="1">
          <a:blip r:embed="rId3">
            <a:alphaModFix/>
          </a:blip>
          <a:srcRect b="0" l="0" r="0" t="0"/>
          <a:stretch/>
        </p:blipFill>
        <p:spPr>
          <a:xfrm>
            <a:off x="257199" y="2651601"/>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000"/>
                                        <p:tgtEl>
                                          <p:spTgt spid="8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90" name="Google Shape;90;p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GB">
                <a:solidFill>
                  <a:srgbClr val="073763"/>
                </a:solidFill>
              </a:rPr>
              <a:t>The cost of paper in the four walls of a room is Rs.475. Each one of the length, bread and height of another room is double that of this room. The cost of paper in the walls of this new room is?</a:t>
            </a:r>
            <a:endParaRPr>
              <a:solidFill>
                <a:srgbClr val="073763"/>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Rs. 712.50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Rs. 950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Rs. 1425</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Rs. 1900</a:t>
            </a:r>
            <a:endParaRPr>
              <a:solidFill>
                <a:srgbClr val="073763"/>
              </a:solidFill>
            </a:endParaRPr>
          </a:p>
        </p:txBody>
      </p:sp>
      <p:pic>
        <p:nvPicPr>
          <p:cNvPr descr="checkmark icon" id="91" name="Google Shape;91;p6"/>
          <p:cNvPicPr preferRelativeResize="0"/>
          <p:nvPr/>
        </p:nvPicPr>
        <p:blipFill rotWithShape="1">
          <a:blip r:embed="rId3">
            <a:alphaModFix/>
          </a:blip>
          <a:srcRect b="0" l="0" r="0" t="0"/>
          <a:stretch/>
        </p:blipFill>
        <p:spPr>
          <a:xfrm>
            <a:off x="311699" y="3926926"/>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000"/>
                                        <p:tgtEl>
                                          <p:spTgt spid="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97" name="Google Shape;97;p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GB">
                <a:solidFill>
                  <a:srgbClr val="073763"/>
                </a:solidFill>
              </a:rPr>
              <a:t>A rectangular lawn 55 m x 35 m has two roads each 4 cm wide running in the middle of it, one parallel to the length and the other parallel to the breadth. The cost of gravelling the roads at 75 paise per sq m is</a:t>
            </a:r>
            <a:endParaRPr>
              <a:solidFill>
                <a:srgbClr val="073763"/>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Rs. 254.50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Rs. 258</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Rs. 262.50</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Rs. 270</a:t>
            </a:r>
            <a:endParaRPr>
              <a:solidFill>
                <a:srgbClr val="073763"/>
              </a:solidFill>
            </a:endParaRPr>
          </a:p>
        </p:txBody>
      </p:sp>
      <p:pic>
        <p:nvPicPr>
          <p:cNvPr descr="checkmark icon" id="98" name="Google Shape;98;p7"/>
          <p:cNvPicPr preferRelativeResize="0"/>
          <p:nvPr/>
        </p:nvPicPr>
        <p:blipFill rotWithShape="1">
          <a:blip r:embed="rId3">
            <a:alphaModFix/>
          </a:blip>
          <a:srcRect b="0" l="0" r="0" t="0"/>
          <a:stretch/>
        </p:blipFill>
        <p:spPr>
          <a:xfrm>
            <a:off x="311699" y="3017626"/>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8"/>
                                        </p:tgtEl>
                                        <p:attrNameLst>
                                          <p:attrName>style.visibility</p:attrName>
                                        </p:attrNameLst>
                                      </p:cBhvr>
                                      <p:to>
                                        <p:strVal val="visible"/>
                                      </p:to>
                                    </p:set>
                                    <p:animEffect filter="fade" transition="in">
                                      <p:cBhvr>
                                        <p:cTn dur="1000"/>
                                        <p:tgtEl>
                                          <p:spTgt spid="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04" name="Google Shape;104;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GB">
                <a:solidFill>
                  <a:srgbClr val="073763"/>
                </a:solidFill>
              </a:rPr>
              <a:t>The cost of fencing a square field at Rs.20 per metre is Rs.10080. How much will it cost to lay a 3 m wide payment along the fencing inside the field at Rs.50 per square metre.</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Rs. 37350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Rs. 73800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Rs. 77400</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Rs. 74600</a:t>
            </a:r>
            <a:endParaRPr>
              <a:solidFill>
                <a:srgbClr val="073763"/>
              </a:solidFill>
            </a:endParaRPr>
          </a:p>
        </p:txBody>
      </p:sp>
      <p:pic>
        <p:nvPicPr>
          <p:cNvPr descr="checkmark icon" id="105" name="Google Shape;105;p8"/>
          <p:cNvPicPr preferRelativeResize="0"/>
          <p:nvPr/>
        </p:nvPicPr>
        <p:blipFill rotWithShape="1">
          <a:blip r:embed="rId3">
            <a:alphaModFix/>
          </a:blip>
          <a:srcRect b="0" l="0" r="0" t="0"/>
          <a:stretch/>
        </p:blipFill>
        <p:spPr>
          <a:xfrm>
            <a:off x="311699" y="2947501"/>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10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t>Type 2 : Ratio based</a:t>
            </a:r>
            <a:endParaRPr b="1"/>
          </a:p>
        </p:txBody>
      </p:sp>
      <p:sp>
        <p:nvSpPr>
          <p:cNvPr id="111" name="Google Shape;11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The ratio of the area of a square to that of the square drawn on its diagonal is?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1 : 2</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2 : 3</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3 : 4</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4 : 5</a:t>
            </a:r>
            <a:endParaRPr>
              <a:solidFill>
                <a:srgbClr val="073763"/>
              </a:solidFill>
            </a:endParaRPr>
          </a:p>
        </p:txBody>
      </p:sp>
      <p:pic>
        <p:nvPicPr>
          <p:cNvPr descr="checkmark icon" id="112" name="Google Shape;112;p9"/>
          <p:cNvPicPr preferRelativeResize="0"/>
          <p:nvPr/>
        </p:nvPicPr>
        <p:blipFill rotWithShape="1">
          <a:blip r:embed="rId3">
            <a:alphaModFix/>
          </a:blip>
          <a:srcRect b="0" l="0" r="0" t="0"/>
          <a:stretch/>
        </p:blipFill>
        <p:spPr>
          <a:xfrm>
            <a:off x="311699" y="2082451"/>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
                                        </p:tgtEl>
                                        <p:attrNameLst>
                                          <p:attrName>style.visibility</p:attrName>
                                        </p:attrNameLst>
                                      </p:cBhvr>
                                      <p:to>
                                        <p:strVal val="visible"/>
                                      </p:to>
                                    </p:set>
                                    <p:animEffect filter="fade" transition="in">
                                      <p:cBhvr>
                                        <p:cTn dur="1000"/>
                                        <p:tgtEl>
                                          <p:spTgt spid="1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18" name="Google Shape;118;p1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The ratio of the areas of the incircle and circumcircle of an equilateral triangle is?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342900" lvl="0" marL="457200" rtl="0" algn="l">
              <a:lnSpc>
                <a:spcPct val="115000"/>
              </a:lnSpc>
              <a:spcBef>
                <a:spcPts val="1200"/>
              </a:spcBef>
              <a:spcAft>
                <a:spcPts val="0"/>
              </a:spcAft>
              <a:buClr>
                <a:srgbClr val="073763"/>
              </a:buClr>
              <a:buSzPts val="1800"/>
              <a:buAutoNum type="alphaUcPeriod"/>
            </a:pPr>
            <a:r>
              <a:rPr lang="en-GB">
                <a:solidFill>
                  <a:srgbClr val="073763"/>
                </a:solidFill>
              </a:rPr>
              <a:t>1 : 2</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1 : 3</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1 : 4</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1 : 9</a:t>
            </a:r>
            <a:endParaRPr>
              <a:solidFill>
                <a:srgbClr val="073763"/>
              </a:solidFill>
            </a:endParaRPr>
          </a:p>
        </p:txBody>
      </p:sp>
      <p:pic>
        <p:nvPicPr>
          <p:cNvPr descr="checkmark icon" id="119" name="Google Shape;119;p10"/>
          <p:cNvPicPr preferRelativeResize="0"/>
          <p:nvPr/>
        </p:nvPicPr>
        <p:blipFill rotWithShape="1">
          <a:blip r:embed="rId3">
            <a:alphaModFix/>
          </a:blip>
          <a:srcRect b="0" l="0" r="0" t="0"/>
          <a:stretch/>
        </p:blipFill>
        <p:spPr>
          <a:xfrm>
            <a:off x="381804" y="2682925"/>
            <a:ext cx="355500" cy="355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9"/>
                                        </p:tgtEl>
                                        <p:attrNameLst>
                                          <p:attrName>style.visibility</p:attrName>
                                        </p:attrNameLst>
                                      </p:cBhvr>
                                      <p:to>
                                        <p:strVal val="visible"/>
                                      </p:to>
                                    </p:set>
                                    <p:animEffect filter="fade" transition="in">
                                      <p:cBhvr>
                                        <p:cTn dur="1000"/>
                                        <p:tgtEl>
                                          <p:spTgt spid="1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25" name="Google Shape;125;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Each side of a square is increased by 50%, the ratio of the area of the resulting square to that of the given square piece is?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342900" lvl="0" marL="457200" rtl="0" algn="l">
              <a:lnSpc>
                <a:spcPct val="115000"/>
              </a:lnSpc>
              <a:spcBef>
                <a:spcPts val="1200"/>
              </a:spcBef>
              <a:spcAft>
                <a:spcPts val="0"/>
              </a:spcAft>
              <a:buClr>
                <a:srgbClr val="073763"/>
              </a:buClr>
              <a:buSzPts val="1800"/>
              <a:buAutoNum type="alphaUcPeriod"/>
            </a:pPr>
            <a:r>
              <a:rPr lang="en-GB">
                <a:solidFill>
                  <a:srgbClr val="073763"/>
                </a:solidFill>
              </a:rPr>
              <a:t>4 : 5 </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5 : 4</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4 : 9</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9 : 4</a:t>
            </a:r>
            <a:endParaRPr>
              <a:solidFill>
                <a:srgbClr val="073763"/>
              </a:solidFill>
            </a:endParaRPr>
          </a:p>
        </p:txBody>
      </p:sp>
      <p:pic>
        <p:nvPicPr>
          <p:cNvPr descr="checkmark icon" id="126" name="Google Shape;126;p11"/>
          <p:cNvPicPr preferRelativeResize="0"/>
          <p:nvPr/>
        </p:nvPicPr>
        <p:blipFill rotWithShape="1">
          <a:blip r:embed="rId3">
            <a:alphaModFix/>
          </a:blip>
          <a:srcRect b="0" l="0" r="0" t="0"/>
          <a:stretch/>
        </p:blipFill>
        <p:spPr>
          <a:xfrm>
            <a:off x="406188" y="3296858"/>
            <a:ext cx="328150" cy="32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
                                        </p:tgtEl>
                                        <p:attrNameLst>
                                          <p:attrName>style.visibility</p:attrName>
                                        </p:attrNameLst>
                                      </p:cBhvr>
                                      <p:to>
                                        <p:strVal val="visible"/>
                                      </p:to>
                                    </p:set>
                                    <p:animEffect filter="fade" transition="in">
                                      <p:cBhvr>
                                        <p:cTn dur="1000"/>
                                        <p:tgtEl>
                                          <p:spTgt spid="1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2" name="Google Shape;132;p1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If the area of rectangular plot increases by 30% while its breath remain same, what will be the ratio of the areas of new and old figures?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342900" lvl="0" marL="457200" rtl="0" algn="l">
              <a:lnSpc>
                <a:spcPct val="115000"/>
              </a:lnSpc>
              <a:spcBef>
                <a:spcPts val="1200"/>
              </a:spcBef>
              <a:spcAft>
                <a:spcPts val="0"/>
              </a:spcAft>
              <a:buClr>
                <a:srgbClr val="073763"/>
              </a:buClr>
              <a:buSzPts val="1800"/>
              <a:buAutoNum type="alphaUcPeriod"/>
            </a:pPr>
            <a:r>
              <a:rPr lang="en-GB">
                <a:solidFill>
                  <a:srgbClr val="073763"/>
                </a:solidFill>
              </a:rPr>
              <a:t>1 : 3</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3 : 1</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4 : 7</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10 : 13</a:t>
            </a:r>
            <a:endParaRPr>
              <a:solidFill>
                <a:srgbClr val="073763"/>
              </a:solidFill>
            </a:endParaRPr>
          </a:p>
          <a:p>
            <a:pPr indent="-342900" lvl="0" marL="457200" rtl="0" algn="l">
              <a:lnSpc>
                <a:spcPct val="115000"/>
              </a:lnSpc>
              <a:spcBef>
                <a:spcPts val="0"/>
              </a:spcBef>
              <a:spcAft>
                <a:spcPts val="0"/>
              </a:spcAft>
              <a:buClr>
                <a:srgbClr val="073763"/>
              </a:buClr>
              <a:buSzPts val="1800"/>
              <a:buAutoNum type="alphaUcPeriod"/>
            </a:pPr>
            <a:r>
              <a:rPr lang="en-GB">
                <a:solidFill>
                  <a:srgbClr val="073763"/>
                </a:solidFill>
              </a:rPr>
              <a:t>None of these</a:t>
            </a:r>
            <a:endParaRPr>
              <a:solidFill>
                <a:srgbClr val="073763"/>
              </a:solidFill>
            </a:endParaRPr>
          </a:p>
        </p:txBody>
      </p:sp>
      <p:pic>
        <p:nvPicPr>
          <p:cNvPr descr="checkmark icon" id="133" name="Google Shape;133;p12"/>
          <p:cNvPicPr preferRelativeResize="0"/>
          <p:nvPr/>
        </p:nvPicPr>
        <p:blipFill rotWithShape="1">
          <a:blip r:embed="rId3">
            <a:alphaModFix/>
          </a:blip>
          <a:srcRect b="0" l="0" r="0" t="0"/>
          <a:stretch/>
        </p:blipFill>
        <p:spPr>
          <a:xfrm>
            <a:off x="375475" y="3511775"/>
            <a:ext cx="422975" cy="4976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3"/>
                                        </p:tgtEl>
                                        <p:attrNameLst>
                                          <p:attrName>style.visibility</p:attrName>
                                        </p:attrNameLst>
                                      </p:cBhvr>
                                      <p:to>
                                        <p:strVal val="visible"/>
                                      </p:to>
                                    </p:set>
                                    <p:animEffect filter="fade" transition="in">
                                      <p:cBhvr>
                                        <p:cTn dur="1000"/>
                                        <p:tgtEl>
                                          <p:spTgt spid="1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39" name="Google Shape;139;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The perimeter of a circle is equal to the perimeter of a square. Then, their areas are in the ratio?</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4:1</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11:7</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14:11</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22:7</a:t>
            </a:r>
            <a:endParaRPr>
              <a:solidFill>
                <a:srgbClr val="073763"/>
              </a:solidFill>
            </a:endParaRPr>
          </a:p>
        </p:txBody>
      </p:sp>
      <p:pic>
        <p:nvPicPr>
          <p:cNvPr descr="checkmark icon" id="140" name="Google Shape;140;p13"/>
          <p:cNvPicPr preferRelativeResize="0"/>
          <p:nvPr/>
        </p:nvPicPr>
        <p:blipFill rotWithShape="1">
          <a:blip r:embed="rId3">
            <a:alphaModFix/>
          </a:blip>
          <a:srcRect b="0" l="0" r="0" t="0"/>
          <a:stretch/>
        </p:blipFill>
        <p:spPr>
          <a:xfrm>
            <a:off x="342874" y="3237576"/>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t>Type 3 : To find area, perimeter or length</a:t>
            </a:r>
            <a:endParaRPr b="1"/>
          </a:p>
        </p:txBody>
      </p:sp>
      <p:sp>
        <p:nvSpPr>
          <p:cNvPr id="146" name="Google Shape;146;p1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0" lvl="0" marL="0" rtl="0" algn="l">
              <a:lnSpc>
                <a:spcPct val="115000"/>
              </a:lnSpc>
              <a:spcBef>
                <a:spcPts val="0"/>
              </a:spcBef>
              <a:spcAft>
                <a:spcPts val="0"/>
              </a:spcAft>
              <a:buSzPts val="1800"/>
              <a:buNone/>
            </a:pPr>
            <a:r>
              <a:rPr lang="en-GB">
                <a:solidFill>
                  <a:srgbClr val="073763"/>
                </a:solidFill>
              </a:rPr>
              <a:t>Rectangular paper, when folded into two congruent parts had a perimeter of 34 cm for each part folded along one set of sides and the same is 38 cm when folded along the other side of sides. What is the area of the paper?</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140 cm</a:t>
            </a:r>
            <a:r>
              <a:rPr baseline="30000" lang="en-GB">
                <a:solidFill>
                  <a:srgbClr val="073763"/>
                </a:solidFill>
              </a:rPr>
              <a:t>2</a:t>
            </a:r>
            <a:endParaRPr baseline="30000">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240 cm</a:t>
            </a:r>
            <a:r>
              <a:rPr baseline="30000" lang="en-GB">
                <a:solidFill>
                  <a:srgbClr val="073763"/>
                </a:solidFill>
              </a:rPr>
              <a:t>2</a:t>
            </a:r>
            <a:endParaRPr baseline="30000">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560 cm</a:t>
            </a:r>
            <a:r>
              <a:rPr baseline="30000" lang="en-GB">
                <a:solidFill>
                  <a:srgbClr val="073763"/>
                </a:solidFill>
              </a:rPr>
              <a:t>2</a:t>
            </a:r>
            <a:endParaRPr baseline="30000">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None of these</a:t>
            </a:r>
            <a:endParaRPr>
              <a:solidFill>
                <a:srgbClr val="073763"/>
              </a:solidFill>
            </a:endParaRPr>
          </a:p>
        </p:txBody>
      </p:sp>
      <p:pic>
        <p:nvPicPr>
          <p:cNvPr descr="checkmark icon" id="147" name="Google Shape;147;p14"/>
          <p:cNvPicPr preferRelativeResize="0"/>
          <p:nvPr/>
        </p:nvPicPr>
        <p:blipFill rotWithShape="1">
          <a:blip r:embed="rId3">
            <a:alphaModFix/>
          </a:blip>
          <a:srcRect b="0" l="0" r="0" t="0"/>
          <a:stretch/>
        </p:blipFill>
        <p:spPr>
          <a:xfrm>
            <a:off x="311699" y="2571751"/>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
                                        </p:tgtEl>
                                        <p:attrNameLst>
                                          <p:attrName>style.visibility</p:attrName>
                                        </p:attrNameLst>
                                      </p:cBhvr>
                                      <p:to>
                                        <p:strVal val="visible"/>
                                      </p:to>
                                    </p:set>
                                    <p:animEffect filter="fade" transition="in">
                                      <p:cBhvr>
                                        <p:cTn dur="1000"/>
                                        <p:tgtEl>
                                          <p:spTgt spid="1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53" name="Google Shape;153;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It’s area of an equal little triangle is 24 root 3 cm², then its perimeter is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2√6 cm</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4√6 cm</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12√6 cm</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96 cm</a:t>
            </a:r>
            <a:endParaRPr>
              <a:solidFill>
                <a:srgbClr val="073763"/>
              </a:solidFill>
            </a:endParaRPr>
          </a:p>
        </p:txBody>
      </p:sp>
      <p:pic>
        <p:nvPicPr>
          <p:cNvPr descr="checkmark icon" id="154" name="Google Shape;154;p15"/>
          <p:cNvPicPr preferRelativeResize="0"/>
          <p:nvPr/>
        </p:nvPicPr>
        <p:blipFill rotWithShape="1">
          <a:blip r:embed="rId3">
            <a:alphaModFix/>
          </a:blip>
          <a:srcRect b="0" l="0" r="0" t="0"/>
          <a:stretch/>
        </p:blipFill>
        <p:spPr>
          <a:xfrm>
            <a:off x="311699" y="3017626"/>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0" name="Google Shape;160;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Four horses are tethered at four corners of a square plot of side 63 m so that they just cannot reach one another. The area left ungrazed is?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675.5 sq m</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780.6 sq m</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785.8 sq m</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850.5 sq m</a:t>
            </a:r>
            <a:endParaRPr>
              <a:solidFill>
                <a:srgbClr val="073763"/>
              </a:solidFill>
            </a:endParaRPr>
          </a:p>
        </p:txBody>
      </p:sp>
      <p:pic>
        <p:nvPicPr>
          <p:cNvPr descr="checkmark icon" id="161" name="Google Shape;161;p16"/>
          <p:cNvPicPr preferRelativeResize="0"/>
          <p:nvPr/>
        </p:nvPicPr>
        <p:blipFill rotWithShape="1">
          <a:blip r:embed="rId3">
            <a:alphaModFix/>
          </a:blip>
          <a:srcRect b="0" l="0" r="0" t="0"/>
          <a:stretch/>
        </p:blipFill>
        <p:spPr>
          <a:xfrm>
            <a:off x="311699" y="3789151"/>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
                                        </p:tgtEl>
                                        <p:attrNameLst>
                                          <p:attrName>style.visibility</p:attrName>
                                        </p:attrNameLst>
                                      </p:cBhvr>
                                      <p:to>
                                        <p:strVal val="visible"/>
                                      </p:to>
                                    </p:set>
                                    <p:animEffect filter="fade" transition="in">
                                      <p:cBhvr>
                                        <p:cTn dur="1000"/>
                                        <p:tgtEl>
                                          <p:spTgt spid="1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67" name="Google Shape;167;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A wire bent in the form of a circle of radius 56 cm. If it is bent in the form of a square, then its area will be?</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3520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6400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7744</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8800</a:t>
            </a:r>
            <a:endParaRPr>
              <a:solidFill>
                <a:srgbClr val="073763"/>
              </a:solidFill>
            </a:endParaRPr>
          </a:p>
        </p:txBody>
      </p:sp>
      <p:pic>
        <p:nvPicPr>
          <p:cNvPr descr="checkmark icon" id="168" name="Google Shape;168;p17"/>
          <p:cNvPicPr preferRelativeResize="0"/>
          <p:nvPr/>
        </p:nvPicPr>
        <p:blipFill rotWithShape="1">
          <a:blip r:embed="rId3">
            <a:alphaModFix/>
          </a:blip>
          <a:srcRect b="0" l="0" r="0" t="0"/>
          <a:stretch/>
        </p:blipFill>
        <p:spPr>
          <a:xfrm>
            <a:off x="342874" y="3337151"/>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
                                        </p:tgtEl>
                                        <p:attrNameLst>
                                          <p:attrName>style.visibility</p:attrName>
                                        </p:attrNameLst>
                                      </p:cBhvr>
                                      <p:to>
                                        <p:strVal val="visible"/>
                                      </p:to>
                                    </p:set>
                                    <p:animEffect filter="fade" transition="in">
                                      <p:cBhvr>
                                        <p:cTn dur="1000"/>
                                        <p:tgtEl>
                                          <p:spTgt spid="1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rPr b="1" lang="en-GB"/>
              <a:t>Type 4 : Number of items</a:t>
            </a:r>
            <a:endParaRPr b="1"/>
          </a:p>
        </p:txBody>
      </p:sp>
      <p:sp>
        <p:nvSpPr>
          <p:cNvPr id="174" name="Google Shape;174;p1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What is the least number of square tiles required to pave the floor of a room 15 meters 17cm long and 9 meters 2 cm broad ?</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814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820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840     </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844</a:t>
            </a:r>
            <a:endParaRPr>
              <a:solidFill>
                <a:srgbClr val="073763"/>
              </a:solidFill>
            </a:endParaRPr>
          </a:p>
        </p:txBody>
      </p:sp>
      <p:pic>
        <p:nvPicPr>
          <p:cNvPr descr="checkmark icon" id="175" name="Google Shape;175;p18"/>
          <p:cNvPicPr preferRelativeResize="0"/>
          <p:nvPr/>
        </p:nvPicPr>
        <p:blipFill rotWithShape="1">
          <a:blip r:embed="rId3">
            <a:alphaModFix/>
          </a:blip>
          <a:srcRect b="0" l="0" r="0" t="0"/>
          <a:stretch/>
        </p:blipFill>
        <p:spPr>
          <a:xfrm>
            <a:off x="311699" y="2362676"/>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
                                        </p:tgtEl>
                                        <p:attrNameLst>
                                          <p:attrName>style.visibility</p:attrName>
                                        </p:attrNameLst>
                                      </p:cBhvr>
                                      <p:to>
                                        <p:strVal val="visible"/>
                                      </p:to>
                                    </p:set>
                                    <p:animEffect filter="fade" transition="in">
                                      <p:cBhvr>
                                        <p:cTn dur="1000"/>
                                        <p:tgtEl>
                                          <p:spTgt spid="1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778d993554_0_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81" name="Google Shape;181;g3778d993554_0_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lnSpc>
                <a:spcPct val="115000"/>
              </a:lnSpc>
              <a:spcBef>
                <a:spcPts val="1200"/>
              </a:spcBef>
              <a:spcAft>
                <a:spcPts val="0"/>
              </a:spcAft>
              <a:buNone/>
            </a:pPr>
            <a:r>
              <a:rPr lang="en-GB" sz="2200">
                <a:solidFill>
                  <a:srgbClr val="0B5394"/>
                </a:solidFill>
              </a:rPr>
              <a:t>A room measuring 6m 65 cm long and 4 m 55 cm broad is to be paved with the least number of squared tiles. Then the least number of squared tiles required to cover the floor is</a:t>
            </a:r>
            <a:endParaRPr sz="2200">
              <a:solidFill>
                <a:srgbClr val="0B5394"/>
              </a:solidFill>
            </a:endParaRPr>
          </a:p>
          <a:p>
            <a:pPr indent="-368300" lvl="0" marL="457200" rtl="0" algn="l">
              <a:lnSpc>
                <a:spcPct val="150000"/>
              </a:lnSpc>
              <a:spcBef>
                <a:spcPts val="1200"/>
              </a:spcBef>
              <a:spcAft>
                <a:spcPts val="0"/>
              </a:spcAft>
              <a:buClr>
                <a:srgbClr val="0B5394"/>
              </a:buClr>
              <a:buSzPts val="2200"/>
              <a:buAutoNum type="alphaUcPeriod"/>
            </a:pPr>
            <a:r>
              <a:rPr lang="en-GB" sz="2200">
                <a:solidFill>
                  <a:srgbClr val="0B5394"/>
                </a:solidFill>
              </a:rPr>
              <a:t>247</a:t>
            </a:r>
            <a:endParaRPr sz="2200">
              <a:solidFill>
                <a:srgbClr val="0B5394"/>
              </a:solidFill>
            </a:endParaRPr>
          </a:p>
          <a:p>
            <a:pPr indent="-368300" lvl="0" marL="457200" rtl="0" algn="l">
              <a:lnSpc>
                <a:spcPct val="150000"/>
              </a:lnSpc>
              <a:spcBef>
                <a:spcPts val="0"/>
              </a:spcBef>
              <a:spcAft>
                <a:spcPts val="0"/>
              </a:spcAft>
              <a:buClr>
                <a:srgbClr val="0B5394"/>
              </a:buClr>
              <a:buSzPts val="2200"/>
              <a:buAutoNum type="alphaUcPeriod"/>
            </a:pPr>
            <a:r>
              <a:rPr lang="en-GB" sz="2200">
                <a:solidFill>
                  <a:srgbClr val="0B5394"/>
                </a:solidFill>
              </a:rPr>
              <a:t>210</a:t>
            </a:r>
            <a:endParaRPr sz="2200">
              <a:solidFill>
                <a:srgbClr val="0B5394"/>
              </a:solidFill>
            </a:endParaRPr>
          </a:p>
          <a:p>
            <a:pPr indent="-368300" lvl="0" marL="457200" rtl="0" algn="l">
              <a:lnSpc>
                <a:spcPct val="150000"/>
              </a:lnSpc>
              <a:spcBef>
                <a:spcPts val="0"/>
              </a:spcBef>
              <a:spcAft>
                <a:spcPts val="0"/>
              </a:spcAft>
              <a:buClr>
                <a:srgbClr val="0B5394"/>
              </a:buClr>
              <a:buSzPts val="2200"/>
              <a:buAutoNum type="alphaUcPeriod"/>
            </a:pPr>
            <a:r>
              <a:rPr lang="en-GB" sz="2200">
                <a:solidFill>
                  <a:srgbClr val="0B5394"/>
                </a:solidFill>
              </a:rPr>
              <a:t>257</a:t>
            </a:r>
            <a:endParaRPr sz="2200">
              <a:solidFill>
                <a:srgbClr val="0B5394"/>
              </a:solidFill>
            </a:endParaRPr>
          </a:p>
          <a:p>
            <a:pPr indent="-368300" lvl="0" marL="457200" rtl="0" algn="l">
              <a:lnSpc>
                <a:spcPct val="150000"/>
              </a:lnSpc>
              <a:spcBef>
                <a:spcPts val="0"/>
              </a:spcBef>
              <a:spcAft>
                <a:spcPts val="0"/>
              </a:spcAft>
              <a:buClr>
                <a:srgbClr val="0B5394"/>
              </a:buClr>
              <a:buSzPts val="2200"/>
              <a:buAutoNum type="alphaUcPeriod"/>
            </a:pPr>
            <a:r>
              <a:rPr lang="en-GB" sz="2200">
                <a:solidFill>
                  <a:srgbClr val="0B5394"/>
                </a:solidFill>
              </a:rPr>
              <a:t>187</a:t>
            </a:r>
            <a:endParaRPr sz="2200">
              <a:solidFill>
                <a:srgbClr val="0B5394"/>
              </a:solidFill>
            </a:endParaRPr>
          </a:p>
          <a:p>
            <a:pPr indent="0" lvl="0" marL="0" rtl="0" algn="l">
              <a:spcBef>
                <a:spcPts val="0"/>
              </a:spcBef>
              <a:spcAft>
                <a:spcPts val="0"/>
              </a:spcAft>
              <a:buNone/>
            </a:pPr>
            <a:r>
              <a:t/>
            </a:r>
            <a:endParaRPr>
              <a:solidFill>
                <a:srgbClr val="0B5394"/>
              </a:solidFill>
            </a:endParaRPr>
          </a:p>
        </p:txBody>
      </p:sp>
      <p:pic>
        <p:nvPicPr>
          <p:cNvPr descr="checkmark icon" id="182" name="Google Shape;182;g3778d993554_0_1"/>
          <p:cNvPicPr preferRelativeResize="0"/>
          <p:nvPr/>
        </p:nvPicPr>
        <p:blipFill rotWithShape="1">
          <a:blip r:embed="rId3">
            <a:alphaModFix/>
          </a:blip>
          <a:srcRect b="0" l="0" r="0" t="0"/>
          <a:stretch/>
        </p:blipFill>
        <p:spPr>
          <a:xfrm>
            <a:off x="311699" y="2210276"/>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88" name="Google Shape;188;p1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The number of marble slabs of size 20 cm x 30 cm required to pave the floor of a square room of side 3 m is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100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150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225</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250</a:t>
            </a:r>
            <a:endParaRPr>
              <a:solidFill>
                <a:srgbClr val="073763"/>
              </a:solidFill>
            </a:endParaRPr>
          </a:p>
        </p:txBody>
      </p:sp>
      <p:pic>
        <p:nvPicPr>
          <p:cNvPr descr="checkmark icon" id="189" name="Google Shape;189;p19"/>
          <p:cNvPicPr preferRelativeResize="0"/>
          <p:nvPr/>
        </p:nvPicPr>
        <p:blipFill rotWithShape="1">
          <a:blip r:embed="rId3">
            <a:alphaModFix/>
          </a:blip>
          <a:srcRect b="0" l="0" r="0" t="0"/>
          <a:stretch/>
        </p:blipFill>
        <p:spPr>
          <a:xfrm>
            <a:off x="311699" y="2830576"/>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1000"/>
                                        <p:tgtEl>
                                          <p:spTgt spid="1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195" name="Google Shape;195;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fontScale="85000" lnSpcReduction="20000"/>
          </a:bodyPr>
          <a:lstStyle/>
          <a:p>
            <a:pPr indent="0" lvl="0" marL="0" rtl="0" algn="l">
              <a:lnSpc>
                <a:spcPct val="115000"/>
              </a:lnSpc>
              <a:spcBef>
                <a:spcPts val="0"/>
              </a:spcBef>
              <a:spcAft>
                <a:spcPts val="0"/>
              </a:spcAft>
              <a:buSzPct val="117647"/>
              <a:buNone/>
            </a:pPr>
            <a:r>
              <a:rPr lang="en-GB">
                <a:solidFill>
                  <a:srgbClr val="073763"/>
                </a:solidFill>
              </a:rPr>
              <a:t>The length and breath of the floor of the room at 20 feet and 10 feet respectively. Square tiles of 2 feet length of different colours are to be laid on the floor. Black tiles are laid in the first row on all sides. If white tiles are laid in the one third of the remaining and blue tiles in the rest, how many blue tiles will be there?</a:t>
            </a:r>
            <a:endParaRPr>
              <a:solidFill>
                <a:srgbClr val="073763"/>
              </a:solidFill>
            </a:endParaRPr>
          </a:p>
          <a:p>
            <a:pPr indent="0" lvl="0" marL="0" rtl="0" algn="l">
              <a:lnSpc>
                <a:spcPct val="115000"/>
              </a:lnSpc>
              <a:spcBef>
                <a:spcPts val="1200"/>
              </a:spcBef>
              <a:spcAft>
                <a:spcPts val="0"/>
              </a:spcAft>
              <a:buSzPct val="117647"/>
              <a:buNone/>
            </a:pPr>
            <a:r>
              <a:t/>
            </a:r>
            <a:endParaRPr>
              <a:solidFill>
                <a:srgbClr val="073763"/>
              </a:solidFill>
            </a:endParaRPr>
          </a:p>
          <a:p>
            <a:pPr indent="0" lvl="0" marL="0" rtl="0" algn="l">
              <a:lnSpc>
                <a:spcPct val="115000"/>
              </a:lnSpc>
              <a:spcBef>
                <a:spcPts val="1200"/>
              </a:spcBef>
              <a:spcAft>
                <a:spcPts val="0"/>
              </a:spcAft>
              <a:buSzPct val="117647"/>
              <a:buNone/>
            </a:pPr>
            <a:r>
              <a:rPr lang="en-GB">
                <a:solidFill>
                  <a:srgbClr val="073763"/>
                </a:solidFill>
              </a:rPr>
              <a:t>A. 16</a:t>
            </a:r>
            <a:endParaRPr>
              <a:solidFill>
                <a:srgbClr val="073763"/>
              </a:solidFill>
            </a:endParaRPr>
          </a:p>
          <a:p>
            <a:pPr indent="0" lvl="0" marL="0" rtl="0" algn="l">
              <a:lnSpc>
                <a:spcPct val="115000"/>
              </a:lnSpc>
              <a:spcBef>
                <a:spcPts val="1200"/>
              </a:spcBef>
              <a:spcAft>
                <a:spcPts val="0"/>
              </a:spcAft>
              <a:buSzPct val="117647"/>
              <a:buNone/>
            </a:pPr>
            <a:r>
              <a:rPr lang="en-GB">
                <a:solidFill>
                  <a:srgbClr val="073763"/>
                </a:solidFill>
              </a:rPr>
              <a:t>B. 24</a:t>
            </a:r>
            <a:endParaRPr>
              <a:solidFill>
                <a:srgbClr val="073763"/>
              </a:solidFill>
            </a:endParaRPr>
          </a:p>
          <a:p>
            <a:pPr indent="0" lvl="0" marL="0" rtl="0" algn="l">
              <a:lnSpc>
                <a:spcPct val="115000"/>
              </a:lnSpc>
              <a:spcBef>
                <a:spcPts val="1200"/>
              </a:spcBef>
              <a:spcAft>
                <a:spcPts val="0"/>
              </a:spcAft>
              <a:buSzPct val="117647"/>
              <a:buNone/>
            </a:pPr>
            <a:r>
              <a:rPr lang="en-GB">
                <a:solidFill>
                  <a:srgbClr val="073763"/>
                </a:solidFill>
              </a:rPr>
              <a:t>C. 32</a:t>
            </a:r>
            <a:endParaRPr>
              <a:solidFill>
                <a:srgbClr val="073763"/>
              </a:solidFill>
            </a:endParaRPr>
          </a:p>
          <a:p>
            <a:pPr indent="0" lvl="0" marL="0" rtl="0" algn="l">
              <a:lnSpc>
                <a:spcPct val="115000"/>
              </a:lnSpc>
              <a:spcBef>
                <a:spcPts val="1200"/>
              </a:spcBef>
              <a:spcAft>
                <a:spcPts val="0"/>
              </a:spcAft>
              <a:buSzPct val="117647"/>
              <a:buNone/>
            </a:pPr>
            <a:r>
              <a:rPr lang="en-GB">
                <a:solidFill>
                  <a:srgbClr val="073763"/>
                </a:solidFill>
              </a:rPr>
              <a:t>D. 48</a:t>
            </a:r>
            <a:endParaRPr>
              <a:solidFill>
                <a:srgbClr val="073763"/>
              </a:solidFill>
            </a:endParaRPr>
          </a:p>
          <a:p>
            <a:pPr indent="0" lvl="0" marL="0" rtl="0" algn="l">
              <a:lnSpc>
                <a:spcPct val="115000"/>
              </a:lnSpc>
              <a:spcBef>
                <a:spcPts val="1200"/>
              </a:spcBef>
              <a:spcAft>
                <a:spcPts val="1200"/>
              </a:spcAft>
              <a:buSzPct val="117647"/>
              <a:buNone/>
            </a:pPr>
            <a:r>
              <a:rPr lang="en-GB">
                <a:solidFill>
                  <a:srgbClr val="073763"/>
                </a:solidFill>
              </a:rPr>
              <a:t>E. None of these</a:t>
            </a:r>
            <a:endParaRPr>
              <a:solidFill>
                <a:srgbClr val="073763"/>
              </a:solidFill>
            </a:endParaRPr>
          </a:p>
        </p:txBody>
      </p:sp>
      <p:pic>
        <p:nvPicPr>
          <p:cNvPr descr="checkmark icon" id="196" name="Google Shape;196;p20"/>
          <p:cNvPicPr preferRelativeResize="0"/>
          <p:nvPr/>
        </p:nvPicPr>
        <p:blipFill rotWithShape="1">
          <a:blip r:embed="rId3">
            <a:alphaModFix/>
          </a:blip>
          <a:srcRect b="0" l="0" r="0" t="0"/>
          <a:stretch/>
        </p:blipFill>
        <p:spPr>
          <a:xfrm>
            <a:off x="311699" y="2511076"/>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1000"/>
                                        <p:tgtEl>
                                          <p:spTgt spid="1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11111"/>
              <a:buNone/>
            </a:pPr>
            <a:r>
              <a:t/>
            </a:r>
            <a:endParaRPr/>
          </a:p>
        </p:txBody>
      </p:sp>
      <p:sp>
        <p:nvSpPr>
          <p:cNvPr id="202" name="Google Shape;202;p2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800"/>
              <a:buNone/>
            </a:pPr>
            <a:r>
              <a:rPr lang="en-GB">
                <a:solidFill>
                  <a:srgbClr val="073763"/>
                </a:solidFill>
              </a:rPr>
              <a:t>A courtyard 25 m long and 16 m Broad is to be paved with bricks of dimensions 20 cm and 10 cm. The total number of bricks required is?</a:t>
            </a:r>
            <a:endParaRPr>
              <a:solidFill>
                <a:srgbClr val="073763"/>
              </a:solidFill>
            </a:endParaRPr>
          </a:p>
          <a:p>
            <a:pPr indent="0" lvl="0" marL="0" rtl="0" algn="l">
              <a:lnSpc>
                <a:spcPct val="115000"/>
              </a:lnSpc>
              <a:spcBef>
                <a:spcPts val="1200"/>
              </a:spcBef>
              <a:spcAft>
                <a:spcPts val="0"/>
              </a:spcAft>
              <a:buSzPts val="1800"/>
              <a:buNone/>
            </a:pPr>
            <a:r>
              <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A. 18000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B. 20000</a:t>
            </a:r>
            <a:endParaRPr>
              <a:solidFill>
                <a:srgbClr val="073763"/>
              </a:solidFill>
            </a:endParaRPr>
          </a:p>
          <a:p>
            <a:pPr indent="0" lvl="0" marL="0" rtl="0" algn="l">
              <a:lnSpc>
                <a:spcPct val="115000"/>
              </a:lnSpc>
              <a:spcBef>
                <a:spcPts val="1200"/>
              </a:spcBef>
              <a:spcAft>
                <a:spcPts val="0"/>
              </a:spcAft>
              <a:buSzPts val="1800"/>
              <a:buNone/>
            </a:pPr>
            <a:r>
              <a:rPr lang="en-GB">
                <a:solidFill>
                  <a:srgbClr val="073763"/>
                </a:solidFill>
              </a:rPr>
              <a:t>C. 25000</a:t>
            </a:r>
            <a:endParaRPr>
              <a:solidFill>
                <a:srgbClr val="073763"/>
              </a:solidFill>
            </a:endParaRPr>
          </a:p>
          <a:p>
            <a:pPr indent="0" lvl="0" marL="0" rtl="0" algn="l">
              <a:lnSpc>
                <a:spcPct val="115000"/>
              </a:lnSpc>
              <a:spcBef>
                <a:spcPts val="1200"/>
              </a:spcBef>
              <a:spcAft>
                <a:spcPts val="1200"/>
              </a:spcAft>
              <a:buSzPts val="1800"/>
              <a:buNone/>
            </a:pPr>
            <a:r>
              <a:rPr lang="en-GB">
                <a:solidFill>
                  <a:srgbClr val="073763"/>
                </a:solidFill>
              </a:rPr>
              <a:t>D. None of these</a:t>
            </a:r>
            <a:endParaRPr>
              <a:solidFill>
                <a:srgbClr val="073763"/>
              </a:solidFill>
            </a:endParaRPr>
          </a:p>
        </p:txBody>
      </p:sp>
      <p:pic>
        <p:nvPicPr>
          <p:cNvPr descr="checkmark icon" id="203" name="Google Shape;203;p21"/>
          <p:cNvPicPr preferRelativeResize="0"/>
          <p:nvPr/>
        </p:nvPicPr>
        <p:blipFill rotWithShape="1">
          <a:blip r:embed="rId3">
            <a:alphaModFix/>
          </a:blip>
          <a:srcRect b="0" l="0" r="0" t="0"/>
          <a:stretch/>
        </p:blipFill>
        <p:spPr>
          <a:xfrm>
            <a:off x="311699" y="2752651"/>
            <a:ext cx="418150" cy="418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3"/>
                                        </p:tgtEl>
                                        <p:attrNameLst>
                                          <p:attrName>style.visibility</p:attrName>
                                        </p:attrNameLst>
                                      </p:cBhvr>
                                      <p:to>
                                        <p:strVal val="visible"/>
                                      </p:to>
                                    </p:set>
                                    <p:animEffect filter="fade" transition="in">
                                      <p:cBhvr>
                                        <p:cTn dur="1000"/>
                                        <p:tgtEl>
                                          <p:spTgt spid="20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2"/>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p>
            <a:pPr indent="0" lvl="0" marL="0" rtl="0" algn="ctr">
              <a:lnSpc>
                <a:spcPct val="100000"/>
              </a:lnSpc>
              <a:spcBef>
                <a:spcPts val="0"/>
              </a:spcBef>
              <a:spcAft>
                <a:spcPts val="0"/>
              </a:spcAft>
              <a:buSzPts val="3600"/>
              <a:buNone/>
            </a:pPr>
            <a:r>
              <a:rPr b="1" lang="en-GB"/>
              <a:t>Thank You</a:t>
            </a:r>
            <a:endParaRPr b="1"/>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