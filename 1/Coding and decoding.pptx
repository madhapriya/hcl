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sldIdLst>
    <p:sldId id="256" r:id="rId2"/>
    <p:sldId id="333" r:id="rId3"/>
    <p:sldId id="289" r:id="rId4"/>
    <p:sldId id="335" r:id="rId5"/>
    <p:sldId id="336" r:id="rId6"/>
    <p:sldId id="337" r:id="rId7"/>
    <p:sldId id="338" r:id="rId8"/>
    <p:sldId id="339" r:id="rId9"/>
    <p:sldId id="340" r:id="rId10"/>
    <p:sldId id="341" r:id="rId11"/>
    <p:sldId id="334" r:id="rId12"/>
    <p:sldId id="290" r:id="rId13"/>
    <p:sldId id="295" r:id="rId14"/>
    <p:sldId id="298" r:id="rId15"/>
    <p:sldId id="300" r:id="rId16"/>
    <p:sldId id="304" r:id="rId17"/>
    <p:sldId id="308" r:id="rId18"/>
    <p:sldId id="309" r:id="rId19"/>
    <p:sldId id="310" r:id="rId20"/>
    <p:sldId id="311" r:id="rId21"/>
    <p:sldId id="312" r:id="rId22"/>
    <p:sldId id="313" r:id="rId23"/>
    <p:sldId id="314" r:id="rId24"/>
    <p:sldId id="315" r:id="rId25"/>
    <p:sldId id="316" r:id="rId26"/>
    <p:sldId id="317" r:id="rId27"/>
    <p:sldId id="318" r:id="rId28"/>
    <p:sldId id="319" r:id="rId29"/>
    <p:sldId id="320" r:id="rId30"/>
    <p:sldId id="321" r:id="rId31"/>
    <p:sldId id="322" r:id="rId32"/>
    <p:sldId id="323" r:id="rId33"/>
    <p:sldId id="324" r:id="rId34"/>
    <p:sldId id="325" r:id="rId35"/>
    <p:sldId id="327" r:id="rId36"/>
    <p:sldId id="328" r:id="rId37"/>
    <p:sldId id="329" r:id="rId38"/>
    <p:sldId id="330" r:id="rId39"/>
    <p:sldId id="331" r:id="rId40"/>
    <p:sldId id="332" r:id="rId41"/>
    <p:sldId id="28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1859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991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5119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3450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797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3441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787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4900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40357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65625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54780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036138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31198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5667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90987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460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1914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6/2/2026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0106805"/>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76A0A9-866E-35A2-B545-C7DB27F4E71E}"/>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1AC1FED5-8C91-B88B-5048-E1C2B47A15F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6" name="Title 5">
            <a:extLst>
              <a:ext uri="{FF2B5EF4-FFF2-40B4-BE49-F238E27FC236}">
                <a16:creationId xmlns:a16="http://schemas.microsoft.com/office/drawing/2014/main" id="{D527DE88-029D-7DEF-48A9-4A2AB0B5DAFD}"/>
              </a:ext>
            </a:extLst>
          </p:cNvPr>
          <p:cNvSpPr>
            <a:spLocks noGrp="1"/>
          </p:cNvSpPr>
          <p:nvPr>
            <p:ph type="ctrTitle"/>
          </p:nvPr>
        </p:nvSpPr>
        <p:spPr>
          <a:xfrm>
            <a:off x="740229" y="2416629"/>
            <a:ext cx="9704102" cy="696685"/>
          </a:xfrm>
        </p:spPr>
        <p:txBody>
          <a:bodyPr>
            <a:normAutofit/>
          </a:bodyPr>
          <a:lstStyle/>
          <a:p>
            <a:r>
              <a:rPr lang="en-US" sz="2400" dirty="0"/>
              <a:t>Coding and Decoding</a:t>
            </a:r>
            <a:endParaRPr lang="en-IN" sz="2400" dirty="0"/>
          </a:p>
        </p:txBody>
      </p:sp>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8A421-5240-1126-A6EE-F36799E35A5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3FED15-A178-2095-5C73-B92F83E03155}"/>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65E922B2-ABB9-50B0-2761-95C3EA0B913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81873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FE16B-153C-14EB-7C1E-03A7D613C2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703B1F-CE3F-6019-A763-D1580293E5B6}"/>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1. If in a certain code, TEACHER is written as VGCEJGT , how would DULLARD be written in the same code ?</a:t>
            </a:r>
          </a:p>
          <a:p>
            <a:pPr marL="0" indent="0" algn="just">
              <a:lnSpc>
                <a:spcPct val="150000"/>
              </a:lnSpc>
              <a:buNone/>
            </a:pPr>
            <a:r>
              <a:rPr lang="en-IN" sz="2200" b="1" dirty="0">
                <a:effectLst/>
                <a:latin typeface="Bookman Old Style" pitchFamily="18" charset="0"/>
                <a:cs typeface="Times New Roman" panose="02020603050405020304" pitchFamily="18" charset="0"/>
              </a:rPr>
              <a:t> a. FWMNCTF</a:t>
            </a:r>
          </a:p>
          <a:p>
            <a:pPr marL="0" indent="0" algn="just">
              <a:lnSpc>
                <a:spcPct val="150000"/>
              </a:lnSpc>
              <a:buNone/>
            </a:pPr>
            <a:r>
              <a:rPr lang="en-IN" sz="2200" b="1" dirty="0">
                <a:effectLst/>
                <a:latin typeface="Bookman Old Style" pitchFamily="18" charset="0"/>
                <a:cs typeface="Times New Roman" panose="02020603050405020304" pitchFamily="18" charset="0"/>
              </a:rPr>
              <a:t> b. FWNNBTE</a:t>
            </a:r>
          </a:p>
          <a:p>
            <a:pPr marL="0" indent="0" algn="just">
              <a:lnSpc>
                <a:spcPct val="150000"/>
              </a:lnSpc>
              <a:buNone/>
            </a:pPr>
            <a:r>
              <a:rPr lang="en-IN" sz="2200" b="1" dirty="0">
                <a:effectLst/>
                <a:latin typeface="Bookman Old Style" pitchFamily="18" charset="0"/>
                <a:cs typeface="Times New Roman" panose="02020603050405020304" pitchFamily="18" charset="0"/>
              </a:rPr>
              <a:t> c. FWNNCSF</a:t>
            </a:r>
          </a:p>
          <a:p>
            <a:pPr marL="0" indent="0" algn="just">
              <a:lnSpc>
                <a:spcPct val="150000"/>
              </a:lnSpc>
              <a:buNone/>
            </a:pPr>
            <a:r>
              <a:rPr lang="en-IN" sz="2200" b="1" dirty="0">
                <a:effectLst/>
                <a:latin typeface="Bookman Old Style" pitchFamily="18" charset="0"/>
                <a:cs typeface="Times New Roman" panose="02020603050405020304" pitchFamily="18" charset="0"/>
              </a:rPr>
              <a:t> d. FWNNCTF</a:t>
            </a:r>
          </a:p>
        </p:txBody>
      </p:sp>
      <p:pic>
        <p:nvPicPr>
          <p:cNvPr id="2" name="Picture 1" descr="A yellow and blue sign with words">
            <a:extLst>
              <a:ext uri="{FF2B5EF4-FFF2-40B4-BE49-F238E27FC236}">
                <a16:creationId xmlns:a16="http://schemas.microsoft.com/office/drawing/2014/main" id="{7B395D09-881F-BD7E-6860-1AAEDC63BD4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581865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1F895-052D-BC2E-ACE3-82E4BC15C2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C168D5-C132-5950-D902-DFF4E553105B}"/>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2. If in a certain code, DELHI is written as FIRPS , how would MUMBAI be written in the same code ?</a:t>
            </a:r>
          </a:p>
          <a:p>
            <a:pPr marL="0" indent="0" algn="just">
              <a:lnSpc>
                <a:spcPct val="150000"/>
              </a:lnSpc>
              <a:buNone/>
            </a:pPr>
            <a:r>
              <a:rPr lang="en-IN" sz="2200" b="1" dirty="0">
                <a:latin typeface="Bookman Old Style" pitchFamily="18" charset="0"/>
                <a:cs typeface="Times New Roman" panose="02020603050405020304" pitchFamily="18" charset="0"/>
              </a:rPr>
              <a:t> a. OVNFDL</a:t>
            </a:r>
          </a:p>
          <a:p>
            <a:pPr marL="0" indent="0" algn="just">
              <a:lnSpc>
                <a:spcPct val="150000"/>
              </a:lnSpc>
              <a:buNone/>
            </a:pPr>
            <a:r>
              <a:rPr lang="en-IN" sz="2200" b="1" dirty="0">
                <a:latin typeface="Bookman Old Style" pitchFamily="18" charset="0"/>
                <a:cs typeface="Times New Roman" panose="02020603050405020304" pitchFamily="18" charset="0"/>
              </a:rPr>
              <a:t> b. OYOCBT</a:t>
            </a:r>
          </a:p>
          <a:p>
            <a:pPr marL="0" indent="0" algn="just">
              <a:lnSpc>
                <a:spcPct val="150000"/>
              </a:lnSpc>
              <a:buNone/>
            </a:pPr>
            <a:r>
              <a:rPr lang="en-IN" sz="2200" b="1" dirty="0">
                <a:latin typeface="Bookman Old Style" pitchFamily="18" charset="0"/>
                <a:cs typeface="Times New Roman" panose="02020603050405020304" pitchFamily="18" charset="0"/>
              </a:rPr>
              <a:t>c. OYSJKU</a:t>
            </a:r>
          </a:p>
          <a:p>
            <a:pPr marL="0" indent="0" algn="just">
              <a:lnSpc>
                <a:spcPct val="150000"/>
              </a:lnSpc>
              <a:buNone/>
            </a:pPr>
            <a:r>
              <a:rPr lang="en-IN" sz="2200" b="1" dirty="0">
                <a:latin typeface="Bookman Old Style" pitchFamily="18" charset="0"/>
                <a:cs typeface="Times New Roman" panose="02020603050405020304" pitchFamily="18" charset="0"/>
              </a:rPr>
              <a:t>d. PYSJKU</a:t>
            </a:r>
          </a:p>
        </p:txBody>
      </p:sp>
      <p:pic>
        <p:nvPicPr>
          <p:cNvPr id="2" name="Picture 1" descr="A yellow and blue sign with words">
            <a:extLst>
              <a:ext uri="{FF2B5EF4-FFF2-40B4-BE49-F238E27FC236}">
                <a16:creationId xmlns:a16="http://schemas.microsoft.com/office/drawing/2014/main" id="{BB753750-692A-AD7D-E55B-75724B90B8F1}"/>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701675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FCA3-D9E2-4FBE-C33C-88E737AFC0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C021C7-A7BB-1D39-B3D2-5C4A00CB1CAD}"/>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3. If POND is coded as RRSK , how is HEAR written in that code ?</a:t>
            </a:r>
          </a:p>
          <a:p>
            <a:pPr marL="0" indent="0" algn="just">
              <a:lnSpc>
                <a:spcPct val="150000"/>
              </a:lnSpc>
              <a:buNone/>
            </a:pPr>
            <a:r>
              <a:rPr lang="en-IN" sz="2300" b="1" dirty="0">
                <a:latin typeface="Bookman Old Style" pitchFamily="18" charset="0"/>
                <a:cs typeface="Times New Roman" panose="02020603050405020304" pitchFamily="18" charset="0"/>
              </a:rPr>
              <a:t> a. JGCT</a:t>
            </a:r>
          </a:p>
          <a:p>
            <a:pPr marL="0" indent="0" algn="just">
              <a:lnSpc>
                <a:spcPct val="150000"/>
              </a:lnSpc>
              <a:buNone/>
            </a:pPr>
            <a:r>
              <a:rPr lang="en-IN" sz="2300" b="1" dirty="0">
                <a:latin typeface="Bookman Old Style" pitchFamily="18" charset="0"/>
                <a:cs typeface="Times New Roman" panose="02020603050405020304" pitchFamily="18" charset="0"/>
              </a:rPr>
              <a:t> b. JHFY</a:t>
            </a:r>
          </a:p>
          <a:p>
            <a:pPr marL="0" indent="0" algn="just">
              <a:lnSpc>
                <a:spcPct val="150000"/>
              </a:lnSpc>
              <a:buNone/>
            </a:pPr>
            <a:r>
              <a:rPr lang="en-IN" sz="2300" b="1" dirty="0">
                <a:latin typeface="Bookman Old Style" pitchFamily="18" charset="0"/>
                <a:cs typeface="Times New Roman" panose="02020603050405020304" pitchFamily="18" charset="0"/>
              </a:rPr>
              <a:t> c. JGFY</a:t>
            </a:r>
          </a:p>
          <a:p>
            <a:pPr marL="0" indent="0" algn="just">
              <a:lnSpc>
                <a:spcPct val="150000"/>
              </a:lnSpc>
              <a:buNone/>
            </a:pPr>
            <a:r>
              <a:rPr lang="en-IN" sz="2300" b="1" dirty="0">
                <a:latin typeface="Bookman Old Style" pitchFamily="18" charset="0"/>
                <a:cs typeface="Times New Roman" panose="02020603050405020304" pitchFamily="18" charset="0"/>
              </a:rPr>
              <a:t> d. JHCT</a:t>
            </a:r>
          </a:p>
          <a:p>
            <a:pPr marL="0" indent="0" algn="just">
              <a:lnSpc>
                <a:spcPct val="150000"/>
              </a:lnSpc>
              <a:buNone/>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86ACEF0-1DEA-4989-ED1F-C87D45B977B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8159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C5681-5D64-CC51-EEB9-C939559EFC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AE1C8A-58A2-3260-9BD7-4B574F6249B5}"/>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4. In a certain code , COMPUTER is written as RFUVQNPC. How is MEDICINE written in the same code.</a:t>
            </a:r>
          </a:p>
          <a:p>
            <a:pPr marL="0" indent="0" algn="just">
              <a:lnSpc>
                <a:spcPct val="150000"/>
              </a:lnSpc>
              <a:buNone/>
            </a:pPr>
            <a:r>
              <a:rPr lang="en-IN" sz="2300" b="1" dirty="0">
                <a:effectLst/>
                <a:latin typeface="Bookman Old Style" pitchFamily="18" charset="0"/>
                <a:cs typeface="Times New Roman" panose="02020603050405020304" pitchFamily="18" charset="0"/>
              </a:rPr>
              <a:t> a. EOJDJEFM</a:t>
            </a:r>
          </a:p>
          <a:p>
            <a:pPr marL="0" indent="0" algn="just">
              <a:lnSpc>
                <a:spcPct val="150000"/>
              </a:lnSpc>
              <a:buNone/>
            </a:pPr>
            <a:r>
              <a:rPr lang="en-IN" sz="2300" b="1" dirty="0">
                <a:effectLst/>
                <a:latin typeface="Bookman Old Style" pitchFamily="18" charset="0"/>
                <a:cs typeface="Times New Roman" panose="02020603050405020304" pitchFamily="18" charset="0"/>
              </a:rPr>
              <a:t>b. EOJDEJFM</a:t>
            </a:r>
          </a:p>
          <a:p>
            <a:pPr marL="0" indent="0" algn="just">
              <a:lnSpc>
                <a:spcPct val="150000"/>
              </a:lnSpc>
              <a:buNone/>
            </a:pPr>
            <a:r>
              <a:rPr lang="en-IN" sz="2300" b="1" dirty="0">
                <a:effectLst/>
                <a:latin typeface="Bookman Old Style" pitchFamily="18" charset="0"/>
                <a:cs typeface="Times New Roman" panose="02020603050405020304" pitchFamily="18" charset="0"/>
              </a:rPr>
              <a:t> c. MFEJDJOE</a:t>
            </a:r>
          </a:p>
          <a:p>
            <a:pPr marL="0" indent="0" algn="just">
              <a:lnSpc>
                <a:spcPct val="150000"/>
              </a:lnSpc>
              <a:buNone/>
            </a:pPr>
            <a:r>
              <a:rPr lang="en-IN" sz="2300" b="1" dirty="0">
                <a:effectLst/>
                <a:latin typeface="Bookman Old Style" pitchFamily="18" charset="0"/>
                <a:cs typeface="Times New Roman" panose="02020603050405020304" pitchFamily="18" charset="0"/>
              </a:rPr>
              <a:t> d. MFEDJJOE</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AE8F4E5-3B02-4B9E-30D7-2F0342AABC3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245318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16EC8-6E4C-19D3-6751-D2847E1518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A37F70-52FB-B783-2894-CAFB54B3AA4A}"/>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5. In a certain code IMTITJU is written as TMIIUJT. How is TEMREMP written in that code </a:t>
            </a:r>
          </a:p>
          <a:p>
            <a:pPr marL="0" indent="0" algn="just">
              <a:lnSpc>
                <a:spcPct val="150000"/>
              </a:lnSpc>
              <a:buNone/>
            </a:pPr>
            <a:r>
              <a:rPr lang="en-IN" sz="2300" b="1" dirty="0">
                <a:effectLst/>
                <a:latin typeface="Bookman Old Style" pitchFamily="18" charset="0"/>
                <a:cs typeface="Times New Roman" panose="02020603050405020304" pitchFamily="18" charset="0"/>
              </a:rPr>
              <a:t>  a. METERPM</a:t>
            </a:r>
          </a:p>
          <a:p>
            <a:pPr marL="0" indent="0" algn="just">
              <a:lnSpc>
                <a:spcPct val="150000"/>
              </a:lnSpc>
              <a:buNone/>
            </a:pPr>
            <a:r>
              <a:rPr lang="en-IN" sz="2300" b="1" dirty="0">
                <a:effectLst/>
                <a:latin typeface="Bookman Old Style" pitchFamily="18" charset="0"/>
                <a:cs typeface="Times New Roman" panose="02020603050405020304" pitchFamily="18" charset="0"/>
              </a:rPr>
              <a:t> b. METRPME</a:t>
            </a:r>
          </a:p>
          <a:p>
            <a:pPr marL="0" indent="0" algn="just">
              <a:lnSpc>
                <a:spcPct val="150000"/>
              </a:lnSpc>
              <a:buNone/>
            </a:pPr>
            <a:r>
              <a:rPr lang="en-IN" sz="2300" b="1" dirty="0">
                <a:effectLst/>
                <a:latin typeface="Bookman Old Style" pitchFamily="18" charset="0"/>
                <a:cs typeface="Times New Roman" panose="02020603050405020304" pitchFamily="18" charset="0"/>
              </a:rPr>
              <a:t>  c. ETRMMEP</a:t>
            </a:r>
          </a:p>
          <a:p>
            <a:pPr marL="0" indent="0" algn="just">
              <a:lnSpc>
                <a:spcPct val="150000"/>
              </a:lnSpc>
              <a:buNone/>
            </a:pPr>
            <a:r>
              <a:rPr lang="en-IN" sz="2300" b="1" dirty="0">
                <a:effectLst/>
                <a:latin typeface="Bookman Old Style" pitchFamily="18" charset="0"/>
                <a:cs typeface="Times New Roman" panose="02020603050405020304" pitchFamily="18" charset="0"/>
              </a:rPr>
              <a:t>  d. MTERPME</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9CBF8F0-C0D9-450D-66F9-496BE8A0729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82352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F0C1C-B068-F59C-533F-E13DB3F3B1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4A58C6-4353-2FD2-A966-13148A92A902}"/>
              </a:ext>
            </a:extLst>
          </p:cNvPr>
          <p:cNvSpPr>
            <a:spLocks noGrp="1"/>
          </p:cNvSpPr>
          <p:nvPr>
            <p:ph idx="1"/>
          </p:nvPr>
        </p:nvSpPr>
        <p:spPr>
          <a:xfrm>
            <a:off x="441506" y="255382"/>
            <a:ext cx="9714866" cy="4504426"/>
          </a:xfrm>
        </p:spPr>
        <p:txBody>
          <a:bodyPr>
            <a:normAutofit/>
          </a:bodyPr>
          <a:lstStyle/>
          <a:p>
            <a:pPr>
              <a:buNone/>
            </a:pPr>
            <a:r>
              <a:rPr lang="en-IN" sz="2300" b="1" dirty="0">
                <a:effectLst/>
                <a:latin typeface="Bookman Old Style" pitchFamily="18" charset="0"/>
                <a:cs typeface="Times New Roman" panose="02020603050405020304" pitchFamily="18" charset="0"/>
              </a:rPr>
              <a:t>6. </a:t>
            </a:r>
            <a:r>
              <a:rPr lang="en-US" sz="2300" b="1" dirty="0">
                <a:effectLst/>
                <a:latin typeface="Bookman Old Style" panose="02050604050505020204" pitchFamily="18" charset="0"/>
                <a:cs typeface="Times New Roman" pitchFamily="18" charset="0"/>
              </a:rPr>
              <a:t>In a certain code, SIKKIM is written as THLJJL. How is TRAINING written in that code ?</a:t>
            </a:r>
          </a:p>
          <a:p>
            <a:pPr>
              <a:buNone/>
            </a:pPr>
            <a:r>
              <a:rPr lang="en-US" sz="2300" b="1" dirty="0">
                <a:effectLst/>
                <a:latin typeface="Bookman Old Style" panose="02050604050505020204" pitchFamily="18" charset="0"/>
                <a:cs typeface="Times New Roman" pitchFamily="18" charset="0"/>
              </a:rPr>
              <a:t>A. SQBHOHOH</a:t>
            </a:r>
          </a:p>
          <a:p>
            <a:pPr>
              <a:buNone/>
            </a:pPr>
            <a:r>
              <a:rPr lang="en-US" sz="2300" b="1" dirty="0">
                <a:effectLst/>
                <a:latin typeface="Bookman Old Style" panose="02050604050505020204" pitchFamily="18" charset="0"/>
                <a:cs typeface="Times New Roman" pitchFamily="18" charset="0"/>
              </a:rPr>
              <a:t>B. UQBHOHOF</a:t>
            </a:r>
          </a:p>
          <a:p>
            <a:pPr>
              <a:buNone/>
            </a:pPr>
            <a:r>
              <a:rPr lang="en-US" sz="2300" b="1" dirty="0">
                <a:effectLst/>
                <a:latin typeface="Bookman Old Style" panose="02050604050505020204" pitchFamily="18" charset="0"/>
                <a:cs typeface="Times New Roman" pitchFamily="18" charset="0"/>
              </a:rPr>
              <a:t>C. UQBJOHHO</a:t>
            </a:r>
          </a:p>
          <a:p>
            <a:pPr>
              <a:buNone/>
            </a:pPr>
            <a:r>
              <a:rPr lang="en-US" sz="2300" b="1" dirty="0">
                <a:effectLst/>
                <a:latin typeface="Bookman Old Style" panose="02050604050505020204" pitchFamily="18" charset="0"/>
                <a:cs typeface="Times New Roman" pitchFamily="18" charset="0"/>
              </a:rPr>
              <a:t>D. UQBJOHOH</a:t>
            </a:r>
            <a:endParaRPr lang="en-IN" sz="2300" b="1" dirty="0">
              <a:effectLst/>
              <a:latin typeface="Bookman Old Style" panose="02050604050505020204" pitchFamily="18" charset="0"/>
              <a:cs typeface="Times New Roman" panose="02020603050405020304" pitchFamily="18" charset="0"/>
            </a:endParaRPr>
          </a:p>
          <a:p>
            <a:pPr marL="0" indent="0" algn="just">
              <a:lnSpc>
                <a:spcPct val="150000"/>
              </a:lnSpc>
              <a:buNone/>
            </a:pPr>
            <a:endParaRPr lang="en-IN" sz="2300" b="1" dirty="0">
              <a:effectLst/>
              <a:latin typeface="Bookman Old Style" panose="02050604050505020204"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06954BD-08F0-7058-4A98-8CE880DF32D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125567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313CC-9D1C-B231-45EE-D2AD82DBEA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57AA16-55B5-754D-5692-2D94713F88A9}"/>
              </a:ext>
            </a:extLst>
          </p:cNvPr>
          <p:cNvSpPr>
            <a:spLocks noGrp="1"/>
          </p:cNvSpPr>
          <p:nvPr>
            <p:ph idx="1"/>
          </p:nvPr>
        </p:nvSpPr>
        <p:spPr>
          <a:xfrm>
            <a:off x="441506" y="255382"/>
            <a:ext cx="9714866" cy="4504426"/>
          </a:xfrm>
        </p:spPr>
        <p:txBody>
          <a:bodyPr>
            <a:normAutofit/>
          </a:bodyPr>
          <a:lstStyle/>
          <a:p>
            <a:pPr algn="just">
              <a:lnSpc>
                <a:spcPct val="150000"/>
              </a:lnSpc>
              <a:buNone/>
            </a:pPr>
            <a:r>
              <a:rPr lang="en-IN" sz="2300" b="1" dirty="0">
                <a:effectLst/>
                <a:latin typeface="Bookman Old Style" pitchFamily="18" charset="0"/>
                <a:cs typeface="Times New Roman" panose="02020603050405020304" pitchFamily="18" charset="0"/>
              </a:rPr>
              <a:t>7. </a:t>
            </a:r>
            <a:r>
              <a:rPr lang="en-US" sz="2300" b="1" dirty="0">
                <a:effectLst/>
                <a:latin typeface="Bookman Old Style" panose="02050604050505020204" pitchFamily="18" charset="0"/>
                <a:cs typeface="Times New Roman" pitchFamily="18" charset="0"/>
              </a:rPr>
              <a:t>In a certain code language COMPUTER is written as CEMOPRTU. How will MEDICINE be written in that code language?</a:t>
            </a:r>
          </a:p>
          <a:p>
            <a:pPr algn="just">
              <a:buNone/>
            </a:pPr>
            <a:r>
              <a:rPr lang="en-US" sz="2300" b="1" dirty="0">
                <a:effectLst/>
                <a:latin typeface="Bookman Old Style" panose="02050604050505020204" pitchFamily="18" charset="0"/>
                <a:cs typeface="Times New Roman" pitchFamily="18" charset="0"/>
              </a:rPr>
              <a:t>  a. MFEDJJOE	</a:t>
            </a:r>
          </a:p>
          <a:p>
            <a:pPr algn="just">
              <a:buNone/>
            </a:pPr>
            <a:r>
              <a:rPr lang="en-US" sz="2300" b="1" dirty="0">
                <a:effectLst/>
                <a:latin typeface="Bookman Old Style" panose="02050604050505020204" pitchFamily="18" charset="0"/>
                <a:cs typeface="Times New Roman" pitchFamily="18" charset="0"/>
              </a:rPr>
              <a:t>  b. EOJDEJFM</a:t>
            </a:r>
          </a:p>
          <a:p>
            <a:pPr algn="just">
              <a:buNone/>
            </a:pPr>
            <a:r>
              <a:rPr lang="en-US" sz="2300" b="1" dirty="0">
                <a:effectLst/>
                <a:latin typeface="Bookman Old Style" panose="02050604050505020204" pitchFamily="18" charset="0"/>
                <a:cs typeface="Times New Roman" pitchFamily="18" charset="0"/>
              </a:rPr>
              <a:t>  c. CDEEIIMN	</a:t>
            </a:r>
          </a:p>
          <a:p>
            <a:pPr algn="just">
              <a:buNone/>
            </a:pPr>
            <a:r>
              <a:rPr lang="en-US" sz="2300" b="1" dirty="0">
                <a:effectLst/>
                <a:latin typeface="Bookman Old Style" panose="02050604050505020204" pitchFamily="18" charset="0"/>
                <a:cs typeface="Times New Roman" pitchFamily="18" charset="0"/>
              </a:rPr>
              <a:t>  d. EOJDJEFM</a:t>
            </a:r>
          </a:p>
          <a:p>
            <a:pPr marL="0" indent="0" algn="just">
              <a:lnSpc>
                <a:spcPct val="150000"/>
              </a:lnSpc>
              <a:buNone/>
            </a:pPr>
            <a:endParaRPr lang="en-IN" sz="2300" b="1" dirty="0">
              <a:effectLst/>
              <a:latin typeface="Bookman Old Style" panose="02050604050505020204"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5167694-689C-00FB-0539-A356CAFEEEF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604876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27A39-3709-70C5-A126-9EB70D6200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971DFD-1272-FC28-BB34-97AB0B45580B}"/>
              </a:ext>
            </a:extLst>
          </p:cNvPr>
          <p:cNvSpPr>
            <a:spLocks noGrp="1"/>
          </p:cNvSpPr>
          <p:nvPr>
            <p:ph idx="1"/>
          </p:nvPr>
        </p:nvSpPr>
        <p:spPr>
          <a:xfrm>
            <a:off x="441506" y="255382"/>
            <a:ext cx="9714866" cy="4504426"/>
          </a:xfrm>
        </p:spPr>
        <p:txBody>
          <a:bodyPr>
            <a:normAutofit/>
          </a:bodyPr>
          <a:lstStyle/>
          <a:p>
            <a:pPr algn="just">
              <a:lnSpc>
                <a:spcPct val="150000"/>
              </a:lnSpc>
              <a:buNone/>
            </a:pPr>
            <a:r>
              <a:rPr lang="en-IN" sz="2300" b="1" dirty="0">
                <a:effectLst/>
                <a:latin typeface="Bookman Old Style" pitchFamily="18" charset="0"/>
                <a:cs typeface="Times New Roman" panose="02020603050405020304" pitchFamily="18" charset="0"/>
              </a:rPr>
              <a:t>8. </a:t>
            </a:r>
            <a:r>
              <a:rPr lang="en-US" sz="2300" b="1" dirty="0">
                <a:effectLst/>
                <a:latin typeface="Bookman Old Style" panose="02050604050505020204" pitchFamily="18" charset="0"/>
                <a:cs typeface="Times New Roman" pitchFamily="18" charset="0"/>
              </a:rPr>
              <a:t>In a certain code language CARROM is written as BZQQNL. Which word will be coded as HOUSE</a:t>
            </a:r>
          </a:p>
          <a:p>
            <a:pPr algn="just">
              <a:lnSpc>
                <a:spcPct val="150000"/>
              </a:lnSpc>
              <a:buNone/>
            </a:pPr>
            <a:r>
              <a:rPr lang="en-US" sz="2300" b="1" dirty="0">
                <a:effectLst/>
                <a:latin typeface="Bookman Old Style" panose="02050604050505020204" pitchFamily="18" charset="0"/>
                <a:cs typeface="Times New Roman" pitchFamily="18" charset="0"/>
              </a:rPr>
              <a:t>  a. IPVTF</a:t>
            </a:r>
          </a:p>
          <a:p>
            <a:pPr algn="just">
              <a:lnSpc>
                <a:spcPct val="150000"/>
              </a:lnSpc>
              <a:buNone/>
            </a:pPr>
            <a:r>
              <a:rPr lang="en-US" sz="2300" b="1" dirty="0">
                <a:effectLst/>
                <a:latin typeface="Bookman Old Style" panose="02050604050505020204" pitchFamily="18" charset="0"/>
                <a:cs typeface="Times New Roman" pitchFamily="18" charset="0"/>
              </a:rPr>
              <a:t>  b. GNTRD</a:t>
            </a:r>
          </a:p>
          <a:p>
            <a:pPr algn="just">
              <a:lnSpc>
                <a:spcPct val="150000"/>
              </a:lnSpc>
              <a:buNone/>
            </a:pPr>
            <a:r>
              <a:rPr lang="en-US" sz="2300" b="1" dirty="0">
                <a:effectLst/>
                <a:latin typeface="Bookman Old Style" panose="02050604050505020204" pitchFamily="18" charset="0"/>
                <a:cs typeface="Times New Roman" pitchFamily="18" charset="0"/>
              </a:rPr>
              <a:t>  c. INVRF</a:t>
            </a:r>
          </a:p>
          <a:p>
            <a:pPr algn="just">
              <a:lnSpc>
                <a:spcPct val="150000"/>
              </a:lnSpc>
              <a:buNone/>
            </a:pPr>
            <a:r>
              <a:rPr lang="en-US" sz="2300" b="1" dirty="0">
                <a:effectLst/>
                <a:latin typeface="Bookman Old Style" panose="02050604050505020204" pitchFamily="18" charset="0"/>
                <a:cs typeface="Times New Roman" pitchFamily="18" charset="0"/>
              </a:rPr>
              <a:t>  d. GPTID</a:t>
            </a:r>
          </a:p>
          <a:p>
            <a:pPr marL="0" indent="0" algn="just">
              <a:lnSpc>
                <a:spcPct val="150000"/>
              </a:lnSpc>
              <a:buNone/>
            </a:pPr>
            <a:endParaRPr lang="en-IN" sz="2300" b="1" dirty="0">
              <a:effectLst/>
              <a:latin typeface="Bookman Old Style" panose="02050604050505020204"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13054D3-ECF6-74AA-17B7-007E62C00D71}"/>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619628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EED1D-1CE3-B904-42C2-BDA1C4A048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8C49C-7ADD-BD6C-CD52-250BAEE1EFAA}"/>
              </a:ext>
            </a:extLst>
          </p:cNvPr>
          <p:cNvSpPr>
            <a:spLocks noGrp="1"/>
          </p:cNvSpPr>
          <p:nvPr>
            <p:ph idx="1"/>
          </p:nvPr>
        </p:nvSpPr>
        <p:spPr>
          <a:xfrm>
            <a:off x="441506" y="255382"/>
            <a:ext cx="9714866" cy="4504426"/>
          </a:xfrm>
        </p:spPr>
        <p:txBody>
          <a:bodyPr>
            <a:normAutofit/>
          </a:bodyPr>
          <a:lstStyle/>
          <a:p>
            <a:pPr marL="0" lvl="0" indent="0" eaLnBrk="0" fontAlgn="base" hangingPunct="0">
              <a:lnSpc>
                <a:spcPct val="150000"/>
              </a:lnSpc>
              <a:spcBef>
                <a:spcPct val="0"/>
              </a:spcBef>
              <a:spcAft>
                <a:spcPct val="0"/>
              </a:spcAft>
              <a:buNone/>
            </a:pPr>
            <a:r>
              <a:rPr lang="en-IN" sz="2300" b="1" dirty="0">
                <a:effectLst/>
                <a:latin typeface="Bookman Old Style" pitchFamily="18" charset="0"/>
                <a:cs typeface="Times New Roman" panose="02020603050405020304" pitchFamily="18" charset="0"/>
              </a:rPr>
              <a:t>9. </a:t>
            </a:r>
            <a:r>
              <a:rPr lang="en-US" sz="2300" b="1" dirty="0">
                <a:effectLst/>
                <a:latin typeface="Bookman Old Style" pitchFamily="18" charset="0"/>
                <a:cs typeface="Times New Roman" panose="02020603050405020304" pitchFamily="18" charset="0"/>
              </a:rPr>
              <a:t>In a code language, MOUSE is coded as 41 and RATE is coded as 6. How would you code for NETWORK in the same language?</a:t>
            </a:r>
          </a:p>
          <a:p>
            <a:pPr marL="0" lvl="0" indent="0" eaLnBrk="0" fontAlgn="base" hangingPunct="0">
              <a:lnSpc>
                <a:spcPct val="150000"/>
              </a:lnSpc>
              <a:spcBef>
                <a:spcPct val="0"/>
              </a:spcBef>
              <a:spcAft>
                <a:spcPct val="0"/>
              </a:spcAft>
              <a:buNone/>
            </a:pPr>
            <a:r>
              <a:rPr lang="en-US" sz="2300" b="1" dirty="0">
                <a:effectLst/>
                <a:latin typeface="Bookman Old Style" pitchFamily="18" charset="0"/>
                <a:cs typeface="Times New Roman" panose="02020603050405020304" pitchFamily="18" charset="0"/>
              </a:rPr>
              <a:t> A.15  B. 20    C. 19  D. 21</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D114F0DC-61BE-504B-B451-E81239D3317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702521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C17D6-BC25-4E6D-9F15-693963774B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8EAE1-2692-A5C8-D540-B6961D9E5CD6}"/>
              </a:ext>
            </a:extLst>
          </p:cNvPr>
          <p:cNvSpPr>
            <a:spLocks noGrp="1"/>
          </p:cNvSpPr>
          <p:nvPr>
            <p:ph idx="1"/>
          </p:nvPr>
        </p:nvSpPr>
        <p:spPr>
          <a:xfrm>
            <a:off x="441506" y="255382"/>
            <a:ext cx="10008780" cy="4504426"/>
          </a:xfrm>
        </p:spPr>
        <p:txBody>
          <a:bodyPr>
            <a:normAutofit/>
          </a:bodyPr>
          <a:lstStyle/>
          <a:p>
            <a:pPr marL="0" lvl="0" indent="0" eaLnBrk="0" fontAlgn="base" hangingPunct="0">
              <a:lnSpc>
                <a:spcPct val="150000"/>
              </a:lnSpc>
              <a:spcBef>
                <a:spcPct val="0"/>
              </a:spcBef>
              <a:spcAft>
                <a:spcPct val="0"/>
              </a:spcAft>
              <a:buNone/>
            </a:pPr>
            <a:r>
              <a:rPr lang="en-IN" sz="2300" b="1" dirty="0">
                <a:effectLst/>
                <a:latin typeface="Bookman Old Style" pitchFamily="18" charset="0"/>
                <a:cs typeface="Times New Roman" panose="02020603050405020304" pitchFamily="18" charset="0"/>
              </a:rPr>
              <a:t>10. </a:t>
            </a:r>
            <a:r>
              <a:rPr lang="en-US" sz="2300" b="1" dirty="0">
                <a:effectLst/>
                <a:latin typeface="Bookman Old Style" pitchFamily="18" charset="0"/>
                <a:cs typeface="Times New Roman" panose="02020603050405020304" pitchFamily="18" charset="0"/>
              </a:rPr>
              <a:t>If "SOMESH" is coded as "240123" and "RAJINI" is coded as "798565", then the code for "MANI" is:</a:t>
            </a:r>
          </a:p>
          <a:p>
            <a:pPr marL="0" lvl="0" indent="0" eaLnBrk="0" fontAlgn="base" hangingPunct="0">
              <a:lnSpc>
                <a:spcPct val="150000"/>
              </a:lnSpc>
              <a:spcBef>
                <a:spcPct val="0"/>
              </a:spcBef>
              <a:spcAft>
                <a:spcPct val="0"/>
              </a:spcAft>
              <a:buNone/>
            </a:pPr>
            <a:r>
              <a:rPr lang="en-US" sz="2300" b="1" dirty="0">
                <a:effectLst/>
                <a:latin typeface="Bookman Old Style" pitchFamily="18" charset="0"/>
                <a:cs typeface="Times New Roman" panose="02020603050405020304" pitchFamily="18" charset="0"/>
              </a:rPr>
              <a:t> A. 0569  B. 0956   C. 0695   D. 0965</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0CA52B2-B7CE-5227-3EF0-B8E61E94C53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74937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66D7E-536E-8C14-40C8-0AF78122AD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B7851D-C0CE-F36B-0FA0-ECAC0F776EB5}"/>
              </a:ext>
            </a:extLst>
          </p:cNvPr>
          <p:cNvSpPr>
            <a:spLocks noGrp="1"/>
          </p:cNvSpPr>
          <p:nvPr>
            <p:ph idx="1"/>
          </p:nvPr>
        </p:nvSpPr>
        <p:spPr>
          <a:xfrm>
            <a:off x="441506" y="255382"/>
            <a:ext cx="9932580" cy="4504426"/>
          </a:xfrm>
        </p:spPr>
        <p:txBody>
          <a:bodyPr>
            <a:normAutofit/>
          </a:bodyPr>
          <a:lstStyle/>
          <a:p>
            <a:pPr marL="0" lvl="0" indent="0" eaLnBrk="0" fontAlgn="base" hangingPunct="0">
              <a:lnSpc>
                <a:spcPct val="150000"/>
              </a:lnSpc>
              <a:spcBef>
                <a:spcPct val="0"/>
              </a:spcBef>
              <a:spcAft>
                <a:spcPct val="0"/>
              </a:spcAft>
              <a:buNone/>
            </a:pPr>
            <a:r>
              <a:rPr lang="en-IN" sz="2300" b="1" dirty="0">
                <a:latin typeface="Bookman Old Style" pitchFamily="18" charset="0"/>
                <a:cs typeface="Times New Roman" panose="02020603050405020304" pitchFamily="18" charset="0"/>
              </a:rPr>
              <a:t>11. </a:t>
            </a:r>
            <a:r>
              <a:rPr lang="en-US" sz="2300" b="1" dirty="0">
                <a:latin typeface="Bookman Old Style" pitchFamily="18" charset="0"/>
                <a:cs typeface="Times New Roman" panose="02020603050405020304" pitchFamily="18" charset="0"/>
              </a:rPr>
              <a:t>In a certain code, VUP = 80 and PBO = 48, then what is the code for LSB?</a:t>
            </a:r>
          </a:p>
          <a:p>
            <a:pPr marL="0" lvl="0" indent="0" eaLnBrk="0" fontAlgn="base" hangingPunct="0">
              <a:lnSpc>
                <a:spcPct val="150000"/>
              </a:lnSpc>
              <a:spcBef>
                <a:spcPct val="0"/>
              </a:spcBef>
              <a:spcAft>
                <a:spcPct val="0"/>
              </a:spcAft>
              <a:buNone/>
            </a:pPr>
            <a:r>
              <a:rPr lang="en-US" sz="2300" b="1" dirty="0">
                <a:latin typeface="Bookman Old Style" pitchFamily="18" charset="0"/>
                <a:cs typeface="Times New Roman" panose="02020603050405020304" pitchFamily="18" charset="0"/>
              </a:rPr>
              <a:t> A. 33  </a:t>
            </a:r>
          </a:p>
          <a:p>
            <a:pPr marL="0" lvl="0" indent="0" eaLnBrk="0" fontAlgn="base" hangingPunct="0">
              <a:lnSpc>
                <a:spcPct val="150000"/>
              </a:lnSpc>
              <a:spcBef>
                <a:spcPct val="0"/>
              </a:spcBef>
              <a:spcAft>
                <a:spcPct val="0"/>
              </a:spcAft>
              <a:buNone/>
            </a:pPr>
            <a:r>
              <a:rPr lang="en-US" sz="2300" b="1" dirty="0">
                <a:latin typeface="Bookman Old Style" pitchFamily="18" charset="0"/>
                <a:cs typeface="Times New Roman" panose="02020603050405020304" pitchFamily="18" charset="0"/>
              </a:rPr>
              <a:t> B. 35   </a:t>
            </a:r>
          </a:p>
          <a:p>
            <a:pPr marL="0" lvl="0" indent="0" eaLnBrk="0" fontAlgn="base" hangingPunct="0">
              <a:lnSpc>
                <a:spcPct val="150000"/>
              </a:lnSpc>
              <a:spcBef>
                <a:spcPct val="0"/>
              </a:spcBef>
              <a:spcAft>
                <a:spcPct val="0"/>
              </a:spcAft>
              <a:buNone/>
            </a:pPr>
            <a:r>
              <a:rPr lang="en-US" sz="2300" b="1" dirty="0">
                <a:latin typeface="Bookman Old Style" pitchFamily="18" charset="0"/>
                <a:cs typeface="Times New Roman" panose="02020603050405020304" pitchFamily="18" charset="0"/>
              </a:rPr>
              <a:t>C. 68  </a:t>
            </a:r>
          </a:p>
          <a:p>
            <a:pPr marL="0" lvl="0" indent="0" eaLnBrk="0" fontAlgn="base" hangingPunct="0">
              <a:lnSpc>
                <a:spcPct val="150000"/>
              </a:lnSpc>
              <a:spcBef>
                <a:spcPct val="0"/>
              </a:spcBef>
              <a:spcAft>
                <a:spcPct val="0"/>
              </a:spcAft>
              <a:buNone/>
            </a:pPr>
            <a:r>
              <a:rPr lang="en-US" sz="2300" b="1" dirty="0">
                <a:latin typeface="Bookman Old Style" pitchFamily="18" charset="0"/>
                <a:cs typeface="Times New Roman" panose="02020603050405020304" pitchFamily="18" charset="0"/>
              </a:rPr>
              <a:t>D. 42</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2E5C417-35F8-52BD-D3EE-B9397F0637E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46898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36FC8-4D44-3434-3B6F-38F6B5C2A2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5F55AA-41A8-9471-ECDB-E84321F338D9}"/>
              </a:ext>
            </a:extLst>
          </p:cNvPr>
          <p:cNvSpPr>
            <a:spLocks noGrp="1"/>
          </p:cNvSpPr>
          <p:nvPr>
            <p:ph idx="1"/>
          </p:nvPr>
        </p:nvSpPr>
        <p:spPr>
          <a:xfrm>
            <a:off x="441506" y="255381"/>
            <a:ext cx="9932580" cy="5742647"/>
          </a:xfrm>
        </p:spPr>
        <p:txBody>
          <a:bodyPr>
            <a:noAutofit/>
          </a:bodyPr>
          <a:lstStyle/>
          <a:p>
            <a:pPr marL="0" lvl="0" indent="0" eaLnBrk="0" fontAlgn="base" hangingPunct="0">
              <a:lnSpc>
                <a:spcPct val="150000"/>
              </a:lnSpc>
              <a:spcBef>
                <a:spcPct val="0"/>
              </a:spcBef>
              <a:spcAft>
                <a:spcPct val="0"/>
              </a:spcAft>
              <a:buNone/>
            </a:pPr>
            <a:r>
              <a:rPr lang="en-IN" sz="2100" b="1" dirty="0">
                <a:effectLst/>
                <a:latin typeface="Bookman Old Style" pitchFamily="18" charset="0"/>
                <a:cs typeface="Times New Roman" panose="02020603050405020304" pitchFamily="18" charset="0"/>
              </a:rPr>
              <a:t>12. </a:t>
            </a:r>
            <a:r>
              <a:rPr lang="en-US" sz="2100" b="1" dirty="0">
                <a:effectLst/>
                <a:latin typeface="Bookman Old Style" pitchFamily="18" charset="0"/>
                <a:cs typeface="Times New Roman" panose="02020603050405020304" pitchFamily="18" charset="0"/>
              </a:rPr>
              <a:t>In each of the five pairs of letter-clusters, the letters in the second term are the rearranged/transformed form of the letters of the first term. Which transformations have been done the same way?</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(A) SUNDAY : YADNUS</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(B) PROFIT : ORPTIF</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(C) CURATE : ETARUC</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(D) REFORM : EFMORR</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(E) CREATE : RCAEET</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A.  A and C</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B. B and D</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C.  A and E</a:t>
            </a:r>
          </a:p>
          <a:p>
            <a:pPr marL="0" lvl="0" indent="0"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D.  D and E</a:t>
            </a:r>
            <a:endParaRPr lang="en-IN" sz="21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98A0030-2213-8A4C-E269-73C3A7B12D9E}"/>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813284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A99A-62A2-C782-8443-52EB8DD31C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B03E29-FFA1-F290-F9FE-4F792943F1EE}"/>
              </a:ext>
            </a:extLst>
          </p:cNvPr>
          <p:cNvSpPr>
            <a:spLocks noGrp="1"/>
          </p:cNvSpPr>
          <p:nvPr>
            <p:ph idx="1"/>
          </p:nvPr>
        </p:nvSpPr>
        <p:spPr>
          <a:xfrm>
            <a:off x="441506" y="255381"/>
            <a:ext cx="9819005" cy="6406676"/>
          </a:xfrm>
        </p:spPr>
        <p:txBody>
          <a:bodyPr>
            <a:normAutofit/>
          </a:bodyPr>
          <a:lstStyle/>
          <a:p>
            <a:pPr marL="0" indent="0" algn="just" eaLnBrk="0" fontAlgn="base" hangingPunct="0">
              <a:lnSpc>
                <a:spcPct val="150000"/>
              </a:lnSpc>
              <a:spcBef>
                <a:spcPct val="0"/>
              </a:spcBef>
              <a:spcAft>
                <a:spcPct val="0"/>
              </a:spcAft>
              <a:buNone/>
            </a:pPr>
            <a:r>
              <a:rPr lang="en-IN" sz="2100" b="1" dirty="0">
                <a:effectLst/>
                <a:latin typeface="Bookman Old Style" pitchFamily="18" charset="0"/>
                <a:cs typeface="Times New Roman" panose="02020603050405020304" pitchFamily="18" charset="0"/>
              </a:rPr>
              <a:t>13. </a:t>
            </a:r>
            <a:r>
              <a:rPr lang="en-US" sz="2100" b="1" dirty="0">
                <a:effectLst/>
                <a:latin typeface="Bookman Old Style" pitchFamily="18" charset="0"/>
                <a:cs typeface="Times New Roman" panose="02020603050405020304" pitchFamily="18" charset="0"/>
              </a:rPr>
              <a:t>In each of the five pairs of letter-clusters, the letters in the second term are the rearranged/transformed form of the letters of the first term. Which transformations have been done the same way?</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(A) TISSUE : ISSEUT</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(B) WONDER : OWDNRE</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(C) VOLUME : OVULEM</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(D) WRIGHT : RIWGHT</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(E) WEEKLY : YEELKW</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A. D and A;</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B. C and D; </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C. A and B; </a:t>
            </a:r>
          </a:p>
          <a:p>
            <a:pPr marL="0" lvl="0" indent="0" algn="just" eaLnBrk="0" fontAlgn="base" hangingPunct="0">
              <a:lnSpc>
                <a:spcPct val="150000"/>
              </a:lnSpc>
              <a:spcBef>
                <a:spcPct val="0"/>
              </a:spcBef>
              <a:spcAft>
                <a:spcPct val="0"/>
              </a:spcAft>
              <a:buNone/>
            </a:pPr>
            <a:r>
              <a:rPr lang="en-US" sz="2100" b="1" dirty="0">
                <a:effectLst/>
                <a:latin typeface="Bookman Old Style" pitchFamily="18" charset="0"/>
                <a:cs typeface="Times New Roman" panose="02020603050405020304" pitchFamily="18" charset="0"/>
              </a:rPr>
              <a:t>D. B and C</a:t>
            </a:r>
            <a:r>
              <a:rPr lang="en-IN" sz="2100" b="1" dirty="0">
                <a:effectLst/>
                <a:latin typeface="Bookman Old Style" pitchFamily="18" charset="0"/>
                <a:cs typeface="Times New Roman" panose="02020603050405020304" pitchFamily="18" charset="0"/>
              </a:rPr>
              <a:t> </a:t>
            </a:r>
          </a:p>
        </p:txBody>
      </p:sp>
      <p:pic>
        <p:nvPicPr>
          <p:cNvPr id="2" name="Picture 1" descr="A yellow and blue sign with words">
            <a:extLst>
              <a:ext uri="{FF2B5EF4-FFF2-40B4-BE49-F238E27FC236}">
                <a16:creationId xmlns:a16="http://schemas.microsoft.com/office/drawing/2014/main" id="{542A3701-8AF7-0CC9-0160-51A0FF97190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009793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23189-5F62-F9E6-1A51-9ABDF24F52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CE95AA-39F1-EF06-7A01-0AC0399D737E}"/>
              </a:ext>
            </a:extLst>
          </p:cNvPr>
          <p:cNvSpPr>
            <a:spLocks noGrp="1"/>
          </p:cNvSpPr>
          <p:nvPr>
            <p:ph idx="1"/>
          </p:nvPr>
        </p:nvSpPr>
        <p:spPr>
          <a:xfrm>
            <a:off x="441506" y="255381"/>
            <a:ext cx="9638665" cy="5742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14. In a certain code language DAMP= 4036 and LAMP= 6390. Find the value of L?</a:t>
            </a:r>
          </a:p>
        </p:txBody>
      </p:sp>
      <p:pic>
        <p:nvPicPr>
          <p:cNvPr id="2" name="Picture 1" descr="A yellow and blue sign with words">
            <a:extLst>
              <a:ext uri="{FF2B5EF4-FFF2-40B4-BE49-F238E27FC236}">
                <a16:creationId xmlns:a16="http://schemas.microsoft.com/office/drawing/2014/main" id="{3D4467B7-8C9C-CD4B-D12B-D8B7DD151776}"/>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222640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A1ADF-AD57-110B-6E53-993F90C7F0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F59BCA-AE5C-14BC-CACE-8370639E59D0}"/>
              </a:ext>
            </a:extLst>
          </p:cNvPr>
          <p:cNvSpPr>
            <a:spLocks noGrp="1"/>
          </p:cNvSpPr>
          <p:nvPr>
            <p:ph idx="1"/>
          </p:nvPr>
        </p:nvSpPr>
        <p:spPr>
          <a:xfrm>
            <a:off x="441506" y="255381"/>
            <a:ext cx="9819005" cy="6319590"/>
          </a:xfrm>
        </p:spPr>
        <p:txBody>
          <a:bodyPr>
            <a:noAutofit/>
          </a:bodyPr>
          <a:lstStyle/>
          <a:p>
            <a:pPr marL="0" indent="0" algn="just">
              <a:lnSpc>
                <a:spcPct val="150000"/>
              </a:lnSpc>
              <a:buNone/>
            </a:pPr>
            <a:r>
              <a:rPr lang="en-IN" b="1" dirty="0">
                <a:effectLst/>
                <a:latin typeface="Bookman Old Style" pitchFamily="18" charset="0"/>
                <a:cs typeface="Times New Roman" panose="02020603050405020304" pitchFamily="18" charset="0"/>
              </a:rPr>
              <a:t>15. </a:t>
            </a:r>
            <a:r>
              <a:rPr lang="en-US" b="1" dirty="0">
                <a:effectLst/>
                <a:latin typeface="Bookman Old Style" pitchFamily="18" charset="0"/>
                <a:cs typeface="Times New Roman" panose="02020603050405020304" pitchFamily="18" charset="0"/>
              </a:rPr>
              <a:t>In each of the five pairs of letter-clusters, the letters in the second term is a rearranged/transformed form of the letters in the first term in a particular pattern. In which two pairs, the transformation has been done the same way?</a:t>
            </a:r>
          </a:p>
          <a:p>
            <a:pPr marL="0" indent="0" algn="just">
              <a:lnSpc>
                <a:spcPct val="150000"/>
              </a:lnSpc>
              <a:buNone/>
            </a:pPr>
            <a:r>
              <a:rPr lang="en-US" b="1" dirty="0">
                <a:effectLst/>
                <a:latin typeface="Bookman Old Style" pitchFamily="18" charset="0"/>
                <a:cs typeface="Times New Roman" panose="02020603050405020304" pitchFamily="18" charset="0"/>
              </a:rPr>
              <a:t>[A] RDXPQ - XDPRQ</a:t>
            </a:r>
          </a:p>
          <a:p>
            <a:pPr marL="0" indent="0" algn="just">
              <a:lnSpc>
                <a:spcPct val="150000"/>
              </a:lnSpc>
              <a:buNone/>
            </a:pPr>
            <a:r>
              <a:rPr lang="en-US" b="1" dirty="0">
                <a:effectLst/>
                <a:latin typeface="Bookman Old Style" pitchFamily="18" charset="0"/>
                <a:cs typeface="Times New Roman" panose="02020603050405020304" pitchFamily="18" charset="0"/>
              </a:rPr>
              <a:t>[B] MUKHI - KUMIH</a:t>
            </a:r>
          </a:p>
          <a:p>
            <a:pPr marL="0" indent="0" algn="just">
              <a:lnSpc>
                <a:spcPct val="150000"/>
              </a:lnSpc>
              <a:buNone/>
            </a:pPr>
            <a:r>
              <a:rPr lang="en-US" b="1" dirty="0">
                <a:effectLst/>
                <a:latin typeface="Bookman Old Style" pitchFamily="18" charset="0"/>
                <a:cs typeface="Times New Roman" panose="02020603050405020304" pitchFamily="18" charset="0"/>
              </a:rPr>
              <a:t>[C] GTRSK - RTGKS</a:t>
            </a:r>
          </a:p>
          <a:p>
            <a:pPr marL="0" indent="0" algn="just">
              <a:lnSpc>
                <a:spcPct val="150000"/>
              </a:lnSpc>
              <a:buNone/>
            </a:pPr>
            <a:r>
              <a:rPr lang="en-US" b="1" dirty="0">
                <a:effectLst/>
                <a:latin typeface="Bookman Old Style" pitchFamily="18" charset="0"/>
                <a:cs typeface="Times New Roman" panose="02020603050405020304" pitchFamily="18" charset="0"/>
              </a:rPr>
              <a:t>[D] PKRHU - UPHRK</a:t>
            </a:r>
          </a:p>
          <a:p>
            <a:pPr marL="0" indent="0" algn="just">
              <a:lnSpc>
                <a:spcPct val="150000"/>
              </a:lnSpc>
              <a:buNone/>
            </a:pPr>
            <a:r>
              <a:rPr lang="en-US" b="1" dirty="0">
                <a:effectLst/>
                <a:latin typeface="Bookman Old Style" pitchFamily="18" charset="0"/>
                <a:cs typeface="Times New Roman" panose="02020603050405020304" pitchFamily="18" charset="0"/>
              </a:rPr>
              <a:t>[E] MPQTJ - MTJQP</a:t>
            </a:r>
          </a:p>
          <a:p>
            <a:pPr marL="0" indent="0" algn="just">
              <a:lnSpc>
                <a:spcPct val="150000"/>
              </a:lnSpc>
              <a:buNone/>
            </a:pPr>
            <a:r>
              <a:rPr lang="en-US" b="1" dirty="0">
                <a:effectLst/>
                <a:latin typeface="Bookman Old Style" pitchFamily="18" charset="0"/>
                <a:cs typeface="Times New Roman" panose="02020603050405020304" pitchFamily="18" charset="0"/>
              </a:rPr>
              <a:t>Options:</a:t>
            </a:r>
          </a:p>
          <a:p>
            <a:pPr marL="342900" indent="-342900" algn="just">
              <a:lnSpc>
                <a:spcPct val="150000"/>
              </a:lnSpc>
              <a:buAutoNum type="alphaUcPeriod"/>
            </a:pPr>
            <a:r>
              <a:rPr lang="en-US" b="1" dirty="0">
                <a:effectLst/>
                <a:latin typeface="Bookman Old Style" pitchFamily="18" charset="0"/>
                <a:cs typeface="Times New Roman" panose="02020603050405020304" pitchFamily="18" charset="0"/>
              </a:rPr>
              <a:t>B and C    B. D and B    C. A and D     </a:t>
            </a:r>
            <a:r>
              <a:rPr lang="en-US" b="1" dirty="0" err="1">
                <a:effectLst/>
                <a:latin typeface="Bookman Old Style" pitchFamily="18" charset="0"/>
                <a:cs typeface="Times New Roman" panose="02020603050405020304" pitchFamily="18" charset="0"/>
              </a:rPr>
              <a:t>D</a:t>
            </a:r>
            <a:r>
              <a:rPr lang="en-US" b="1" dirty="0">
                <a:effectLst/>
                <a:latin typeface="Bookman Old Style" pitchFamily="18" charset="0"/>
                <a:cs typeface="Times New Roman" panose="02020603050405020304" pitchFamily="18" charset="0"/>
              </a:rPr>
              <a:t>. A and C</a:t>
            </a:r>
          </a:p>
          <a:p>
            <a:pPr marL="0" indent="0" algn="just">
              <a:lnSpc>
                <a:spcPct val="150000"/>
              </a:lnSpc>
              <a:buNone/>
            </a:pPr>
            <a:endParaRPr lang="en-IN"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E652D92A-5D20-BC65-5122-16FECB3A1691}"/>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121924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D3023-7839-EACD-1B82-DA4396102C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24C81B-1373-3097-29FF-70F048C298F9}"/>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16. </a:t>
            </a:r>
            <a:r>
              <a:rPr lang="en-US" sz="2200" b="1" dirty="0">
                <a:effectLst/>
                <a:latin typeface="Bookman Old Style" pitchFamily="18" charset="0"/>
                <a:cs typeface="Times New Roman" panose="02020603050405020304" pitchFamily="18" charset="0"/>
              </a:rPr>
              <a:t>In a code language, JANUARY is coded as 1152337265474. How would you code for OCTOBER in the same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1672931274167</a:t>
            </a:r>
          </a:p>
          <a:p>
            <a:pPr marL="0" indent="0" algn="just">
              <a:lnSpc>
                <a:spcPct val="150000"/>
              </a:lnSpc>
              <a:buNone/>
            </a:pPr>
            <a:r>
              <a:rPr lang="en-US" sz="2200" b="1" dirty="0">
                <a:effectLst/>
                <a:latin typeface="Bookman Old Style" pitchFamily="18" charset="0"/>
                <a:cs typeface="Times New Roman" panose="02020603050405020304" pitchFamily="18" charset="0"/>
              </a:rPr>
              <a:t>B) 1572931274167</a:t>
            </a:r>
          </a:p>
          <a:p>
            <a:pPr marL="0" indent="0" algn="just">
              <a:lnSpc>
                <a:spcPct val="150000"/>
              </a:lnSpc>
              <a:buNone/>
            </a:pPr>
            <a:r>
              <a:rPr lang="en-US" sz="2200" b="1" dirty="0">
                <a:effectLst/>
                <a:latin typeface="Bookman Old Style" pitchFamily="18" charset="0"/>
                <a:cs typeface="Times New Roman" panose="02020603050405020304" pitchFamily="18" charset="0"/>
              </a:rPr>
              <a:t>C) 1692931274167</a:t>
            </a:r>
          </a:p>
          <a:p>
            <a:pPr marL="0" indent="0" algn="just">
              <a:lnSpc>
                <a:spcPct val="150000"/>
              </a:lnSpc>
              <a:buNone/>
            </a:pPr>
            <a:r>
              <a:rPr lang="en-US" sz="2200" b="1" dirty="0">
                <a:effectLst/>
                <a:latin typeface="Bookman Old Style" pitchFamily="18" charset="0"/>
                <a:cs typeface="Times New Roman" panose="02020603050405020304" pitchFamily="18" charset="0"/>
              </a:rPr>
              <a:t>D) 1672930274167</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D00AA6C-9321-49D6-A232-BDD4E1707C6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748473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4DAED-A9FA-1F55-4925-002EC1BE59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AAC6B7-8422-6489-753F-17F1186B6E2A}"/>
              </a:ext>
            </a:extLst>
          </p:cNvPr>
          <p:cNvSpPr>
            <a:spLocks noGrp="1"/>
          </p:cNvSpPr>
          <p:nvPr>
            <p:ph idx="1"/>
          </p:nvPr>
        </p:nvSpPr>
        <p:spPr>
          <a:xfrm>
            <a:off x="441507" y="255381"/>
            <a:ext cx="8463008" cy="5742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17. </a:t>
            </a:r>
            <a:r>
              <a:rPr lang="en-US" sz="2300" b="1" dirty="0">
                <a:effectLst/>
                <a:latin typeface="Bookman Old Style" pitchFamily="18" charset="0"/>
                <a:cs typeface="Times New Roman" panose="02020603050405020304" pitchFamily="18" charset="0"/>
              </a:rPr>
              <a:t>If 24 N 16 A 4 = 12 and 14 A 18 N 12 = 20, then 48 N 16 A 15 = ?</a:t>
            </a:r>
          </a:p>
          <a:p>
            <a:pPr marL="0" indent="0" algn="just">
              <a:lnSpc>
                <a:spcPct val="150000"/>
              </a:lnSpc>
              <a:buNone/>
            </a:pPr>
            <a:r>
              <a:rPr lang="en-US" sz="2300" b="1" dirty="0">
                <a:effectLst/>
                <a:latin typeface="Bookman Old Style" pitchFamily="18" charset="0"/>
                <a:cs typeface="Times New Roman" panose="02020603050405020304" pitchFamily="18" charset="0"/>
              </a:rPr>
              <a:t>a. 47</a:t>
            </a:r>
          </a:p>
          <a:p>
            <a:pPr marL="0" indent="0" algn="just">
              <a:lnSpc>
                <a:spcPct val="150000"/>
              </a:lnSpc>
              <a:buNone/>
            </a:pPr>
            <a:r>
              <a:rPr lang="en-US" sz="2300" b="1" dirty="0">
                <a:effectLst/>
                <a:latin typeface="Bookman Old Style" pitchFamily="18" charset="0"/>
                <a:cs typeface="Times New Roman" panose="02020603050405020304" pitchFamily="18" charset="0"/>
              </a:rPr>
              <a:t>b. 59</a:t>
            </a:r>
          </a:p>
          <a:p>
            <a:pPr marL="0" indent="0" algn="just">
              <a:lnSpc>
                <a:spcPct val="150000"/>
              </a:lnSpc>
              <a:buNone/>
            </a:pPr>
            <a:r>
              <a:rPr lang="en-US" sz="2300" b="1" dirty="0">
                <a:effectLst/>
                <a:latin typeface="Bookman Old Style" pitchFamily="18" charset="0"/>
                <a:cs typeface="Times New Roman" panose="02020603050405020304" pitchFamily="18" charset="0"/>
              </a:rPr>
              <a:t>c. 43</a:t>
            </a:r>
          </a:p>
          <a:p>
            <a:pPr marL="0" indent="0" algn="just">
              <a:lnSpc>
                <a:spcPct val="150000"/>
              </a:lnSpc>
              <a:buNone/>
            </a:pPr>
            <a:r>
              <a:rPr lang="en-US" sz="2300" b="1" dirty="0">
                <a:effectLst/>
                <a:latin typeface="Bookman Old Style" pitchFamily="18" charset="0"/>
                <a:cs typeface="Times New Roman" panose="02020603050405020304" pitchFamily="18" charset="0"/>
              </a:rPr>
              <a:t>d. 51</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340FAA6-327A-C6A3-223B-A0E8D66807B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855783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8897C-AAE6-DED5-4F1E-8F32DA90B1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9A55C3-0731-104F-72BB-6529D50199AE}"/>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18. </a:t>
            </a:r>
            <a:r>
              <a:rPr lang="en-US" sz="2200" b="1" dirty="0">
                <a:effectLst/>
                <a:latin typeface="Bookman Old Style" pitchFamily="18" charset="0"/>
                <a:cs typeface="Times New Roman" panose="02020603050405020304" pitchFamily="18" charset="0"/>
              </a:rPr>
              <a:t>If in a certain language, PLAYER is coded as QNDCJX, then how SINGER will be coded in the same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TKQKJX</a:t>
            </a:r>
          </a:p>
          <a:p>
            <a:pPr marL="0" indent="0" algn="just">
              <a:lnSpc>
                <a:spcPct val="150000"/>
              </a:lnSpc>
              <a:buNone/>
            </a:pPr>
            <a:r>
              <a:rPr lang="en-US" sz="2200" b="1" dirty="0">
                <a:effectLst/>
                <a:latin typeface="Bookman Old Style" pitchFamily="18" charset="0"/>
                <a:cs typeface="Times New Roman" panose="02020603050405020304" pitchFamily="18" charset="0"/>
              </a:rPr>
              <a:t>B. TKJKQX</a:t>
            </a:r>
          </a:p>
          <a:p>
            <a:pPr marL="0" indent="0" algn="just">
              <a:lnSpc>
                <a:spcPct val="150000"/>
              </a:lnSpc>
              <a:buNone/>
            </a:pPr>
            <a:r>
              <a:rPr lang="en-US" sz="2200" b="1" dirty="0">
                <a:effectLst/>
                <a:latin typeface="Bookman Old Style" pitchFamily="18" charset="0"/>
                <a:cs typeface="Times New Roman" panose="02020603050405020304" pitchFamily="18" charset="0"/>
              </a:rPr>
              <a:t>C. TKQKXJ</a:t>
            </a:r>
          </a:p>
          <a:p>
            <a:pPr marL="0" indent="0" algn="just">
              <a:lnSpc>
                <a:spcPct val="150000"/>
              </a:lnSpc>
              <a:buNone/>
            </a:pPr>
            <a:r>
              <a:rPr lang="en-US" sz="2200" b="1" dirty="0">
                <a:effectLst/>
                <a:latin typeface="Bookman Old Style" pitchFamily="18" charset="0"/>
                <a:cs typeface="Times New Roman" panose="02020603050405020304" pitchFamily="18" charset="0"/>
              </a:rPr>
              <a:t>D. TKQXJK</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FE3B253-C7BD-71C7-41A1-A3C53535822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717849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6F485-5049-A26C-9CFA-EDF37AADD6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C5BF82-400F-9AB4-26DD-8E2DB9574120}"/>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19. </a:t>
            </a:r>
            <a:r>
              <a:rPr lang="en-US" sz="2200" b="1" dirty="0">
                <a:effectLst/>
                <a:latin typeface="Bookman Old Style" pitchFamily="18" charset="0"/>
                <a:cs typeface="Times New Roman" panose="02020603050405020304" pitchFamily="18" charset="0"/>
              </a:rPr>
              <a:t>If 'PRESIDENT' is written as 'TNEDISERP' then how is 'SCREEN' written in the same coded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NEERCS</a:t>
            </a:r>
          </a:p>
          <a:p>
            <a:pPr marL="0" indent="0" algn="just">
              <a:lnSpc>
                <a:spcPct val="150000"/>
              </a:lnSpc>
              <a:buNone/>
            </a:pPr>
            <a:r>
              <a:rPr lang="en-US" sz="2200" b="1" dirty="0">
                <a:effectLst/>
                <a:latin typeface="Bookman Old Style" pitchFamily="18" charset="0"/>
                <a:cs typeface="Times New Roman" panose="02020603050405020304" pitchFamily="18" charset="0"/>
              </a:rPr>
              <a:t>B. NEESCR</a:t>
            </a:r>
          </a:p>
          <a:p>
            <a:pPr marL="0" indent="0" algn="just">
              <a:lnSpc>
                <a:spcPct val="150000"/>
              </a:lnSpc>
              <a:buNone/>
            </a:pPr>
            <a:r>
              <a:rPr lang="en-US" sz="2200" b="1" dirty="0">
                <a:effectLst/>
                <a:latin typeface="Bookman Old Style" pitchFamily="18" charset="0"/>
                <a:cs typeface="Times New Roman" panose="02020603050405020304" pitchFamily="18" charset="0"/>
              </a:rPr>
              <a:t>C. RCSNEE</a:t>
            </a:r>
          </a:p>
          <a:p>
            <a:pPr marL="0" indent="0" algn="just">
              <a:lnSpc>
                <a:spcPct val="150000"/>
              </a:lnSpc>
              <a:buNone/>
            </a:pPr>
            <a:r>
              <a:rPr lang="en-US" sz="2200" b="1" dirty="0">
                <a:effectLst/>
                <a:latin typeface="Bookman Old Style" pitchFamily="18" charset="0"/>
                <a:cs typeface="Times New Roman" panose="02020603050405020304" pitchFamily="18" charset="0"/>
              </a:rPr>
              <a:t>D. NEECRS</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0B394B1-1EF2-2B7C-CF8A-733B3AB868B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02255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D90A0-74D1-9812-C0B2-E35A54AFEC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598018-D011-E659-FACD-BDC1BC9E5D7B}"/>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20. </a:t>
            </a:r>
            <a:r>
              <a:rPr lang="en-US" sz="2200" b="1" dirty="0">
                <a:effectLst/>
                <a:latin typeface="Bookman Old Style" pitchFamily="18" charset="0"/>
                <a:cs typeface="Times New Roman" panose="02020603050405020304" pitchFamily="18" charset="0"/>
              </a:rPr>
              <a:t>If in a certain code language, 'ROSE' is written as '36303810', how will 'LILY' be written in that code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24182450</a:t>
            </a:r>
          </a:p>
          <a:p>
            <a:pPr marL="0" indent="0" algn="just">
              <a:lnSpc>
                <a:spcPct val="150000"/>
              </a:lnSpc>
              <a:buNone/>
            </a:pPr>
            <a:r>
              <a:rPr lang="en-US" sz="2200" b="1" dirty="0">
                <a:effectLst/>
                <a:latin typeface="Bookman Old Style" pitchFamily="18" charset="0"/>
                <a:cs typeface="Times New Roman" panose="02020603050405020304" pitchFamily="18" charset="0"/>
              </a:rPr>
              <a:t>b. 24182550</a:t>
            </a:r>
          </a:p>
          <a:p>
            <a:pPr marL="0" indent="0" algn="just">
              <a:lnSpc>
                <a:spcPct val="150000"/>
              </a:lnSpc>
              <a:buNone/>
            </a:pPr>
            <a:r>
              <a:rPr lang="en-US" sz="2200" b="1" dirty="0">
                <a:effectLst/>
                <a:latin typeface="Bookman Old Style" pitchFamily="18" charset="0"/>
                <a:cs typeface="Times New Roman" panose="02020603050405020304" pitchFamily="18" charset="0"/>
              </a:rPr>
              <a:t>c. 24182405</a:t>
            </a:r>
          </a:p>
          <a:p>
            <a:pPr marL="0" indent="0" algn="just">
              <a:lnSpc>
                <a:spcPct val="150000"/>
              </a:lnSpc>
              <a:buNone/>
            </a:pPr>
            <a:r>
              <a:rPr lang="en-US" sz="2200" b="1" dirty="0">
                <a:effectLst/>
                <a:latin typeface="Bookman Old Style" pitchFamily="18" charset="0"/>
                <a:cs typeface="Times New Roman" panose="02020603050405020304" pitchFamily="18" charset="0"/>
              </a:rPr>
              <a:t>d. 24182451</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85D069E-01AB-E68D-DC54-559E175980E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51802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047EF-0C52-6981-87DF-DAF066D67B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62F33E-89D6-C039-6207-C5296CD9F11C}"/>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21. </a:t>
            </a:r>
            <a:r>
              <a:rPr lang="en-US" sz="2200" b="1" dirty="0">
                <a:effectLst/>
                <a:latin typeface="Bookman Old Style" pitchFamily="18" charset="0"/>
                <a:cs typeface="Times New Roman" panose="02020603050405020304" pitchFamily="18" charset="0"/>
              </a:rPr>
              <a:t>In a certain code language, 'CODE' is written as '900'. How will 'READ' be written as in that code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360</a:t>
            </a:r>
          </a:p>
          <a:p>
            <a:pPr marL="0" indent="0" algn="just">
              <a:lnSpc>
                <a:spcPct val="150000"/>
              </a:lnSpc>
              <a:buNone/>
            </a:pPr>
            <a:r>
              <a:rPr lang="en-US" sz="2200" b="1" dirty="0">
                <a:effectLst/>
                <a:latin typeface="Bookman Old Style" pitchFamily="18" charset="0"/>
                <a:cs typeface="Times New Roman" panose="02020603050405020304" pitchFamily="18" charset="0"/>
              </a:rPr>
              <a:t>b. 375</a:t>
            </a:r>
          </a:p>
          <a:p>
            <a:pPr marL="0" indent="0" algn="just">
              <a:lnSpc>
                <a:spcPct val="150000"/>
              </a:lnSpc>
              <a:buNone/>
            </a:pPr>
            <a:r>
              <a:rPr lang="en-US" sz="2200" b="1" dirty="0">
                <a:effectLst/>
                <a:latin typeface="Bookman Old Style" pitchFamily="18" charset="0"/>
                <a:cs typeface="Times New Roman" panose="02020603050405020304" pitchFamily="18" charset="0"/>
              </a:rPr>
              <a:t>c. 380</a:t>
            </a:r>
          </a:p>
          <a:p>
            <a:pPr marL="0" indent="0" algn="just">
              <a:lnSpc>
                <a:spcPct val="150000"/>
              </a:lnSpc>
              <a:buNone/>
            </a:pPr>
            <a:r>
              <a:rPr lang="en-US" sz="2200" b="1" dirty="0">
                <a:effectLst/>
                <a:latin typeface="Bookman Old Style" pitchFamily="18" charset="0"/>
                <a:cs typeface="Times New Roman" panose="02020603050405020304" pitchFamily="18" charset="0"/>
              </a:rPr>
              <a:t>d. 390</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0392EAF-B95D-B17C-38B1-21775F7123A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872796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8D409-A158-C912-3EC5-8FD119EE58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2A9B8B-0F45-522D-6BE6-C71650075092}"/>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latin typeface="Bookman Old Style" pitchFamily="18" charset="0"/>
                <a:cs typeface="Times New Roman" panose="02020603050405020304" pitchFamily="18" charset="0"/>
              </a:rPr>
              <a:t>22. </a:t>
            </a:r>
            <a:r>
              <a:rPr lang="en-US" sz="2200" b="1" dirty="0">
                <a:latin typeface="Bookman Old Style" pitchFamily="18" charset="0"/>
                <a:cs typeface="Times New Roman" panose="02020603050405020304" pitchFamily="18" charset="0"/>
              </a:rPr>
              <a:t>In a certain code language, 'TABLE' is written as '726251522'. How will 'CRICKET' be written in that code language?</a:t>
            </a:r>
          </a:p>
          <a:p>
            <a:pPr marL="0" indent="0" algn="just">
              <a:lnSpc>
                <a:spcPct val="150000"/>
              </a:lnSpc>
              <a:buNone/>
            </a:pPr>
            <a:r>
              <a:rPr lang="en-US" sz="2200" b="1" dirty="0">
                <a:latin typeface="Bookman Old Style" pitchFamily="18" charset="0"/>
                <a:cs typeface="Times New Roman" panose="02020603050405020304" pitchFamily="18" charset="0"/>
              </a:rPr>
              <a:t>a. 249182416221</a:t>
            </a:r>
          </a:p>
          <a:p>
            <a:pPr marL="0" indent="0" algn="just">
              <a:lnSpc>
                <a:spcPct val="150000"/>
              </a:lnSpc>
              <a:buNone/>
            </a:pPr>
            <a:r>
              <a:rPr lang="en-US" sz="2200" b="1" dirty="0">
                <a:latin typeface="Bookman Old Style" pitchFamily="18" charset="0"/>
                <a:cs typeface="Times New Roman" panose="02020603050405020304" pitchFamily="18" charset="0"/>
              </a:rPr>
              <a:t>b. 249182416225</a:t>
            </a:r>
          </a:p>
          <a:p>
            <a:pPr marL="0" indent="0" algn="just">
              <a:lnSpc>
                <a:spcPct val="150000"/>
              </a:lnSpc>
              <a:buNone/>
            </a:pPr>
            <a:r>
              <a:rPr lang="en-US" sz="2200" b="1" dirty="0">
                <a:latin typeface="Bookman Old Style" pitchFamily="18" charset="0"/>
                <a:cs typeface="Times New Roman" panose="02020603050405020304" pitchFamily="18" charset="0"/>
              </a:rPr>
              <a:t>c. 249182416223</a:t>
            </a:r>
          </a:p>
          <a:p>
            <a:pPr marL="0" indent="0" algn="just">
              <a:lnSpc>
                <a:spcPct val="150000"/>
              </a:lnSpc>
              <a:buNone/>
            </a:pPr>
            <a:r>
              <a:rPr lang="en-US" sz="2200" b="1" dirty="0">
                <a:latin typeface="Bookman Old Style" pitchFamily="18" charset="0"/>
                <a:cs typeface="Times New Roman" panose="02020603050405020304" pitchFamily="18" charset="0"/>
              </a:rPr>
              <a:t>d. 249182416227</a:t>
            </a:r>
            <a:endParaRPr lang="en-IN" sz="22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61F8D6A-44C4-E5C9-7745-E102FAFC61D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867397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D51F4-9C00-7BC9-0D3C-F22B9E4601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49BC75-0C5A-D741-2DCB-5953318582A4}"/>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23. </a:t>
            </a:r>
            <a:r>
              <a:rPr lang="en-US" sz="2200" b="1" dirty="0">
                <a:effectLst/>
                <a:latin typeface="Bookman Old Style" pitchFamily="18" charset="0"/>
                <a:cs typeface="Times New Roman" panose="02020603050405020304" pitchFamily="18" charset="0"/>
              </a:rPr>
              <a:t>In a certain code language, 'LEMON' is written as 'ELMNO'. How will 'CLUSTER' be written in that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CELRSTU</a:t>
            </a:r>
          </a:p>
          <a:p>
            <a:pPr marL="0" indent="0" algn="just">
              <a:lnSpc>
                <a:spcPct val="150000"/>
              </a:lnSpc>
              <a:buNone/>
            </a:pPr>
            <a:r>
              <a:rPr lang="en-US" sz="2200" b="1" dirty="0">
                <a:effectLst/>
                <a:latin typeface="Bookman Old Style" pitchFamily="18" charset="0"/>
                <a:cs typeface="Times New Roman" panose="02020603050405020304" pitchFamily="18" charset="0"/>
              </a:rPr>
              <a:t>b. CLESRUT</a:t>
            </a:r>
          </a:p>
          <a:p>
            <a:pPr marL="0" indent="0" algn="just">
              <a:lnSpc>
                <a:spcPct val="150000"/>
              </a:lnSpc>
              <a:buNone/>
            </a:pPr>
            <a:r>
              <a:rPr lang="en-US" sz="2200" b="1" dirty="0">
                <a:effectLst/>
                <a:latin typeface="Bookman Old Style" pitchFamily="18" charset="0"/>
                <a:cs typeface="Times New Roman" panose="02020603050405020304" pitchFamily="18" charset="0"/>
              </a:rPr>
              <a:t>c. LUCETRS</a:t>
            </a:r>
          </a:p>
          <a:p>
            <a:pPr marL="0" indent="0" algn="just">
              <a:lnSpc>
                <a:spcPct val="150000"/>
              </a:lnSpc>
              <a:buNone/>
            </a:pPr>
            <a:r>
              <a:rPr lang="en-US" sz="2200" b="1" dirty="0">
                <a:effectLst/>
                <a:latin typeface="Bookman Old Style" pitchFamily="18" charset="0"/>
                <a:cs typeface="Times New Roman" panose="02020603050405020304" pitchFamily="18" charset="0"/>
              </a:rPr>
              <a:t>d. LCUTESR</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E0860DF-73F6-F9E1-CA02-C09949E8DA3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0610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7833B-3A56-1B02-FFA4-D2B4DDD702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B4E880-F5ED-BFCF-E2D4-099FB5AD73D1}"/>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24. </a:t>
            </a:r>
            <a:r>
              <a:rPr lang="en-US" sz="2200" b="1" dirty="0">
                <a:effectLst/>
                <a:latin typeface="Bookman Old Style" pitchFamily="18" charset="0"/>
                <a:cs typeface="Times New Roman" panose="02020603050405020304" pitchFamily="18" charset="0"/>
              </a:rPr>
              <a:t>How many such pairs of letters are there in the word 'SUGGESTION', each of which has as many letters between them in the word (both forward and backward direction) as they have between them in the English alphabetical series?</a:t>
            </a:r>
          </a:p>
          <a:p>
            <a:pPr marL="0" indent="0" algn="just">
              <a:lnSpc>
                <a:spcPct val="150000"/>
              </a:lnSpc>
              <a:buNone/>
            </a:pPr>
            <a:r>
              <a:rPr lang="en-US" sz="2200" b="1" dirty="0">
                <a:effectLst/>
                <a:latin typeface="Bookman Old Style" pitchFamily="18" charset="0"/>
                <a:cs typeface="Times New Roman" panose="02020603050405020304" pitchFamily="18" charset="0"/>
              </a:rPr>
              <a:t>a. One</a:t>
            </a:r>
          </a:p>
          <a:p>
            <a:pPr marL="0" indent="0" algn="just">
              <a:lnSpc>
                <a:spcPct val="150000"/>
              </a:lnSpc>
              <a:buNone/>
            </a:pPr>
            <a:r>
              <a:rPr lang="en-US" sz="2200" b="1" dirty="0">
                <a:effectLst/>
                <a:latin typeface="Bookman Old Style" pitchFamily="18" charset="0"/>
                <a:cs typeface="Times New Roman" panose="02020603050405020304" pitchFamily="18" charset="0"/>
              </a:rPr>
              <a:t>b. Two</a:t>
            </a:r>
          </a:p>
          <a:p>
            <a:pPr marL="0" indent="0" algn="just">
              <a:lnSpc>
                <a:spcPct val="150000"/>
              </a:lnSpc>
              <a:buNone/>
            </a:pPr>
            <a:r>
              <a:rPr lang="en-US" sz="2200" b="1" dirty="0">
                <a:effectLst/>
                <a:latin typeface="Bookman Old Style" pitchFamily="18" charset="0"/>
                <a:cs typeface="Times New Roman" panose="02020603050405020304" pitchFamily="18" charset="0"/>
              </a:rPr>
              <a:t>c. Three</a:t>
            </a:r>
          </a:p>
          <a:p>
            <a:pPr marL="0" indent="0" algn="just">
              <a:lnSpc>
                <a:spcPct val="150000"/>
              </a:lnSpc>
              <a:buNone/>
            </a:pPr>
            <a:r>
              <a:rPr lang="en-US" sz="2200" b="1" dirty="0">
                <a:effectLst/>
                <a:latin typeface="Bookman Old Style" pitchFamily="18" charset="0"/>
                <a:cs typeface="Times New Roman" panose="02020603050405020304" pitchFamily="18" charset="0"/>
              </a:rPr>
              <a:t>d. Four</a:t>
            </a:r>
          </a:p>
          <a:p>
            <a:pPr marL="0" indent="0" algn="just">
              <a:lnSpc>
                <a:spcPct val="150000"/>
              </a:lnSpc>
              <a:buNone/>
            </a:pPr>
            <a:r>
              <a:rPr lang="en-US" sz="2200" b="1" dirty="0">
                <a:effectLst/>
                <a:latin typeface="Bookman Old Style" pitchFamily="18" charset="0"/>
                <a:cs typeface="Times New Roman" panose="02020603050405020304" pitchFamily="18" charset="0"/>
              </a:rPr>
              <a:t>e. More than four</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9C29C34-58DF-91F6-9BA4-CFC4690FEC3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257787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84BFA-D126-C597-E199-C13686C0FF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88C815-B144-3030-A3C0-E16AF8DDE328}"/>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25. </a:t>
            </a:r>
            <a:r>
              <a:rPr lang="en-US" sz="2200" b="1" dirty="0">
                <a:effectLst/>
                <a:latin typeface="Bookman Old Style" pitchFamily="18" charset="0"/>
                <a:cs typeface="Times New Roman" panose="02020603050405020304" pitchFamily="18" charset="0"/>
              </a:rPr>
              <a:t>How many pairs of letters are there in the word ‘PERCOLATION’ that have as many letters between them as in the English alphabet (considering both left to right and right to left sequence)?</a:t>
            </a:r>
          </a:p>
          <a:p>
            <a:pPr marL="0" indent="0" algn="just">
              <a:lnSpc>
                <a:spcPct val="150000"/>
              </a:lnSpc>
              <a:buNone/>
            </a:pPr>
            <a:r>
              <a:rPr lang="en-US" sz="2200" b="1" dirty="0">
                <a:effectLst/>
                <a:latin typeface="Bookman Old Style" pitchFamily="18" charset="0"/>
                <a:cs typeface="Times New Roman" panose="02020603050405020304" pitchFamily="18" charset="0"/>
              </a:rPr>
              <a:t>a. 5</a:t>
            </a:r>
          </a:p>
          <a:p>
            <a:pPr marL="0" indent="0" algn="just">
              <a:lnSpc>
                <a:spcPct val="150000"/>
              </a:lnSpc>
              <a:buNone/>
            </a:pPr>
            <a:r>
              <a:rPr lang="en-US" sz="2200" b="1" dirty="0">
                <a:effectLst/>
                <a:latin typeface="Bookman Old Style" pitchFamily="18" charset="0"/>
                <a:cs typeface="Times New Roman" panose="02020603050405020304" pitchFamily="18" charset="0"/>
              </a:rPr>
              <a:t>b. 6</a:t>
            </a:r>
          </a:p>
          <a:p>
            <a:pPr marL="0" indent="0" algn="just">
              <a:lnSpc>
                <a:spcPct val="150000"/>
              </a:lnSpc>
              <a:buNone/>
            </a:pPr>
            <a:r>
              <a:rPr lang="en-US" sz="2200" b="1" dirty="0">
                <a:effectLst/>
                <a:latin typeface="Bookman Old Style" pitchFamily="18" charset="0"/>
                <a:cs typeface="Times New Roman" panose="02020603050405020304" pitchFamily="18" charset="0"/>
              </a:rPr>
              <a:t>c. 7</a:t>
            </a:r>
          </a:p>
          <a:p>
            <a:pPr marL="0" indent="0" algn="just">
              <a:lnSpc>
                <a:spcPct val="150000"/>
              </a:lnSpc>
              <a:buNone/>
            </a:pPr>
            <a:r>
              <a:rPr lang="en-US" sz="2200" b="1" dirty="0">
                <a:effectLst/>
                <a:latin typeface="Bookman Old Style" pitchFamily="18" charset="0"/>
                <a:cs typeface="Times New Roman" panose="02020603050405020304" pitchFamily="18" charset="0"/>
              </a:rPr>
              <a:t>d. 4</a:t>
            </a:r>
          </a:p>
          <a:p>
            <a:pPr marL="0" indent="0" algn="just">
              <a:lnSpc>
                <a:spcPct val="150000"/>
              </a:lnSpc>
              <a:buNone/>
            </a:pP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2B8EACD-81C1-9256-3B2D-0BF77EA4431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718673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75834-111B-0664-C3F2-75BA1CC902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4D55DC-693C-3D1B-0885-6A365E5C3AA9}"/>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26. </a:t>
            </a:r>
            <a:r>
              <a:rPr lang="en-US" sz="2200" b="1" dirty="0">
                <a:effectLst/>
                <a:latin typeface="Bookman Old Style" pitchFamily="18" charset="0"/>
                <a:cs typeface="Times New Roman" panose="02020603050405020304" pitchFamily="18" charset="0"/>
              </a:rPr>
              <a:t>In a code language, if SEND is written as 168, then how will PURSE be written in the same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225</a:t>
            </a:r>
          </a:p>
          <a:p>
            <a:pPr marL="0" indent="0" algn="just">
              <a:lnSpc>
                <a:spcPct val="150000"/>
              </a:lnSpc>
              <a:buNone/>
            </a:pPr>
            <a:r>
              <a:rPr lang="en-US" sz="2200" b="1" dirty="0">
                <a:effectLst/>
                <a:latin typeface="Bookman Old Style" pitchFamily="18" charset="0"/>
                <a:cs typeface="Times New Roman" panose="02020603050405020304" pitchFamily="18" charset="0"/>
              </a:rPr>
              <a:t>b. 185</a:t>
            </a:r>
          </a:p>
          <a:p>
            <a:pPr marL="0" indent="0" algn="just">
              <a:lnSpc>
                <a:spcPct val="150000"/>
              </a:lnSpc>
              <a:buNone/>
            </a:pPr>
            <a:r>
              <a:rPr lang="en-US" sz="2200" b="1" dirty="0">
                <a:effectLst/>
                <a:latin typeface="Bookman Old Style" pitchFamily="18" charset="0"/>
                <a:cs typeface="Times New Roman" panose="02020603050405020304" pitchFamily="18" charset="0"/>
              </a:rPr>
              <a:t>c. 415</a:t>
            </a:r>
          </a:p>
          <a:p>
            <a:pPr marL="0" indent="0" algn="just">
              <a:lnSpc>
                <a:spcPct val="150000"/>
              </a:lnSpc>
              <a:buNone/>
            </a:pPr>
            <a:r>
              <a:rPr lang="en-US" sz="2200" b="1" dirty="0">
                <a:effectLst/>
                <a:latin typeface="Bookman Old Style" pitchFamily="18" charset="0"/>
                <a:cs typeface="Times New Roman" panose="02020603050405020304" pitchFamily="18" charset="0"/>
              </a:rPr>
              <a:t>d. 395</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9CA41C2-D3D8-1DBC-C76E-DE2FC20F146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086770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FED83-F352-66E8-8BA7-1C2C2ECF9E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F59A09-DA82-B234-166F-5EFB7E34EDB4}"/>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27. </a:t>
            </a:r>
            <a:r>
              <a:rPr lang="en-US" sz="2200" b="1" dirty="0">
                <a:effectLst/>
                <a:latin typeface="Bookman Old Style" pitchFamily="18" charset="0"/>
                <a:cs typeface="Times New Roman" panose="02020603050405020304" pitchFamily="18" charset="0"/>
              </a:rPr>
              <a:t>In a certain code, TOUCH is written as 68. How will ERROR be written in that code?</a:t>
            </a:r>
          </a:p>
          <a:p>
            <a:pPr marL="0" indent="0" algn="just">
              <a:lnSpc>
                <a:spcPct val="150000"/>
              </a:lnSpc>
              <a:buNone/>
            </a:pPr>
            <a:r>
              <a:rPr lang="en-US" sz="2200" b="1" dirty="0">
                <a:effectLst/>
                <a:latin typeface="Bookman Old Style" pitchFamily="18" charset="0"/>
                <a:cs typeface="Times New Roman" panose="02020603050405020304" pitchFamily="18" charset="0"/>
              </a:rPr>
              <a:t>a. 61</a:t>
            </a:r>
          </a:p>
          <a:p>
            <a:pPr marL="0" indent="0" algn="just">
              <a:lnSpc>
                <a:spcPct val="150000"/>
              </a:lnSpc>
              <a:buNone/>
            </a:pPr>
            <a:r>
              <a:rPr lang="en-US" sz="2200" b="1" dirty="0">
                <a:effectLst/>
                <a:latin typeface="Bookman Old Style" pitchFamily="18" charset="0"/>
                <a:cs typeface="Times New Roman" panose="02020603050405020304" pitchFamily="18" charset="0"/>
              </a:rPr>
              <a:t>b. 54</a:t>
            </a:r>
          </a:p>
          <a:p>
            <a:pPr marL="0" indent="0" algn="just">
              <a:lnSpc>
                <a:spcPct val="150000"/>
              </a:lnSpc>
              <a:buNone/>
            </a:pPr>
            <a:r>
              <a:rPr lang="en-US" sz="2200" b="1" dirty="0">
                <a:effectLst/>
                <a:latin typeface="Bookman Old Style" pitchFamily="18" charset="0"/>
                <a:cs typeface="Times New Roman" panose="02020603050405020304" pitchFamily="18" charset="0"/>
              </a:rPr>
              <a:t>c. 59</a:t>
            </a:r>
          </a:p>
          <a:p>
            <a:pPr marL="0" indent="0" algn="just">
              <a:lnSpc>
                <a:spcPct val="150000"/>
              </a:lnSpc>
              <a:buNone/>
            </a:pPr>
            <a:r>
              <a:rPr lang="en-US" sz="2200" b="1" dirty="0">
                <a:effectLst/>
                <a:latin typeface="Bookman Old Style" pitchFamily="18" charset="0"/>
                <a:cs typeface="Times New Roman" panose="02020603050405020304" pitchFamily="18" charset="0"/>
              </a:rPr>
              <a:t>d. 55</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E2AC1BE-A866-AA3B-1B7B-9D5D2098E64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2197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39A7B-C7B7-67FF-064F-076E2A2EFF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FB701A-E77C-8435-AB7B-74CB998C0A9C}"/>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28. </a:t>
            </a:r>
            <a:r>
              <a:rPr lang="en-US" sz="2200" b="1" dirty="0">
                <a:effectLst/>
                <a:latin typeface="Bookman Old Style" pitchFamily="18" charset="0"/>
                <a:cs typeface="Times New Roman" panose="02020603050405020304" pitchFamily="18" charset="0"/>
              </a:rPr>
              <a:t>In a certain code language, 'SAGE' is coded as '-8', 'TABS' is coded as '0'. What is the code for 'VERB' in that code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-4</a:t>
            </a:r>
          </a:p>
          <a:p>
            <a:pPr marL="0" indent="0" algn="just">
              <a:lnSpc>
                <a:spcPct val="150000"/>
              </a:lnSpc>
              <a:buNone/>
            </a:pPr>
            <a:r>
              <a:rPr lang="en-US" sz="2200" b="1" dirty="0">
                <a:effectLst/>
                <a:latin typeface="Bookman Old Style" pitchFamily="18" charset="0"/>
                <a:cs typeface="Times New Roman" panose="02020603050405020304" pitchFamily="18" charset="0"/>
              </a:rPr>
              <a:t>b) -7</a:t>
            </a:r>
          </a:p>
          <a:p>
            <a:pPr marL="0" indent="0" algn="just">
              <a:lnSpc>
                <a:spcPct val="150000"/>
              </a:lnSpc>
              <a:buNone/>
            </a:pPr>
            <a:r>
              <a:rPr lang="en-US" sz="2200" b="1" dirty="0">
                <a:effectLst/>
                <a:latin typeface="Bookman Old Style" pitchFamily="18" charset="0"/>
                <a:cs typeface="Times New Roman" panose="02020603050405020304" pitchFamily="18" charset="0"/>
              </a:rPr>
              <a:t>c) 4</a:t>
            </a:r>
          </a:p>
          <a:p>
            <a:pPr marL="0" indent="0" algn="just">
              <a:lnSpc>
                <a:spcPct val="150000"/>
              </a:lnSpc>
              <a:buNone/>
            </a:pPr>
            <a:r>
              <a:rPr lang="en-US" sz="2200" b="1" dirty="0">
                <a:effectLst/>
                <a:latin typeface="Bookman Old Style" pitchFamily="18" charset="0"/>
                <a:cs typeface="Times New Roman" panose="02020603050405020304" pitchFamily="18" charset="0"/>
              </a:rPr>
              <a:t>d) 7</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73ADFBB1-1146-F714-BD32-0FE347A3941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58190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244EF-4B9B-2D20-3551-3167E208C6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B75C50-EAE2-BCA9-E0EC-AAEB89EF819E}"/>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29. </a:t>
            </a:r>
            <a:r>
              <a:rPr lang="en-US" sz="2200" b="1" dirty="0">
                <a:effectLst/>
                <a:latin typeface="Bookman Old Style" pitchFamily="18" charset="0"/>
                <a:cs typeface="Times New Roman" panose="02020603050405020304" pitchFamily="18" charset="0"/>
              </a:rPr>
              <a:t>In a certain code language, 'N' is written as '2' and 'KAW' is written as '5'. How will 'MAN' be written in that code language?</a:t>
            </a:r>
          </a:p>
          <a:p>
            <a:pPr marL="0" indent="0" algn="just">
              <a:lnSpc>
                <a:spcPct val="150000"/>
              </a:lnSpc>
              <a:buNone/>
            </a:pPr>
            <a:r>
              <a:rPr lang="en-US" sz="2200" b="1" dirty="0">
                <a:effectLst/>
                <a:latin typeface="Bookman Old Style" pitchFamily="18" charset="0"/>
                <a:cs typeface="Times New Roman" panose="02020603050405020304" pitchFamily="18" charset="0"/>
              </a:rPr>
              <a:t>a) 6</a:t>
            </a:r>
          </a:p>
          <a:p>
            <a:pPr marL="0" indent="0" algn="just">
              <a:lnSpc>
                <a:spcPct val="150000"/>
              </a:lnSpc>
              <a:buNone/>
            </a:pPr>
            <a:r>
              <a:rPr lang="en-US" sz="2200" b="1" dirty="0">
                <a:effectLst/>
                <a:latin typeface="Bookman Old Style" pitchFamily="18" charset="0"/>
                <a:cs typeface="Times New Roman" panose="02020603050405020304" pitchFamily="18" charset="0"/>
              </a:rPr>
              <a:t>b) 4</a:t>
            </a:r>
          </a:p>
          <a:p>
            <a:pPr marL="0" indent="0" algn="just">
              <a:lnSpc>
                <a:spcPct val="150000"/>
              </a:lnSpc>
              <a:buNone/>
            </a:pPr>
            <a:r>
              <a:rPr lang="en-US" sz="2200" b="1" dirty="0">
                <a:effectLst/>
                <a:latin typeface="Bookman Old Style" pitchFamily="18" charset="0"/>
                <a:cs typeface="Times New Roman" panose="02020603050405020304" pitchFamily="18" charset="0"/>
              </a:rPr>
              <a:t>c) 2</a:t>
            </a:r>
          </a:p>
          <a:p>
            <a:pPr marL="0" indent="0" algn="just">
              <a:lnSpc>
                <a:spcPct val="150000"/>
              </a:lnSpc>
              <a:buNone/>
            </a:pPr>
            <a:r>
              <a:rPr lang="en-US" sz="2200" b="1" dirty="0">
                <a:effectLst/>
                <a:latin typeface="Bookman Old Style" pitchFamily="18" charset="0"/>
                <a:cs typeface="Times New Roman" panose="02020603050405020304" pitchFamily="18" charset="0"/>
              </a:rPr>
              <a:t>d) 9</a:t>
            </a:r>
            <a:endParaRPr lang="en-IN" sz="22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F2BD4F8-90BB-698D-F9FD-FCEC10BA8F4E}"/>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8047527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8CFC8-9E07-EAAE-0F97-0048F5E649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66366-F925-3086-DEB4-35D6289F15A9}"/>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30. In a certain code language, 'VIRTUE' is written as 'DBZBNX'. How will 'OMINOUS' be written in that language?</a:t>
            </a:r>
          </a:p>
          <a:p>
            <a:pPr marL="0" indent="0" algn="just">
              <a:lnSpc>
                <a:spcPct val="150000"/>
              </a:lnSpc>
              <a:buNone/>
            </a:pPr>
            <a:r>
              <a:rPr lang="en-IN" sz="2100" b="1" dirty="0">
                <a:effectLst/>
                <a:latin typeface="Bookman Old Style" pitchFamily="18" charset="0"/>
                <a:cs typeface="Times New Roman" panose="02020603050405020304" pitchFamily="18" charset="0"/>
              </a:rPr>
              <a:t>a) IUBHMBA</a:t>
            </a:r>
          </a:p>
          <a:p>
            <a:pPr marL="0" indent="0" algn="just">
              <a:lnSpc>
                <a:spcPct val="150000"/>
              </a:lnSpc>
              <a:buNone/>
            </a:pPr>
            <a:r>
              <a:rPr lang="en-IN" sz="2100" b="1" dirty="0">
                <a:effectLst/>
                <a:latin typeface="Bookman Old Style" pitchFamily="18" charset="0"/>
                <a:cs typeface="Times New Roman" panose="02020603050405020304" pitchFamily="18" charset="0"/>
              </a:rPr>
              <a:t>b) HUBVHNA</a:t>
            </a:r>
          </a:p>
          <a:p>
            <a:pPr marL="0" indent="0" algn="just">
              <a:lnSpc>
                <a:spcPct val="150000"/>
              </a:lnSpc>
              <a:buNone/>
            </a:pPr>
            <a:r>
              <a:rPr lang="en-IN" sz="2100" b="1" dirty="0">
                <a:effectLst/>
                <a:latin typeface="Bookman Old Style" pitchFamily="18" charset="0"/>
                <a:cs typeface="Times New Roman" panose="02020603050405020304" pitchFamily="18" charset="0"/>
              </a:rPr>
              <a:t>c) HBUVHNA</a:t>
            </a:r>
          </a:p>
          <a:p>
            <a:pPr marL="0" indent="0" algn="just">
              <a:lnSpc>
                <a:spcPct val="150000"/>
              </a:lnSpc>
              <a:buNone/>
            </a:pPr>
            <a:r>
              <a:rPr lang="en-IN" sz="2100" b="1" dirty="0">
                <a:effectLst/>
                <a:latin typeface="Bookman Old Style" pitchFamily="18" charset="0"/>
                <a:cs typeface="Times New Roman" panose="02020603050405020304" pitchFamily="18" charset="0"/>
              </a:rPr>
              <a:t>d) IBUHABM</a:t>
            </a:r>
          </a:p>
        </p:txBody>
      </p:sp>
      <p:pic>
        <p:nvPicPr>
          <p:cNvPr id="2" name="Picture 1" descr="A yellow and blue sign with words">
            <a:extLst>
              <a:ext uri="{FF2B5EF4-FFF2-40B4-BE49-F238E27FC236}">
                <a16:creationId xmlns:a16="http://schemas.microsoft.com/office/drawing/2014/main" id="{1F97D047-907E-056C-D115-F04469011696}"/>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513104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C170B-9AB7-E791-357F-C9789B6FA6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923F89-EF78-0EA9-BE2F-A809A47159D8}"/>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31. </a:t>
            </a:r>
            <a:r>
              <a:rPr lang="en-US" sz="2100" b="1" dirty="0">
                <a:effectLst/>
                <a:latin typeface="Bookman Old Style" pitchFamily="18" charset="0"/>
                <a:cs typeface="Times New Roman" panose="02020603050405020304" pitchFamily="18" charset="0"/>
              </a:rPr>
              <a:t>In a certain code language, 'LANDS' is written as '10' and 'TRAM' is written as '13'. How will 'TASTE' be written in that language?</a:t>
            </a:r>
          </a:p>
          <a:p>
            <a:pPr marL="0" indent="0" algn="just">
              <a:lnSpc>
                <a:spcPct val="150000"/>
              </a:lnSpc>
              <a:buNone/>
            </a:pPr>
            <a:r>
              <a:rPr lang="en-US" sz="2100" b="1" dirty="0">
                <a:effectLst/>
                <a:latin typeface="Bookman Old Style" pitchFamily="18" charset="0"/>
                <a:cs typeface="Times New Roman" panose="02020603050405020304" pitchFamily="18" charset="0"/>
              </a:rPr>
              <a:t>a) 13</a:t>
            </a:r>
          </a:p>
          <a:p>
            <a:pPr marL="0" indent="0" algn="just">
              <a:lnSpc>
                <a:spcPct val="150000"/>
              </a:lnSpc>
              <a:buNone/>
            </a:pPr>
            <a:r>
              <a:rPr lang="en-US" sz="2100" b="1" dirty="0">
                <a:effectLst/>
                <a:latin typeface="Bookman Old Style" pitchFamily="18" charset="0"/>
                <a:cs typeface="Times New Roman" panose="02020603050405020304" pitchFamily="18" charset="0"/>
              </a:rPr>
              <a:t>b) 12</a:t>
            </a:r>
          </a:p>
          <a:p>
            <a:pPr marL="0" indent="0" algn="just">
              <a:lnSpc>
                <a:spcPct val="150000"/>
              </a:lnSpc>
              <a:buNone/>
            </a:pPr>
            <a:r>
              <a:rPr lang="en-US" sz="2100" b="1" dirty="0">
                <a:effectLst/>
                <a:latin typeface="Bookman Old Style" pitchFamily="18" charset="0"/>
                <a:cs typeface="Times New Roman" panose="02020603050405020304" pitchFamily="18" charset="0"/>
              </a:rPr>
              <a:t>c) 17</a:t>
            </a:r>
          </a:p>
          <a:p>
            <a:pPr marL="0" indent="0" algn="just">
              <a:lnSpc>
                <a:spcPct val="150000"/>
              </a:lnSpc>
              <a:buNone/>
            </a:pPr>
            <a:r>
              <a:rPr lang="en-US" sz="2100" b="1" dirty="0">
                <a:effectLst/>
                <a:latin typeface="Bookman Old Style" pitchFamily="18" charset="0"/>
                <a:cs typeface="Times New Roman" panose="02020603050405020304" pitchFamily="18" charset="0"/>
              </a:rPr>
              <a:t>d) 15</a:t>
            </a:r>
            <a:endParaRPr lang="en-IN" sz="21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79894FC-ED80-CBAA-29E3-0E381969B9C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193187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4941B-4468-85EB-EA98-7508617687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9682DD-D83D-7310-35AB-59836F38E427}"/>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32. </a:t>
            </a:r>
            <a:r>
              <a:rPr lang="en-US" sz="2100" b="1" dirty="0">
                <a:effectLst/>
                <a:latin typeface="Bookman Old Style" pitchFamily="18" charset="0"/>
                <a:cs typeface="Times New Roman" panose="02020603050405020304" pitchFamily="18" charset="0"/>
              </a:rPr>
              <a:t>In a certain code language, 'PLACE' is written as 'CONHA' and 'SHOCK' is written as 'QKQNA'. How will 'FROWN' be written in that language?</a:t>
            </a:r>
          </a:p>
          <a:p>
            <a:pPr marL="0" indent="0" algn="just">
              <a:lnSpc>
                <a:spcPct val="150000"/>
              </a:lnSpc>
              <a:buNone/>
            </a:pPr>
            <a:r>
              <a:rPr lang="en-US" sz="2100" b="1" dirty="0">
                <a:effectLst/>
                <a:latin typeface="Bookman Old Style" pitchFamily="18" charset="0"/>
                <a:cs typeface="Times New Roman" panose="02020603050405020304" pitchFamily="18" charset="0"/>
              </a:rPr>
              <a:t>A. QUDQU</a:t>
            </a:r>
          </a:p>
          <a:p>
            <a:pPr marL="0" indent="0" algn="just">
              <a:lnSpc>
                <a:spcPct val="150000"/>
              </a:lnSpc>
              <a:buNone/>
            </a:pPr>
            <a:r>
              <a:rPr lang="en-US" sz="2100" b="1" dirty="0">
                <a:effectLst/>
                <a:latin typeface="Bookman Old Style" pitchFamily="18" charset="0"/>
                <a:cs typeface="Times New Roman" panose="02020603050405020304" pitchFamily="18" charset="0"/>
              </a:rPr>
              <a:t>B. RVRST</a:t>
            </a:r>
          </a:p>
          <a:p>
            <a:pPr marL="0" indent="0" algn="just">
              <a:lnSpc>
                <a:spcPct val="150000"/>
              </a:lnSpc>
              <a:buNone/>
            </a:pPr>
            <a:r>
              <a:rPr lang="en-US" sz="2100" b="1" dirty="0">
                <a:effectLst/>
                <a:latin typeface="Bookman Old Style" pitchFamily="18" charset="0"/>
                <a:cs typeface="Times New Roman" panose="02020603050405020304" pitchFamily="18" charset="0"/>
              </a:rPr>
              <a:t>C. RUSRT</a:t>
            </a:r>
          </a:p>
          <a:p>
            <a:pPr marL="0" indent="0" algn="just">
              <a:lnSpc>
                <a:spcPct val="150000"/>
              </a:lnSpc>
              <a:buNone/>
            </a:pPr>
            <a:r>
              <a:rPr lang="en-US" sz="2100" b="1" dirty="0">
                <a:effectLst/>
                <a:latin typeface="Bookman Old Style" pitchFamily="18" charset="0"/>
                <a:cs typeface="Times New Roman" panose="02020603050405020304" pitchFamily="18" charset="0"/>
              </a:rPr>
              <a:t>D. QVQDU</a:t>
            </a:r>
            <a:endParaRPr lang="en-IN" sz="21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EE727CF-1FC5-59E0-B007-8C282881849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539662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E1CF5-76BF-C1D8-F009-C6D3B87208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D9B73C-B26C-BEE1-80B8-D5832A35819A}"/>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33. </a:t>
            </a:r>
            <a:r>
              <a:rPr lang="en-US" sz="2100" b="1" dirty="0">
                <a:effectLst/>
                <a:latin typeface="Bookman Old Style" pitchFamily="18" charset="0"/>
                <a:cs typeface="Times New Roman" panose="02020603050405020304" pitchFamily="18" charset="0"/>
              </a:rPr>
              <a:t>In a certain code language, 'IPHONE' is coded as '1'. How is 'KIDNEY' written in that code language?</a:t>
            </a:r>
          </a:p>
          <a:p>
            <a:pPr marL="0" indent="0" algn="just">
              <a:lnSpc>
                <a:spcPct val="150000"/>
              </a:lnSpc>
              <a:buNone/>
            </a:pPr>
            <a:r>
              <a:rPr lang="en-US" sz="2100" b="1" dirty="0">
                <a:effectLst/>
                <a:latin typeface="Bookman Old Style" pitchFamily="18" charset="0"/>
                <a:cs typeface="Times New Roman" panose="02020603050405020304" pitchFamily="18" charset="0"/>
              </a:rPr>
              <a:t>A. 33</a:t>
            </a:r>
          </a:p>
          <a:p>
            <a:pPr marL="0" indent="0" algn="just">
              <a:lnSpc>
                <a:spcPct val="150000"/>
              </a:lnSpc>
              <a:buNone/>
            </a:pPr>
            <a:r>
              <a:rPr lang="en-US" sz="2100" b="1" dirty="0">
                <a:effectLst/>
                <a:latin typeface="Bookman Old Style" pitchFamily="18" charset="0"/>
                <a:cs typeface="Times New Roman" panose="02020603050405020304" pitchFamily="18" charset="0"/>
              </a:rPr>
              <a:t>B. 24</a:t>
            </a:r>
          </a:p>
          <a:p>
            <a:pPr marL="0" indent="0" algn="just">
              <a:lnSpc>
                <a:spcPct val="150000"/>
              </a:lnSpc>
              <a:buNone/>
            </a:pPr>
            <a:r>
              <a:rPr lang="en-US" sz="2100" b="1" dirty="0">
                <a:effectLst/>
                <a:latin typeface="Bookman Old Style" pitchFamily="18" charset="0"/>
                <a:cs typeface="Times New Roman" panose="02020603050405020304" pitchFamily="18" charset="0"/>
              </a:rPr>
              <a:t>C. 68</a:t>
            </a:r>
          </a:p>
          <a:p>
            <a:pPr marL="0" indent="0" algn="just">
              <a:lnSpc>
                <a:spcPct val="150000"/>
              </a:lnSpc>
              <a:buNone/>
            </a:pPr>
            <a:r>
              <a:rPr lang="en-US" sz="2100" b="1" dirty="0">
                <a:effectLst/>
                <a:latin typeface="Bookman Old Style" pitchFamily="18" charset="0"/>
                <a:cs typeface="Times New Roman" panose="02020603050405020304" pitchFamily="18" charset="0"/>
              </a:rPr>
              <a:t>D. 20</a:t>
            </a:r>
          </a:p>
          <a:p>
            <a:pPr marL="0" indent="0" algn="just">
              <a:lnSpc>
                <a:spcPct val="150000"/>
              </a:lnSpc>
              <a:buNone/>
            </a:pPr>
            <a:r>
              <a:rPr lang="en-US" sz="2100" b="1" dirty="0">
                <a:effectLst/>
                <a:latin typeface="Bookman Old Style" pitchFamily="18" charset="0"/>
                <a:cs typeface="Times New Roman" panose="02020603050405020304" pitchFamily="18" charset="0"/>
              </a:rPr>
              <a:t>E. 44</a:t>
            </a:r>
            <a:endParaRPr lang="en-IN" sz="21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0C3A65C-CF64-B0CD-59C9-C4305B939AF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771533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4941A-D3AF-E5FF-3F8C-ADDCCEC089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7D6E04-5792-295E-1F9A-0EB7019863C5}"/>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34. </a:t>
            </a:r>
            <a:r>
              <a:rPr lang="en-US" sz="2100" b="1" dirty="0">
                <a:effectLst/>
                <a:latin typeface="Bookman Old Style" pitchFamily="18" charset="0"/>
                <a:cs typeface="Times New Roman" panose="02020603050405020304" pitchFamily="18" charset="0"/>
              </a:rPr>
              <a:t>In a certain code language, TARA is coded as 1600. How will NARA be coded in that language?</a:t>
            </a:r>
          </a:p>
          <a:p>
            <a:pPr marL="0" indent="0" algn="just">
              <a:lnSpc>
                <a:spcPct val="150000"/>
              </a:lnSpc>
              <a:buNone/>
            </a:pPr>
            <a:r>
              <a:rPr lang="en-US" sz="2100" b="1" dirty="0">
                <a:effectLst/>
                <a:latin typeface="Bookman Old Style" pitchFamily="18" charset="0"/>
                <a:cs typeface="Times New Roman" panose="02020603050405020304" pitchFamily="18" charset="0"/>
              </a:rPr>
              <a:t>(a) 1156</a:t>
            </a:r>
          </a:p>
          <a:p>
            <a:pPr marL="0" indent="0" algn="just">
              <a:lnSpc>
                <a:spcPct val="150000"/>
              </a:lnSpc>
              <a:buNone/>
            </a:pPr>
            <a:r>
              <a:rPr lang="en-US" sz="2100" b="1" dirty="0">
                <a:effectLst/>
                <a:latin typeface="Bookman Old Style" pitchFamily="18" charset="0"/>
                <a:cs typeface="Times New Roman" panose="02020603050405020304" pitchFamily="18" charset="0"/>
              </a:rPr>
              <a:t>(b) 1800</a:t>
            </a:r>
          </a:p>
          <a:p>
            <a:pPr marL="0" indent="0" algn="just">
              <a:lnSpc>
                <a:spcPct val="150000"/>
              </a:lnSpc>
              <a:buNone/>
            </a:pPr>
            <a:r>
              <a:rPr lang="en-US" sz="2100" b="1" dirty="0">
                <a:effectLst/>
                <a:latin typeface="Bookman Old Style" pitchFamily="18" charset="0"/>
                <a:cs typeface="Times New Roman" panose="02020603050405020304" pitchFamily="18" charset="0"/>
              </a:rPr>
              <a:t>(c) 1200</a:t>
            </a:r>
          </a:p>
          <a:p>
            <a:pPr marL="0" indent="0" algn="just">
              <a:lnSpc>
                <a:spcPct val="150000"/>
              </a:lnSpc>
              <a:buNone/>
            </a:pPr>
            <a:r>
              <a:rPr lang="en-US" sz="2100" b="1" dirty="0">
                <a:effectLst/>
                <a:latin typeface="Bookman Old Style" pitchFamily="18" charset="0"/>
                <a:cs typeface="Times New Roman" panose="02020603050405020304" pitchFamily="18" charset="0"/>
              </a:rPr>
              <a:t>(d) 1664</a:t>
            </a:r>
            <a:endParaRPr lang="en-IN" sz="21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D1511D47-3EB3-285B-DC96-615A2025E4C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562697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0E40D-AEC0-43A3-D985-BB39CBC952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F0CCF-3E82-1498-2BB6-F48CCACCF59D}"/>
              </a:ext>
            </a:extLst>
          </p:cNvPr>
          <p:cNvSpPr>
            <a:spLocks noGrp="1"/>
          </p:cNvSpPr>
          <p:nvPr>
            <p:ph idx="1"/>
          </p:nvPr>
        </p:nvSpPr>
        <p:spPr>
          <a:xfrm>
            <a:off x="441506" y="255381"/>
            <a:ext cx="9819005" cy="5742647"/>
          </a:xfrm>
        </p:spPr>
        <p:txBody>
          <a:bodyPr>
            <a:no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35. </a:t>
            </a:r>
            <a:r>
              <a:rPr lang="en-US" sz="2100" b="1" dirty="0">
                <a:effectLst/>
                <a:latin typeface="Bookman Old Style" pitchFamily="18" charset="0"/>
                <a:cs typeface="Times New Roman" panose="02020603050405020304" pitchFamily="18" charset="0"/>
              </a:rPr>
              <a:t>Directions: Study the following information and answer the given questions.</a:t>
            </a:r>
          </a:p>
          <a:p>
            <a:pPr marL="0" indent="0" algn="just">
              <a:lnSpc>
                <a:spcPct val="150000"/>
              </a:lnSpc>
              <a:buNone/>
            </a:pPr>
            <a:r>
              <a:rPr lang="en-US" sz="2100" b="1" dirty="0">
                <a:effectLst/>
                <a:latin typeface="Bookman Old Style" pitchFamily="18" charset="0"/>
                <a:cs typeface="Times New Roman" panose="02020603050405020304" pitchFamily="18" charset="0"/>
              </a:rPr>
              <a:t>In an artificial language,</a:t>
            </a:r>
          </a:p>
          <a:p>
            <a:pPr marL="0" indent="0" algn="just">
              <a:lnSpc>
                <a:spcPct val="150000"/>
              </a:lnSpc>
              <a:buNone/>
            </a:pPr>
            <a:r>
              <a:rPr lang="en-US" sz="2100" b="1" dirty="0">
                <a:effectLst/>
                <a:latin typeface="Bookman Old Style" pitchFamily="18" charset="0"/>
                <a:cs typeface="Times New Roman" panose="02020603050405020304" pitchFamily="18" charset="0"/>
              </a:rPr>
              <a:t>‘hot dog in pot’ is written as ‘F5 A2 H9 C3’</a:t>
            </a:r>
          </a:p>
          <a:p>
            <a:pPr marL="0" indent="0" algn="just">
              <a:lnSpc>
                <a:spcPct val="150000"/>
              </a:lnSpc>
              <a:buNone/>
            </a:pPr>
            <a:r>
              <a:rPr lang="en-US" sz="2100" b="1" dirty="0">
                <a:effectLst/>
                <a:latin typeface="Bookman Old Style" pitchFamily="18" charset="0"/>
                <a:cs typeface="Times New Roman" panose="02020603050405020304" pitchFamily="18" charset="0"/>
              </a:rPr>
              <a:t>‘rot pot of hog’ is written as ‘H9 G2 C7 F9’</a:t>
            </a:r>
          </a:p>
          <a:p>
            <a:pPr marL="0" indent="0" algn="just">
              <a:lnSpc>
                <a:spcPct val="150000"/>
              </a:lnSpc>
              <a:buNone/>
            </a:pPr>
            <a:r>
              <a:rPr lang="en-US" sz="2100" b="1" dirty="0">
                <a:effectLst/>
                <a:latin typeface="Bookman Old Style" pitchFamily="18" charset="0"/>
                <a:cs typeface="Times New Roman" panose="02020603050405020304" pitchFamily="18" charset="0"/>
              </a:rPr>
              <a:t>‘dog in sot rot’ is written as ‘F5 D6 C3 G2’</a:t>
            </a:r>
          </a:p>
          <a:p>
            <a:pPr marL="0" indent="0" algn="just">
              <a:lnSpc>
                <a:spcPct val="150000"/>
              </a:lnSpc>
              <a:buNone/>
            </a:pPr>
            <a:r>
              <a:rPr lang="en-US" sz="2100" b="1" dirty="0">
                <a:effectLst/>
                <a:latin typeface="Bookman Old Style" pitchFamily="18" charset="0"/>
                <a:cs typeface="Times New Roman" panose="02020603050405020304" pitchFamily="18" charset="0"/>
              </a:rPr>
              <a:t>‘god of hot dot’ is written as ‘B3 J5 C7 A2’</a:t>
            </a:r>
          </a:p>
          <a:p>
            <a:pPr marL="0" indent="0" algn="just">
              <a:lnSpc>
                <a:spcPct val="150000"/>
              </a:lnSpc>
              <a:buNone/>
            </a:pPr>
            <a:r>
              <a:rPr lang="en-US" sz="2100" b="1" dirty="0">
                <a:effectLst/>
                <a:latin typeface="Bookman Old Style" pitchFamily="18" charset="0"/>
                <a:cs typeface="Times New Roman" panose="02020603050405020304" pitchFamily="18" charset="0"/>
              </a:rPr>
              <a:t>Find the code for ‘hog’.</a:t>
            </a:r>
          </a:p>
          <a:p>
            <a:pPr marL="0" indent="0" algn="just">
              <a:lnSpc>
                <a:spcPct val="150000"/>
              </a:lnSpc>
              <a:buNone/>
            </a:pPr>
            <a:r>
              <a:rPr lang="en-US" sz="2100" b="1" dirty="0">
                <a:effectLst/>
                <a:latin typeface="Bookman Old Style" pitchFamily="18" charset="0"/>
                <a:cs typeface="Times New Roman" panose="02020603050405020304" pitchFamily="18" charset="0"/>
              </a:rPr>
              <a:t>A. H9   B. G2   C. C7   D. F9 </a:t>
            </a:r>
          </a:p>
          <a:p>
            <a:pPr marL="0" indent="0" algn="just">
              <a:lnSpc>
                <a:spcPct val="150000"/>
              </a:lnSpc>
              <a:buNone/>
            </a:pPr>
            <a:r>
              <a:rPr lang="en-US" sz="2100" b="1" dirty="0">
                <a:effectLst/>
                <a:latin typeface="Bookman Old Style" pitchFamily="18" charset="0"/>
                <a:cs typeface="Times New Roman" panose="02020603050405020304" pitchFamily="18" charset="0"/>
              </a:rPr>
              <a:t> </a:t>
            </a:r>
            <a:endParaRPr lang="en-IN" sz="21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E75E4DFA-C6D6-E09A-EC40-E2B6DB147AD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116842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C7812-8CFF-BC86-F792-283F40966F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C49FC5-FA02-B46E-29A2-912373D8704C}"/>
              </a:ext>
            </a:extLst>
          </p:cNvPr>
          <p:cNvSpPr>
            <a:spLocks noGrp="1"/>
          </p:cNvSpPr>
          <p:nvPr>
            <p:ph idx="1"/>
          </p:nvPr>
        </p:nvSpPr>
        <p:spPr>
          <a:xfrm>
            <a:off x="441506" y="255381"/>
            <a:ext cx="9819005" cy="5742647"/>
          </a:xfrm>
        </p:spPr>
        <p:txBody>
          <a:bodyPr>
            <a:norm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36. </a:t>
            </a:r>
            <a:r>
              <a:rPr lang="en-US" sz="2100" b="1" dirty="0">
                <a:effectLst/>
                <a:latin typeface="Bookman Old Style" pitchFamily="18" charset="0"/>
                <a:cs typeface="Times New Roman" panose="02020603050405020304" pitchFamily="18" charset="0"/>
              </a:rPr>
              <a:t>In a certain code language</a:t>
            </a:r>
          </a:p>
          <a:p>
            <a:pPr marL="0" indent="0" algn="just">
              <a:lnSpc>
                <a:spcPct val="150000"/>
              </a:lnSpc>
              <a:buNone/>
            </a:pPr>
            <a:r>
              <a:rPr lang="en-US" sz="2100" b="1" dirty="0">
                <a:effectLst/>
                <a:latin typeface="Bookman Old Style" pitchFamily="18" charset="0"/>
                <a:cs typeface="Times New Roman" panose="02020603050405020304" pitchFamily="18" charset="0"/>
              </a:rPr>
              <a:t>‘this is not me’ is written as ‘</a:t>
            </a:r>
            <a:r>
              <a:rPr lang="en-US" sz="2100" b="1" dirty="0" err="1">
                <a:effectLst/>
                <a:latin typeface="Bookman Old Style" pitchFamily="18" charset="0"/>
                <a:cs typeface="Times New Roman" panose="02020603050405020304" pitchFamily="18" charset="0"/>
              </a:rPr>
              <a:t>ar</a:t>
            </a:r>
            <a:r>
              <a:rPr lang="en-US" sz="2100" b="1" dirty="0">
                <a:effectLst/>
                <a:latin typeface="Bookman Old Style" pitchFamily="18" charset="0"/>
                <a:cs typeface="Times New Roman" panose="02020603050405020304" pitchFamily="18" charset="0"/>
              </a:rPr>
              <a:t> rt st pt’</a:t>
            </a:r>
          </a:p>
          <a:p>
            <a:pPr marL="0" indent="0" algn="just">
              <a:lnSpc>
                <a:spcPct val="150000"/>
              </a:lnSpc>
              <a:buNone/>
            </a:pPr>
            <a:r>
              <a:rPr lang="en-US" sz="2100" b="1" dirty="0">
                <a:effectLst/>
                <a:latin typeface="Bookman Old Style" pitchFamily="18" charset="0"/>
                <a:cs typeface="Times New Roman" panose="02020603050405020304" pitchFamily="18" charset="0"/>
              </a:rPr>
              <a:t>‘not you but him’ is written as ‘</a:t>
            </a:r>
            <a:r>
              <a:rPr lang="en-US" sz="2100" b="1" dirty="0" err="1">
                <a:effectLst/>
                <a:latin typeface="Bookman Old Style" pitchFamily="18" charset="0"/>
                <a:cs typeface="Times New Roman" panose="02020603050405020304" pitchFamily="18" charset="0"/>
              </a:rPr>
              <a:t>mn</a:t>
            </a:r>
            <a:r>
              <a:rPr lang="en-US" sz="2100" b="1" dirty="0">
                <a:effectLst/>
                <a:latin typeface="Bookman Old Style" pitchFamily="18" charset="0"/>
                <a:cs typeface="Times New Roman" panose="02020603050405020304" pitchFamily="18" charset="0"/>
              </a:rPr>
              <a:t> we rt </a:t>
            </a:r>
            <a:r>
              <a:rPr lang="en-US" sz="2100" b="1" dirty="0" err="1">
                <a:effectLst/>
                <a:latin typeface="Bookman Old Style" pitchFamily="18" charset="0"/>
                <a:cs typeface="Times New Roman" panose="02020603050405020304" pitchFamily="18" charset="0"/>
              </a:rPr>
              <a:t>qs’</a:t>
            </a:r>
            <a:endParaRPr lang="en-US" sz="2100" b="1" dirty="0">
              <a:effectLst/>
              <a:latin typeface="Bookman Old Style" pitchFamily="18" charset="0"/>
              <a:cs typeface="Times New Roman" panose="02020603050405020304" pitchFamily="18" charset="0"/>
            </a:endParaRPr>
          </a:p>
          <a:p>
            <a:pPr marL="0" indent="0" algn="just">
              <a:lnSpc>
                <a:spcPct val="150000"/>
              </a:lnSpc>
              <a:buNone/>
            </a:pPr>
            <a:r>
              <a:rPr lang="en-US" sz="2100" b="1" dirty="0">
                <a:effectLst/>
                <a:latin typeface="Bookman Old Style" pitchFamily="18" charset="0"/>
                <a:cs typeface="Times New Roman" panose="02020603050405020304" pitchFamily="18" charset="0"/>
              </a:rPr>
              <a:t>‘me and you come’ is written as ‘</a:t>
            </a:r>
            <a:r>
              <a:rPr lang="en-US" sz="2100" b="1" dirty="0" err="1">
                <a:effectLst/>
                <a:latin typeface="Bookman Old Style" pitchFamily="18" charset="0"/>
                <a:cs typeface="Times New Roman" panose="02020603050405020304" pitchFamily="18" charset="0"/>
              </a:rPr>
              <a:t>yu</a:t>
            </a:r>
            <a:r>
              <a:rPr lang="en-US" sz="2100" b="1" dirty="0">
                <a:effectLst/>
                <a:latin typeface="Bookman Old Style" pitchFamily="18" charset="0"/>
                <a:cs typeface="Times New Roman" panose="02020603050405020304" pitchFamily="18" charset="0"/>
              </a:rPr>
              <a:t> </a:t>
            </a:r>
            <a:r>
              <a:rPr lang="en-US" sz="2100" b="1" dirty="0" err="1">
                <a:effectLst/>
                <a:latin typeface="Bookman Old Style" pitchFamily="18" charset="0"/>
                <a:cs typeface="Times New Roman" panose="02020603050405020304" pitchFamily="18" charset="0"/>
              </a:rPr>
              <a:t>mn</a:t>
            </a:r>
            <a:r>
              <a:rPr lang="en-US" sz="2100" b="1" dirty="0">
                <a:effectLst/>
                <a:latin typeface="Bookman Old Style" pitchFamily="18" charset="0"/>
                <a:cs typeface="Times New Roman" panose="02020603050405020304" pitchFamily="18" charset="0"/>
              </a:rPr>
              <a:t> pt </a:t>
            </a:r>
            <a:r>
              <a:rPr lang="en-US" sz="2100" b="1" dirty="0" err="1">
                <a:effectLst/>
                <a:latin typeface="Bookman Old Style" pitchFamily="18" charset="0"/>
                <a:cs typeface="Times New Roman" panose="02020603050405020304" pitchFamily="18" charset="0"/>
              </a:rPr>
              <a:t>xr</a:t>
            </a:r>
            <a:r>
              <a:rPr lang="en-US" sz="2100" b="1" dirty="0">
                <a:effectLst/>
                <a:latin typeface="Bookman Old Style" pitchFamily="18" charset="0"/>
                <a:cs typeface="Times New Roman" panose="02020603050405020304" pitchFamily="18" charset="0"/>
              </a:rPr>
              <a:t>’</a:t>
            </a:r>
          </a:p>
          <a:p>
            <a:pPr marL="0" indent="0" algn="just">
              <a:lnSpc>
                <a:spcPct val="150000"/>
              </a:lnSpc>
              <a:buNone/>
            </a:pPr>
            <a:r>
              <a:rPr lang="en-US" sz="2100" b="1" dirty="0">
                <a:effectLst/>
                <a:latin typeface="Bookman Old Style" pitchFamily="18" charset="0"/>
                <a:cs typeface="Times New Roman" panose="02020603050405020304" pitchFamily="18" charset="0"/>
              </a:rPr>
              <a:t>‘but this is him’ is written as ‘</a:t>
            </a:r>
            <a:r>
              <a:rPr lang="en-US" sz="2100" b="1" dirty="0" err="1">
                <a:effectLst/>
                <a:latin typeface="Bookman Old Style" pitchFamily="18" charset="0"/>
                <a:cs typeface="Times New Roman" panose="02020603050405020304" pitchFamily="18" charset="0"/>
              </a:rPr>
              <a:t>ar</a:t>
            </a:r>
            <a:r>
              <a:rPr lang="en-US" sz="2100" b="1" dirty="0">
                <a:effectLst/>
                <a:latin typeface="Bookman Old Style" pitchFamily="18" charset="0"/>
                <a:cs typeface="Times New Roman" panose="02020603050405020304" pitchFamily="18" charset="0"/>
              </a:rPr>
              <a:t> we st </a:t>
            </a:r>
            <a:r>
              <a:rPr lang="en-US" sz="2100" b="1" dirty="0" err="1">
                <a:effectLst/>
                <a:latin typeface="Bookman Old Style" pitchFamily="18" charset="0"/>
                <a:cs typeface="Times New Roman" panose="02020603050405020304" pitchFamily="18" charset="0"/>
              </a:rPr>
              <a:t>qs’</a:t>
            </a:r>
            <a:endParaRPr lang="en-US" sz="2100" b="1" dirty="0">
              <a:effectLst/>
              <a:latin typeface="Bookman Old Style" pitchFamily="18" charset="0"/>
              <a:cs typeface="Times New Roman" panose="02020603050405020304" pitchFamily="18" charset="0"/>
            </a:endParaRPr>
          </a:p>
          <a:p>
            <a:pPr marL="0" indent="0" algn="just">
              <a:lnSpc>
                <a:spcPct val="150000"/>
              </a:lnSpc>
              <a:buNone/>
            </a:pPr>
            <a:r>
              <a:rPr lang="en-US" sz="2100" b="1" dirty="0">
                <a:effectLst/>
                <a:latin typeface="Bookman Old Style" pitchFamily="18" charset="0"/>
                <a:cs typeface="Times New Roman" panose="02020603050405020304" pitchFamily="18" charset="0"/>
              </a:rPr>
              <a:t>What is the code for ‘me’ according to the given code language?</a:t>
            </a:r>
          </a:p>
          <a:p>
            <a:pPr marL="0" indent="0" algn="just">
              <a:lnSpc>
                <a:spcPct val="150000"/>
              </a:lnSpc>
              <a:buNone/>
            </a:pPr>
            <a:r>
              <a:rPr lang="en-US" sz="2100" b="1" dirty="0">
                <a:effectLst/>
                <a:latin typeface="Bookman Old Style" pitchFamily="18" charset="0"/>
                <a:cs typeface="Times New Roman" panose="02020603050405020304" pitchFamily="18" charset="0"/>
              </a:rPr>
              <a:t>A. </a:t>
            </a:r>
            <a:r>
              <a:rPr lang="en-US" sz="2100" b="1" dirty="0" err="1">
                <a:effectLst/>
                <a:latin typeface="Bookman Old Style" pitchFamily="18" charset="0"/>
                <a:cs typeface="Times New Roman" panose="02020603050405020304" pitchFamily="18" charset="0"/>
              </a:rPr>
              <a:t>qs</a:t>
            </a:r>
            <a:r>
              <a:rPr lang="en-US" sz="2100" b="1" dirty="0">
                <a:effectLst/>
                <a:latin typeface="Bookman Old Style" pitchFamily="18" charset="0"/>
                <a:cs typeface="Times New Roman" panose="02020603050405020304" pitchFamily="18" charset="0"/>
              </a:rPr>
              <a:t>    B. </a:t>
            </a:r>
            <a:r>
              <a:rPr lang="en-US" sz="2100" b="1" dirty="0" err="1">
                <a:effectLst/>
                <a:latin typeface="Bookman Old Style" pitchFamily="18" charset="0"/>
                <a:cs typeface="Times New Roman" panose="02020603050405020304" pitchFamily="18" charset="0"/>
              </a:rPr>
              <a:t>mn</a:t>
            </a:r>
            <a:r>
              <a:rPr lang="en-US" sz="2100" b="1" dirty="0">
                <a:effectLst/>
                <a:latin typeface="Bookman Old Style" pitchFamily="18" charset="0"/>
                <a:cs typeface="Times New Roman" panose="02020603050405020304" pitchFamily="18" charset="0"/>
              </a:rPr>
              <a:t>    C. rt     D. pt </a:t>
            </a:r>
            <a:endParaRPr lang="en-IN" sz="21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D23B7A4-E123-944E-79A4-13EA2371E0E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9152788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617BB-7A29-0C99-FD27-8359692E56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DBE088-F5AC-4C2C-A412-CDC2F782579F}"/>
              </a:ext>
            </a:extLst>
          </p:cNvPr>
          <p:cNvSpPr>
            <a:spLocks noGrp="1"/>
          </p:cNvSpPr>
          <p:nvPr>
            <p:ph idx="1"/>
          </p:nvPr>
        </p:nvSpPr>
        <p:spPr>
          <a:xfrm>
            <a:off x="441506" y="255381"/>
            <a:ext cx="9819005" cy="5742647"/>
          </a:xfrm>
        </p:spPr>
        <p:txBody>
          <a:bodyPr>
            <a:normAutofit/>
          </a:bodyPr>
          <a:lstStyle/>
          <a:p>
            <a:pPr marL="0" indent="0" algn="just">
              <a:lnSpc>
                <a:spcPct val="100000"/>
              </a:lnSpc>
              <a:buNone/>
            </a:pPr>
            <a:r>
              <a:rPr lang="en-IN" b="1" dirty="0">
                <a:latin typeface="Bookman Old Style" pitchFamily="18" charset="0"/>
                <a:cs typeface="Times New Roman" panose="02020603050405020304" pitchFamily="18" charset="0"/>
              </a:rPr>
              <a:t>37. </a:t>
            </a:r>
            <a:r>
              <a:rPr lang="en-US" b="1" dirty="0">
                <a:latin typeface="+mj-lt"/>
              </a:rPr>
              <a:t>Directions:</a:t>
            </a:r>
            <a:r>
              <a:rPr lang="en-US" dirty="0">
                <a:latin typeface="+mj-lt"/>
              </a:rPr>
              <a:t> In each of the following questions, a word is represented by only set of numbers as given in any one of the alternatives. The sets of numbers given in the alternatives are represented by two classes of alphabets as in the two given matrices. The columns and rows of Matrix I are numbered from 0 to 4 and those of Matrix II from 5 to 9. A letter from these matrices can be represented first by its row and then the column number e.g. in the matrices given below, M can be represented by 14, 21, etc.; O can be represented by 20, 32, etc. Similarly, you have to identify the correct set for the word given in each question.</a:t>
            </a:r>
            <a:endParaRPr lang="en-IN"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1A1B828-CA3C-4664-7A71-0D3185B98E20}"/>
              </a:ext>
            </a:extLst>
          </p:cNvPr>
          <p:cNvPicPr>
            <a:picLocks noChangeAspect="1"/>
          </p:cNvPicPr>
          <p:nvPr/>
        </p:nvPicPr>
        <p:blipFill>
          <a:blip r:embed="rId2"/>
          <a:stretch>
            <a:fillRect/>
          </a:stretch>
        </p:blipFill>
        <p:spPr>
          <a:xfrm>
            <a:off x="10260511" y="110213"/>
            <a:ext cx="1681480" cy="1452880"/>
          </a:xfrm>
          <a:prstGeom prst="rect">
            <a:avLst/>
          </a:prstGeom>
        </p:spPr>
      </p:pic>
      <p:pic>
        <p:nvPicPr>
          <p:cNvPr id="5" name="Picture 4">
            <a:extLst>
              <a:ext uri="{FF2B5EF4-FFF2-40B4-BE49-F238E27FC236}">
                <a16:creationId xmlns:a16="http://schemas.microsoft.com/office/drawing/2014/main" id="{0C7CB153-E55C-253B-F128-120C649EBF37}"/>
              </a:ext>
            </a:extLst>
          </p:cNvPr>
          <p:cNvPicPr>
            <a:picLocks noChangeAspect="1"/>
          </p:cNvPicPr>
          <p:nvPr/>
        </p:nvPicPr>
        <p:blipFill>
          <a:blip r:embed="rId3"/>
          <a:stretch>
            <a:fillRect/>
          </a:stretch>
        </p:blipFill>
        <p:spPr>
          <a:xfrm>
            <a:off x="1142063" y="3126704"/>
            <a:ext cx="4384371" cy="2393548"/>
          </a:xfrm>
          <a:prstGeom prst="rect">
            <a:avLst/>
          </a:prstGeom>
        </p:spPr>
      </p:pic>
      <p:sp>
        <p:nvSpPr>
          <p:cNvPr id="7" name="TextBox 6">
            <a:extLst>
              <a:ext uri="{FF2B5EF4-FFF2-40B4-BE49-F238E27FC236}">
                <a16:creationId xmlns:a16="http://schemas.microsoft.com/office/drawing/2014/main" id="{9EC57B59-14C3-6B02-6728-C77E9DB54820}"/>
              </a:ext>
            </a:extLst>
          </p:cNvPr>
          <p:cNvSpPr txBox="1"/>
          <p:nvPr/>
        </p:nvSpPr>
        <p:spPr>
          <a:xfrm>
            <a:off x="5986659" y="2688864"/>
            <a:ext cx="4974409" cy="3269228"/>
          </a:xfrm>
          <a:prstGeom prst="rect">
            <a:avLst/>
          </a:prstGeom>
          <a:noFill/>
        </p:spPr>
        <p:txBody>
          <a:bodyPr wrap="square">
            <a:spAutoFit/>
          </a:bodyPr>
          <a:lstStyle/>
          <a:p>
            <a:pPr>
              <a:lnSpc>
                <a:spcPct val="150000"/>
              </a:lnSpc>
            </a:pPr>
            <a:r>
              <a:rPr lang="en-IN" sz="2000" b="1" dirty="0">
                <a:latin typeface="+mj-lt"/>
              </a:rPr>
              <a:t>Identify the option which has the set of correct code for the word MOST</a:t>
            </a:r>
          </a:p>
          <a:p>
            <a:pPr>
              <a:lnSpc>
                <a:spcPct val="150000"/>
              </a:lnSpc>
            </a:pPr>
            <a:r>
              <a:rPr lang="en-IN" sz="2000" b="1" dirty="0">
                <a:latin typeface="+mj-lt"/>
              </a:rPr>
              <a:t>A. 40, 44, 22, 89</a:t>
            </a:r>
          </a:p>
          <a:p>
            <a:pPr>
              <a:lnSpc>
                <a:spcPct val="150000"/>
              </a:lnSpc>
            </a:pPr>
            <a:r>
              <a:rPr lang="en-IN" sz="2000" b="1" dirty="0">
                <a:latin typeface="+mj-lt"/>
              </a:rPr>
              <a:t>B. 33, 20, 11, 79</a:t>
            </a:r>
          </a:p>
          <a:p>
            <a:pPr>
              <a:lnSpc>
                <a:spcPct val="150000"/>
              </a:lnSpc>
            </a:pPr>
            <a:r>
              <a:rPr lang="en-IN" sz="2000" b="1" dirty="0">
                <a:latin typeface="+mj-lt"/>
              </a:rPr>
              <a:t>C. 21, 00, 03, 88</a:t>
            </a:r>
          </a:p>
          <a:p>
            <a:pPr>
              <a:lnSpc>
                <a:spcPct val="150000"/>
              </a:lnSpc>
            </a:pPr>
            <a:r>
              <a:rPr lang="en-IN" sz="2000" b="1" dirty="0">
                <a:latin typeface="+mj-lt"/>
              </a:rPr>
              <a:t>D. 02, 13, 34, 56</a:t>
            </a:r>
          </a:p>
        </p:txBody>
      </p:sp>
    </p:spTree>
    <p:extLst>
      <p:ext uri="{BB962C8B-B14F-4D97-AF65-F5344CB8AC3E}">
        <p14:creationId xmlns:p14="http://schemas.microsoft.com/office/powerpoint/2010/main" val="36915843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3C3AC-0EC3-ECDD-8533-956E8EF5CD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884AEF-5307-0F70-A367-CB6ACF24E6BB}"/>
              </a:ext>
            </a:extLst>
          </p:cNvPr>
          <p:cNvSpPr>
            <a:spLocks noGrp="1"/>
          </p:cNvSpPr>
          <p:nvPr>
            <p:ph idx="1"/>
          </p:nvPr>
        </p:nvSpPr>
        <p:spPr>
          <a:xfrm>
            <a:off x="441506" y="255381"/>
            <a:ext cx="9819005" cy="5742647"/>
          </a:xfrm>
        </p:spPr>
        <p:txBody>
          <a:bodyPr>
            <a:normAutofit/>
          </a:bodyPr>
          <a:lstStyle/>
          <a:p>
            <a:pPr marL="0" indent="0" algn="just">
              <a:lnSpc>
                <a:spcPct val="100000"/>
              </a:lnSpc>
              <a:buNone/>
            </a:pPr>
            <a:r>
              <a:rPr lang="en-IN" sz="2000" b="1" dirty="0">
                <a:latin typeface="Bookman Old Style" pitchFamily="18" charset="0"/>
                <a:cs typeface="Times New Roman" panose="02020603050405020304" pitchFamily="18" charset="0"/>
              </a:rPr>
              <a:t>3</a:t>
            </a:r>
            <a:r>
              <a:rPr lang="en-IN" b="1" dirty="0">
                <a:latin typeface="Bookman Old Style" pitchFamily="18" charset="0"/>
                <a:cs typeface="Times New Roman" panose="02020603050405020304" pitchFamily="18" charset="0"/>
              </a:rPr>
              <a:t>8</a:t>
            </a:r>
            <a:r>
              <a:rPr lang="en-IN" sz="2000" b="1" dirty="0">
                <a:latin typeface="Bookman Old Style" pitchFamily="18" charset="0"/>
                <a:cs typeface="Times New Roman" panose="02020603050405020304" pitchFamily="18" charset="0"/>
              </a:rPr>
              <a:t>. </a:t>
            </a:r>
            <a:r>
              <a:rPr lang="en-US" sz="1800" b="1" dirty="0">
                <a:latin typeface="+mj-lt"/>
              </a:rPr>
              <a:t>Directions:</a:t>
            </a:r>
            <a:r>
              <a:rPr lang="en-US" sz="1800" dirty="0">
                <a:latin typeface="+mj-lt"/>
              </a:rPr>
              <a:t> In each of the following questions, a word is represented by only set of numbers as given in any one of the alternatives. The sets of numbers given in the alternatives are represented by two classes of alphabets as in the two given matrices. The columns and rows of Matrix I are numbered from 0 to 4 and those of Matrix II from 5 to 9. A letter from these matrices can be represented first by its row and then the column number e.g. in the matrices given below, M can be represented by 14, 21, etc.; O can be represented by 20, 32, etc. Similarly, you have to identify the correct set for the word given in each </a:t>
            </a:r>
            <a:r>
              <a:rPr lang="en-US" sz="2100" dirty="0">
                <a:effectLst/>
                <a:latin typeface="+mj-lt"/>
              </a:rPr>
              <a:t>question</a:t>
            </a:r>
            <a:r>
              <a:rPr lang="en-US" sz="1800" dirty="0">
                <a:latin typeface="+mj-lt"/>
              </a:rPr>
              <a:t>.</a:t>
            </a:r>
            <a:endParaRPr lang="en-IN" sz="1800" b="1" dirty="0">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BDFADD43-0F00-4415-11CF-575DCA1EAF22}"/>
              </a:ext>
            </a:extLst>
          </p:cNvPr>
          <p:cNvPicPr>
            <a:picLocks noChangeAspect="1"/>
          </p:cNvPicPr>
          <p:nvPr/>
        </p:nvPicPr>
        <p:blipFill>
          <a:blip r:embed="rId2"/>
          <a:stretch>
            <a:fillRect/>
          </a:stretch>
        </p:blipFill>
        <p:spPr>
          <a:xfrm>
            <a:off x="10260511" y="110213"/>
            <a:ext cx="1681480" cy="1452880"/>
          </a:xfrm>
          <a:prstGeom prst="rect">
            <a:avLst/>
          </a:prstGeom>
        </p:spPr>
      </p:pic>
      <p:pic>
        <p:nvPicPr>
          <p:cNvPr id="5" name="Picture 4">
            <a:extLst>
              <a:ext uri="{FF2B5EF4-FFF2-40B4-BE49-F238E27FC236}">
                <a16:creationId xmlns:a16="http://schemas.microsoft.com/office/drawing/2014/main" id="{7F8ACCAA-FFD9-511B-9A8C-215835659BD3}"/>
              </a:ext>
            </a:extLst>
          </p:cNvPr>
          <p:cNvPicPr>
            <a:picLocks noChangeAspect="1"/>
          </p:cNvPicPr>
          <p:nvPr/>
        </p:nvPicPr>
        <p:blipFill>
          <a:blip r:embed="rId3"/>
          <a:stretch>
            <a:fillRect/>
          </a:stretch>
        </p:blipFill>
        <p:spPr>
          <a:xfrm>
            <a:off x="1205044" y="2657423"/>
            <a:ext cx="4384371" cy="2393548"/>
          </a:xfrm>
          <a:prstGeom prst="rect">
            <a:avLst/>
          </a:prstGeom>
        </p:spPr>
      </p:pic>
      <p:sp>
        <p:nvSpPr>
          <p:cNvPr id="7" name="TextBox 6">
            <a:extLst>
              <a:ext uri="{FF2B5EF4-FFF2-40B4-BE49-F238E27FC236}">
                <a16:creationId xmlns:a16="http://schemas.microsoft.com/office/drawing/2014/main" id="{CBD099A4-CECE-5EBC-326D-B9DE11FA1FD8}"/>
              </a:ext>
            </a:extLst>
          </p:cNvPr>
          <p:cNvSpPr txBox="1"/>
          <p:nvPr/>
        </p:nvSpPr>
        <p:spPr>
          <a:xfrm>
            <a:off x="6226991" y="2375496"/>
            <a:ext cx="4974409" cy="3269228"/>
          </a:xfrm>
          <a:prstGeom prst="rect">
            <a:avLst/>
          </a:prstGeom>
          <a:noFill/>
        </p:spPr>
        <p:txBody>
          <a:bodyPr wrap="square">
            <a:spAutoFit/>
          </a:bodyPr>
          <a:lstStyle/>
          <a:p>
            <a:pPr>
              <a:lnSpc>
                <a:spcPct val="150000"/>
              </a:lnSpc>
            </a:pPr>
            <a:r>
              <a:rPr lang="en-US" sz="2000" b="1" dirty="0">
                <a:latin typeface="+mj-lt"/>
              </a:rPr>
              <a:t>Identify the option which has the set of correct code for the word ROAD</a:t>
            </a:r>
          </a:p>
          <a:p>
            <a:pPr>
              <a:lnSpc>
                <a:spcPct val="150000"/>
              </a:lnSpc>
            </a:pPr>
            <a:r>
              <a:rPr lang="en-US" sz="2000" b="1" dirty="0">
                <a:latin typeface="+mj-lt"/>
              </a:rPr>
              <a:t>A. 42, 32, 79, 58</a:t>
            </a:r>
          </a:p>
          <a:p>
            <a:pPr>
              <a:lnSpc>
                <a:spcPct val="150000"/>
              </a:lnSpc>
            </a:pPr>
            <a:r>
              <a:rPr lang="en-US" sz="2000" b="1" dirty="0">
                <a:latin typeface="+mj-lt"/>
              </a:rPr>
              <a:t>B. 23, 32, 98, 99</a:t>
            </a:r>
          </a:p>
          <a:p>
            <a:pPr>
              <a:lnSpc>
                <a:spcPct val="150000"/>
              </a:lnSpc>
            </a:pPr>
            <a:r>
              <a:rPr lang="en-US" sz="2000" b="1" dirty="0">
                <a:latin typeface="+mj-lt"/>
              </a:rPr>
              <a:t>C. 11, 13, 67, 69</a:t>
            </a:r>
          </a:p>
          <a:p>
            <a:pPr>
              <a:lnSpc>
                <a:spcPct val="150000"/>
              </a:lnSpc>
            </a:pPr>
            <a:r>
              <a:rPr lang="en-US" sz="2000" b="1" dirty="0">
                <a:latin typeface="+mj-lt"/>
              </a:rPr>
              <a:t>D. 04, 20, 55, 78</a:t>
            </a:r>
            <a:endParaRPr lang="en-IN" sz="2000" b="1" dirty="0">
              <a:latin typeface="+mj-lt"/>
            </a:endParaRPr>
          </a:p>
        </p:txBody>
      </p:sp>
    </p:spTree>
    <p:extLst>
      <p:ext uri="{BB962C8B-B14F-4D97-AF65-F5344CB8AC3E}">
        <p14:creationId xmlns:p14="http://schemas.microsoft.com/office/powerpoint/2010/main" val="3557177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1CB20316-8E6F-4A0C-309F-DC56D61F65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B85D3678-82EE-54B8-6920-CFFC6D22BCD8}"/>
              </a:ext>
            </a:extLst>
          </p:cNvPr>
          <p:cNvSpPr>
            <a:spLocks noGrp="1"/>
          </p:cNvSpPr>
          <p:nvPr>
            <p:ph idx="1"/>
          </p:nvPr>
        </p:nvSpPr>
        <p:spPr>
          <a:xfrm>
            <a:off x="4125081" y="2498836"/>
            <a:ext cx="3658205" cy="614479"/>
          </a:xfrm>
        </p:spPr>
        <p:txBody>
          <a:bodyPr>
            <a:noAutofit/>
          </a:bodyPr>
          <a:lstStyle/>
          <a:p>
            <a:pPr marL="0" indent="0" algn="ctr">
              <a:buNone/>
            </a:pPr>
            <a:r>
              <a:rPr lang="en-US" sz="3400" b="1" dirty="0">
                <a:effectLst/>
              </a:rPr>
              <a:t>THE END</a:t>
            </a:r>
            <a:endParaRPr lang="en-IN" sz="3400" b="1" dirty="0">
              <a:effectLst/>
            </a:endParaRPr>
          </a:p>
        </p:txBody>
      </p:sp>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1892</TotalTime>
  <Words>2084</Words>
  <Application>Microsoft Office PowerPoint</Application>
  <PresentationFormat>Widescreen</PresentationFormat>
  <Paragraphs>207</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Bookman Old Style</vt:lpstr>
      <vt:lpstr>Rockwell</vt:lpstr>
      <vt:lpstr>Damask</vt:lpstr>
      <vt:lpstr>Coding and Decoding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126</cp:revision>
  <dcterms:created xsi:type="dcterms:W3CDTF">2022-11-22T09:07:37Z</dcterms:created>
  <dcterms:modified xsi:type="dcterms:W3CDTF">2026-06-02T01:21:24Z</dcterms:modified>
</cp:coreProperties>
</file>